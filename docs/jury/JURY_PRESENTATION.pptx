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Akshaya &amp; Nikhil Opening:</a:t>
            </a:r>
          </a:p>
          <a:p>
            <a:r>
              <a:t>'Good morning, esteemed members of the jury. I am Akshaya R from BGSIT, and with me is Nikhil VS from EWIT. We are presenting the T2D Glucose Digital Twin. Our project addresses a fundamental clinical problem in type 2 diabetes: commercial monitors alert after a glucose spike happens. We built a physiology-informed digital twin that forecasts the next two hours ahead, explains how its predictions are made, and transparently discloses what its evidence proves and what failed.'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Akshaya:</a:t>
            </a:r>
          </a:p>
          <a:p>
            <a:r>
              <a:t>'A continuous glucose monitor measures interstitial fluid under the skin. Today, if a patient eats lunch, the monitor is silent until their glucose crosses 180 mg/dL. That is a reactive alarm. In type 2 diabetes, light exercise like a 20-minute walk clears glucose via muscle GLUT4 transporters, but it works best before the spike peaks. We set out to give patients a 30- to 60-minute early warning. But we are very clear: a forecast is not a prescription. We never claim this prototype treats diabetes.'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Nikhil:</a:t>
            </a:r>
          </a:p>
          <a:p>
            <a:r>
              <a:t>'To solve this, we did not build a generic black-box neural network. We built a hybrid digital twin in three parts. First, a biophysical model based on Bergman equations tracked by an Unscented Kalman Filter. It sets the biological baseline. Second, a Temporal Fusion Transformer that learns strictly the residual error the physics misses—like circadian rhythms and exertion. And third, a clinical workstation where doctors can triage patients, scrub through time, and explore What-If changes.'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Nikhil:</a:t>
            </a:r>
          </a:p>
          <a:p>
            <a:r>
              <a:t>'Here is our data flow. We ingest 5-minute CGM and wearable streams through an observable contract. The Unscented Kalman Filter updates the patient's internal physiological state and projects a 2-hour physics rollout. The Temporal Fusion Transformer looks at the past 24 hours and predicts the residual adjustment. The final forecast is literally Twin plus Learned Adjustment. If the machine learning model ever fails, the backend automatically falls back to serving the physics twin alone. Nothing runs black-box.'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Akshaya:</a:t>
            </a:r>
          </a:p>
          <a:p>
            <a:r>
              <a:t>'This is our live running application. On screen is patient P0017 from our validation cohort. Notice the decomposition strip right below the heading: at plus 60 minutes, the physics twin says 232.5 mg/dL, the neural network subtracts 15.4, giving a final forecast of 217.1 mg/dL with its 80% conformal interval. The cohort page serves 249 synthetic subjects, while our 44 held-out test subjects are completely locked away.'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Nikhil:</a:t>
            </a:r>
          </a:p>
          <a:p>
            <a:r>
              <a:t>'A digital twin should allow interactive exploration. In our What-If panel, a clinician can test adding a 60-gram carb meal or 30 minutes of walking. But we enforce strict boundaries: if you click medication changes, the backend refuses with SCENARIO_UNSUPPORTED because the twin has no validated drug models. And look at Figure 3: when the neural network produces a single-step 5-minute blip, we do not smooth it out. We circle it and warn the user. Honest software flags its artefacts.'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Akshaya:</a:t>
            </a:r>
          </a:p>
          <a:p>
            <a:r>
              <a:t>'Now let us examine our real-patient evidence. We conducted a single locked test evaluation across 161 real patients from three open datasets. On the 11 held-out test patients with native 5-minute CGM, our hybrid achieved a 60-minute RMSE of 23.11 mg/dL, beating persistence and the physics twin. It held false alerts down to 0.11 per day with 65.5% precision. The simple linear trend caught more spikes, but at 3.84 false alerts a day—which causes unbearable alert fatigue. And ShanghaiT2DM was honestly declared Not Estimable because 15-minute readings cannot test 5-minute persistence.'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Nikhil:</a:t>
            </a:r>
          </a:p>
          <a:p>
            <a:r>
              <a:t>'A presentation without negative results is not science. We openly report where our system failed. First, our synthetic realism test failed with AUROC 0.932 because our ODEs were smoother than real CGMs. Second, on real patients without contemporaneous meal logs, our 30-minute early warning sensitivity was only 6.9%. Third, on two external cohorts—Hall and AZT1D—our learned models failed to statistically beat simple trend rules. We learned that fixed probability thresholds do not generalize across different populations without local recalibration.'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Akshaya:</a:t>
            </a:r>
          </a:p>
          <a:p>
            <a:r>
              <a:t>'From a software engineering perspective, this project is built for healthcare reality. Our clinician export generates an official HL7 FHIR R4 JSON bundle tagged with LOINC 99504-3 and HTEST test-data labels. We support bilingual patient summaries in English and Hindi. Our test partitions are strictly firewalled in code, and every single number in our presentation is traceable to a hashed, committed artifact in the GitHub repository.'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Akshaya &amp; Nikhil Closing:</a:t>
            </a:r>
          </a:p>
          <a:p>
            <a:r>
              <a:t>'In conclusion, we have built a working, transparent, and reproducible digital twin. We did not overclaim, we did not hide our failures, and we proved that physiological priors enhance deep learning stability. Before this can ever enter clinical care, it needs validation on large datasets like AI-READI and prospective clinical trials. Thank you, and we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0728655" cy="4114800"/>
          </a:xfrm>
          <a:prstGeom prst="rect">
            <a:avLst/>
          </a:prstGeom>
          <a:noFill/>
        </p:spPr>
        <p:txBody>
          <a:bodyPr wrap="square">
            <a:spAutoFit/>
          </a:bodyPr>
          <a:lstStyle/>
          <a:p>
            <a:pPr>
              <a:spcAft>
                <a:spcPts val="1600"/>
              </a:spcAft>
              <a:defRPr sz="1200" b="1">
                <a:solidFill>
                  <a:srgbClr val="CCFBF1"/>
                </a:solidFill>
              </a:defRPr>
            </a:pPr>
            <a:r>
              <a:t>HAPPIEST HEALTH DIGITAL TWIN CHALLENGE  ·  EXPERT JURY DEFENSE</a:t>
            </a:r>
          </a:p>
          <a:p>
            <a:pPr>
              <a:spcAft>
                <a:spcPts val="1000"/>
              </a:spcAft>
              <a:defRPr sz="4000" b="1">
                <a:solidFill>
                  <a:srgbClr val="FFFFFF"/>
                </a:solidFill>
              </a:defRPr>
            </a:pPr>
            <a:r>
              <a:t>T2D Glucose Digital Twin</a:t>
            </a:r>
          </a:p>
          <a:p>
            <a:pPr>
              <a:spcAft>
                <a:spcPts val="2800"/>
              </a:spcAft>
              <a:defRPr sz="1800">
                <a:solidFill>
                  <a:srgbClr val="CBD5E1"/>
                </a:solidFill>
              </a:defRPr>
            </a:pPr>
            <a:r>
              <a:t>A physiology-informed digital twin forecasting 2-hour glucose trajectories</a:t>
            </a:r>
            <a:br/>
            <a:r>
              <a:t>and stating exactly what its evidence does and does not prove.</a:t>
            </a:r>
          </a:p>
          <a:p>
            <a:pPr>
              <a:defRPr sz="1300">
                <a:solidFill>
                  <a:srgbClr val="94A3B8"/>
                </a:solidFill>
              </a:defRPr>
            </a:pPr>
            <a:r>
              <a:t>Team: Akshaya R (BGSIT) &amp; Nikhil VS (EWIT)  ·  Bangalore, Karnataka</a:t>
            </a:r>
            <a:br/>
            <a:r>
              <a:t>Scope: Research Prototype Only  ·  Not for Clinical Treatment Decisions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defRPr sz="1100" b="1">
                <a:solidFill>
                  <a:srgbClr val="0F766E"/>
                </a:solidFill>
              </a:defRPr>
            </a:pPr>
            <a:r>
              <a:t>PRESENTER: AKSHAYA  ·  T2D GLUCOSE DIGITAL TWIN</a:t>
            </a:r>
          </a:p>
          <a:p>
            <a:pPr>
              <a:spcAft>
                <a:spcPts val="200"/>
              </a:spcAft>
              <a:defRPr sz="2600" b="1">
                <a:solidFill>
                  <a:srgbClr val="123A40"/>
                </a:solidFill>
              </a:defRPr>
            </a:pPr>
            <a:r>
              <a:t>The Clinical Problem: Reactive Alarms vs. Actionable Windows</a:t>
            </a:r>
          </a:p>
          <a:p>
            <a:pPr>
              <a:defRPr sz="1300">
                <a:solidFill>
                  <a:srgbClr val="64748B"/>
                </a:solidFill>
              </a:defRPr>
            </a:pPr>
            <a:r>
              <a:t>Why postprandial glucose prediction matters in type 2 diabetes, and why it is not medical advice.</a:t>
            </a:r>
          </a:p>
        </p:txBody>
      </p:sp>
      <p:sp>
        <p:nvSpPr>
          <p:cNvPr id="4" name="Rounded Rectangle 3"/>
          <p:cNvSpPr/>
          <p:nvPr/>
        </p:nvSpPr>
        <p:spPr>
          <a:xfrm>
            <a:off x="731520" y="1645920"/>
            <a:ext cx="5120640"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200"/>
              </a:spcAft>
              <a:defRPr sz="1600" b="1">
                <a:solidFill>
                  <a:srgbClr val="BE123C"/>
                </a:solidFill>
              </a:defRPr>
            </a:pPr>
            <a:r>
              <a:t>Current Reality: Reactive Threshold Alarms</a:t>
            </a:r>
          </a:p>
          <a:p>
            <a:pPr>
              <a:spcAft>
                <a:spcPts val="800"/>
              </a:spcAft>
              <a:defRPr sz="1250">
                <a:solidFill>
                  <a:srgbClr val="1E293B"/>
                </a:solidFill>
              </a:defRPr>
            </a:pPr>
            <a:r>
              <a:t>• CGMs measure interstitial glucose every 5 minutes (5–15 min lag behind blood).</a:t>
            </a:r>
          </a:p>
          <a:p>
            <a:pPr>
              <a:spcAft>
                <a:spcPts val="800"/>
              </a:spcAft>
              <a:defRPr sz="1250">
                <a:solidFill>
                  <a:srgbClr val="1E293B"/>
                </a:solidFill>
              </a:defRPr>
            </a:pPr>
            <a:r>
              <a:t>• Commercial alarms beep only AFTER glucose crosses 180 mg/dL.</a:t>
            </a:r>
          </a:p>
          <a:p>
            <a:pPr>
              <a:spcAft>
                <a:spcPts val="800"/>
              </a:spcAft>
              <a:defRPr sz="1250">
                <a:solidFill>
                  <a:srgbClr val="1E293B"/>
                </a:solidFill>
              </a:defRPr>
            </a:pPr>
            <a:r>
              <a:t>• By then, carbohydrate absorption is in full progress.</a:t>
            </a:r>
          </a:p>
          <a:p>
            <a:pPr>
              <a:spcAft>
                <a:spcPts val="800"/>
              </a:spcAft>
              <a:defRPr sz="1250">
                <a:solidFill>
                  <a:srgbClr val="1E293B"/>
                </a:solidFill>
              </a:defRPr>
            </a:pPr>
            <a:r>
              <a:t>• The practical window for behavioral intervention (e.g. a 15-min walk) has already closed.</a:t>
            </a:r>
          </a:p>
          <a:p>
            <a:pPr>
              <a:spcAft>
                <a:spcPts val="800"/>
              </a:spcAft>
              <a:defRPr sz="1250">
                <a:solidFill>
                  <a:srgbClr val="1E293B"/>
                </a:solidFill>
              </a:defRPr>
            </a:pPr>
            <a:r>
              <a:t>• Patients experience alert fatigue from reactive alarms with high false-alert rates.</a:t>
            </a:r>
          </a:p>
        </p:txBody>
      </p:sp>
      <p:sp>
        <p:nvSpPr>
          <p:cNvPr id="5" name="Rounded Rectangle 4"/>
          <p:cNvSpPr/>
          <p:nvPr/>
        </p:nvSpPr>
        <p:spPr>
          <a:xfrm>
            <a:off x="6217920" y="1645920"/>
            <a:ext cx="5212080"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200"/>
              </a:spcAft>
              <a:defRPr sz="1600" b="1">
                <a:solidFill>
                  <a:srgbClr val="0F766E"/>
                </a:solidFill>
              </a:defRPr>
            </a:pPr>
            <a:r>
              <a:t>Our Objective: 30–60 Minute Advance Forecast</a:t>
            </a:r>
          </a:p>
          <a:p>
            <a:pPr>
              <a:spcAft>
                <a:spcPts val="800"/>
              </a:spcAft>
              <a:defRPr sz="1250">
                <a:solidFill>
                  <a:srgbClr val="1E293B"/>
                </a:solidFill>
              </a:defRPr>
            </a:pPr>
            <a:r>
              <a:t>• Forecast continuous trajectory 120 minutes ahead with confidence intervals.</a:t>
            </a:r>
          </a:p>
          <a:p>
            <a:pPr>
              <a:spcAft>
                <a:spcPts val="800"/>
              </a:spcAft>
              <a:defRPr sz="1250">
                <a:solidFill>
                  <a:srgbClr val="1E293B"/>
                </a:solidFill>
              </a:defRPr>
            </a:pPr>
            <a:r>
              <a:t>• Alert 30–60 minutes BEFORE crossing 180 mg/dL to enable non-drug action.</a:t>
            </a:r>
          </a:p>
          <a:p>
            <a:pPr>
              <a:spcAft>
                <a:spcPts val="800"/>
              </a:spcAft>
              <a:defRPr sz="1250">
                <a:solidFill>
                  <a:srgbClr val="1E293B"/>
                </a:solidFill>
              </a:defRPr>
            </a:pPr>
            <a:r>
              <a:t>• Exercise activates GLUT4 muscle glucose uptake before the peak occurs.</a:t>
            </a:r>
          </a:p>
          <a:p>
            <a:pPr>
              <a:spcAft>
                <a:spcPts val="800"/>
              </a:spcAft>
              <a:defRPr sz="1250">
                <a:solidFill>
                  <a:srgbClr val="1E293B"/>
                </a:solidFill>
              </a:defRPr>
            </a:pPr>
            <a:r>
              <a:t>• Strict False-Alert Budget: Keep false alarms ≤ 1.0 per patient-day to prevent fatigue.</a:t>
            </a:r>
          </a:p>
          <a:p>
            <a:pPr>
              <a:spcAft>
                <a:spcPts val="800"/>
              </a:spcAft>
              <a:defRPr sz="1250">
                <a:solidFill>
                  <a:srgbClr val="1E293B"/>
                </a:solidFill>
              </a:defRPr>
            </a:pPr>
            <a:r>
              <a:t>• Crucial Distinction: Predictions are conditional estimates, NOT clinical prescriptions.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defRPr sz="1100" b="1">
                <a:solidFill>
                  <a:srgbClr val="0F766E"/>
                </a:solidFill>
              </a:defRPr>
            </a:pPr>
            <a:r>
              <a:t>PRESENTER: NIKHIL  ·  T2D GLUCOSE DIGITAL TWIN</a:t>
            </a:r>
          </a:p>
          <a:p>
            <a:pPr>
              <a:spcAft>
                <a:spcPts val="200"/>
              </a:spcAft>
              <a:defRPr sz="2600" b="1">
                <a:solidFill>
                  <a:srgbClr val="123A40"/>
                </a:solidFill>
              </a:defRPr>
            </a:pPr>
            <a:r>
              <a:t>Our Solution: A Physiology-Informed Digital Twin Workstation</a:t>
            </a:r>
          </a:p>
          <a:p>
            <a:pPr>
              <a:defRPr sz="1300">
                <a:solidFill>
                  <a:srgbClr val="64748B"/>
                </a:solidFill>
              </a:defRPr>
            </a:pPr>
            <a:r>
              <a:t>Coupling biophysical ODEs with attention transformers behind a production clinical UI.</a:t>
            </a:r>
          </a:p>
        </p:txBody>
      </p:sp>
      <p:sp>
        <p:nvSpPr>
          <p:cNvPr id="4" name="Rounded Rectangle 3"/>
          <p:cNvSpPr/>
          <p:nvPr/>
        </p:nvSpPr>
        <p:spPr>
          <a:xfrm>
            <a:off x="731520" y="1645920"/>
            <a:ext cx="3328416"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500" b="1">
                <a:solidFill>
                  <a:srgbClr val="0F766E"/>
                </a:solidFill>
              </a:defRPr>
            </a:pPr>
            <a:r>
              <a:t>1. Physiology Twin</a:t>
            </a:r>
          </a:p>
          <a:p>
            <a:pPr>
              <a:spcAft>
                <a:spcPts val="600"/>
              </a:spcAft>
              <a:defRPr sz="1200">
                <a:solidFill>
                  <a:srgbClr val="1E293B"/>
                </a:solidFill>
              </a:defRPr>
            </a:pPr>
            <a:r>
              <a:t>• Modified Bergman Minimal ODEs model glucose clearance and gut absorption.</a:t>
            </a:r>
          </a:p>
          <a:p>
            <a:pPr>
              <a:spcAft>
                <a:spcPts val="600"/>
              </a:spcAft>
              <a:defRPr sz="1200">
                <a:solidFill>
                  <a:srgbClr val="1E293B"/>
                </a:solidFill>
              </a:defRPr>
            </a:pPr>
            <a:r>
              <a:t>• Unscented Kalman Filter (UKF) recursively updates insulin action &amp; sensitivity.</a:t>
            </a:r>
          </a:p>
          <a:p>
            <a:pPr>
              <a:spcAft>
                <a:spcPts val="600"/>
              </a:spcAft>
              <a:defRPr sz="1200">
                <a:solidFill>
                  <a:srgbClr val="1E293B"/>
                </a:solidFill>
              </a:defRPr>
            </a:pPr>
            <a:r>
              <a:t>• Generates smooth, biologically plausible 2-hour mechanistic baseline.</a:t>
            </a:r>
          </a:p>
        </p:txBody>
      </p:sp>
      <p:sp>
        <p:nvSpPr>
          <p:cNvPr id="5" name="Rounded Rectangle 4"/>
          <p:cNvSpPr/>
          <p:nvPr/>
        </p:nvSpPr>
        <p:spPr>
          <a:xfrm>
            <a:off x="4425696" y="1645920"/>
            <a:ext cx="3328416"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500" b="1">
                <a:solidFill>
                  <a:srgbClr val="0F766E"/>
                </a:solidFill>
              </a:defRPr>
            </a:pPr>
            <a:r>
              <a:t>2. Learned PR-TFT</a:t>
            </a:r>
          </a:p>
          <a:p>
            <a:pPr>
              <a:spcAft>
                <a:spcPts val="600"/>
              </a:spcAft>
              <a:defRPr sz="1200">
                <a:solidFill>
                  <a:srgbClr val="1E293B"/>
                </a:solidFill>
              </a:defRPr>
            </a:pPr>
            <a:r>
              <a:t>• Temporal Fusion Transformer learns strictly the residual the physics misses.</a:t>
            </a:r>
          </a:p>
          <a:p>
            <a:pPr>
              <a:spcAft>
                <a:spcPts val="600"/>
              </a:spcAft>
              <a:defRPr sz="1200">
                <a:solidFill>
                  <a:srgbClr val="1E293B"/>
                </a:solidFill>
              </a:defRPr>
            </a:pPr>
            <a:r>
              <a:t>• Consumes EHR context, 24-hr wearable history (HR, steps, sleep), and clock.</a:t>
            </a:r>
          </a:p>
          <a:p>
            <a:pPr>
              <a:spcAft>
                <a:spcPts val="600"/>
              </a:spcAft>
              <a:defRPr sz="1200">
                <a:solidFill>
                  <a:srgbClr val="1E293B"/>
                </a:solidFill>
              </a:defRPr>
            </a:pPr>
            <a:r>
              <a:t>• Predicts 7 quantiles (P05–P95) with conformal coverage &amp; calibrated hazard.</a:t>
            </a:r>
          </a:p>
        </p:txBody>
      </p:sp>
      <p:sp>
        <p:nvSpPr>
          <p:cNvPr id="6" name="Rounded Rectangle 5"/>
          <p:cNvSpPr/>
          <p:nvPr/>
        </p:nvSpPr>
        <p:spPr>
          <a:xfrm>
            <a:off x="8119872" y="1645920"/>
            <a:ext cx="3328416"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500" b="1">
                <a:solidFill>
                  <a:srgbClr val="0F766E"/>
                </a:solidFill>
              </a:defRPr>
            </a:pPr>
            <a:r>
              <a:t>3. Clinical Workstation</a:t>
            </a:r>
          </a:p>
          <a:p>
            <a:pPr>
              <a:spcAft>
                <a:spcPts val="600"/>
              </a:spcAft>
              <a:defRPr sz="1200">
                <a:solidFill>
                  <a:srgbClr val="1E293B"/>
                </a:solidFill>
              </a:defRPr>
            </a:pPr>
            <a:r>
              <a:t>• Next.js 15 UI with Ward Triage and time-scrubbing replay navigation.</a:t>
            </a:r>
          </a:p>
          <a:p>
            <a:pPr>
              <a:spcAft>
                <a:spcPts val="600"/>
              </a:spcAft>
              <a:defRPr sz="1200">
                <a:solidFill>
                  <a:srgbClr val="1E293B"/>
                </a:solidFill>
              </a:defRPr>
            </a:pPr>
            <a:r>
              <a:t>• What-If counterfactual scenario re-runs (meals, walking; refuses drugs).</a:t>
            </a:r>
          </a:p>
          <a:p>
            <a:pPr>
              <a:spcAft>
                <a:spcPts val="600"/>
              </a:spcAft>
              <a:defRPr sz="1200">
                <a:solidFill>
                  <a:srgbClr val="1E293B"/>
                </a:solidFill>
              </a:defRPr>
            </a:pPr>
            <a:r>
              <a:t>• Bilingual patient note (English/Hindi) and official HL7 FHIR R4 export.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defRPr sz="1100" b="1">
                <a:solidFill>
                  <a:srgbClr val="0F766E"/>
                </a:solidFill>
              </a:defRPr>
            </a:pPr>
            <a:r>
              <a:t>PRESENTER: NIKHIL  ·  T2D GLUCOSE DIGITAL TWIN</a:t>
            </a:r>
          </a:p>
          <a:p>
            <a:pPr>
              <a:spcAft>
                <a:spcPts val="200"/>
              </a:spcAft>
              <a:defRPr sz="2600" b="1">
                <a:solidFill>
                  <a:srgbClr val="123A40"/>
                </a:solidFill>
              </a:defRPr>
            </a:pPr>
            <a:r>
              <a:t>How It Works: Causal Architecture &amp; Data Flow</a:t>
            </a:r>
          </a:p>
          <a:p>
            <a:pPr>
              <a:defRPr sz="1300">
                <a:solidFill>
                  <a:srgbClr val="64748B"/>
                </a:solidFill>
              </a:defRPr>
            </a:pPr>
            <a:r>
              <a:t>Every forecast is an explicit sum: Twin Baseline + Learned Residual.</a:t>
            </a:r>
          </a:p>
        </p:txBody>
      </p:sp>
      <p:pic>
        <p:nvPicPr>
          <p:cNvPr id="4" name="Picture 3" descr="landing-pipeline.png"/>
          <p:cNvPicPr>
            <a:picLocks noChangeAspect="1"/>
          </p:cNvPicPr>
          <p:nvPr/>
        </p:nvPicPr>
        <p:blipFill>
          <a:blip r:embed="rId2"/>
          <a:stretch>
            <a:fillRect/>
          </a:stretch>
        </p:blipFill>
        <p:spPr>
          <a:xfrm>
            <a:off x="731520" y="1645920"/>
            <a:ext cx="6217920" cy="4389120"/>
          </a:xfrm>
          <a:prstGeom prst="rect">
            <a:avLst/>
          </a:prstGeom>
        </p:spPr>
      </p:pic>
      <p:sp>
        <p:nvSpPr>
          <p:cNvPr id="5" name="Rounded Rectangle 4"/>
          <p:cNvSpPr/>
          <p:nvPr/>
        </p:nvSpPr>
        <p:spPr>
          <a:xfrm>
            <a:off x="7223760" y="1645920"/>
            <a:ext cx="4206240"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1000"/>
              </a:spcAft>
              <a:defRPr sz="1600" b="1">
                <a:solidFill>
                  <a:srgbClr val="123A40"/>
                </a:solidFill>
              </a:defRPr>
            </a:pPr>
            <a:r>
              <a:t>Mathematical Pipeline</a:t>
            </a:r>
          </a:p>
          <a:p>
            <a:pPr>
              <a:spcAft>
                <a:spcPts val="600"/>
              </a:spcAft>
              <a:defRPr sz="1100">
                <a:solidFill>
                  <a:srgbClr val="1E293B"/>
                </a:solidFill>
              </a:defRPr>
            </a:pPr>
            <a:r>
              <a:t>1. Input Ingestion: 5-min CGM + static EHR (Age, BMI, HbA1c, eGFR) + wearables.</a:t>
            </a:r>
          </a:p>
          <a:p>
            <a:pPr>
              <a:spcAft>
                <a:spcPts val="600"/>
              </a:spcAft>
              <a:defRPr sz="1100">
                <a:solidFill>
                  <a:srgbClr val="1E293B"/>
                </a:solidFill>
              </a:defRPr>
            </a:pPr>
            <a:r>
              <a:t>2. UKF Twin Rollout: Solves Bergman ODEs to produce mechanistic trajectory baseline.</a:t>
            </a:r>
          </a:p>
          <a:p>
            <a:pPr>
              <a:spcAft>
                <a:spcPts val="600"/>
              </a:spcAft>
              <a:defRPr sz="1100">
                <a:solidFill>
                  <a:srgbClr val="1E293B"/>
                </a:solidFill>
              </a:defRPr>
            </a:pPr>
            <a:r>
              <a:t>3. Residual Attention: PR-TFT predicts delta ΔG across 7 quantiles (P05–P95).</a:t>
            </a:r>
          </a:p>
          <a:p>
            <a:pPr>
              <a:spcAft>
                <a:spcPts val="600"/>
              </a:spcAft>
              <a:defRPr sz="1100">
                <a:solidFill>
                  <a:srgbClr val="1E293B"/>
                </a:solidFill>
              </a:defRPr>
            </a:pPr>
            <a:r>
              <a:t>4. Additive Composition: Final Forecast = Twin Rollout + Learned Adjustment.</a:t>
            </a:r>
          </a:p>
          <a:p>
            <a:pPr>
              <a:spcAft>
                <a:spcPts val="600"/>
              </a:spcAft>
              <a:defRPr sz="1100">
                <a:solidFill>
                  <a:srgbClr val="1E293B"/>
                </a:solidFill>
              </a:defRPr>
            </a:pPr>
            <a:r>
              <a:t>5. Conformal Bounds: Empirical non-conformity guarantees 80% validation coverage.</a:t>
            </a:r>
          </a:p>
          <a:p>
            <a:pPr>
              <a:spcAft>
                <a:spcPts val="600"/>
              </a:spcAft>
              <a:defRPr sz="1100">
                <a:solidFill>
                  <a:srgbClr val="1E293B"/>
                </a:solidFill>
              </a:defRPr>
            </a:pPr>
            <a:r>
              <a:t>6. Fallback Protection: If ML fails, system falls back to twin-only rollout.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defRPr sz="1100" b="1">
                <a:solidFill>
                  <a:srgbClr val="0F766E"/>
                </a:solidFill>
              </a:defRPr>
            </a:pPr>
            <a:r>
              <a:t>PRESENTER: AKSHAYA  ·  T2D GLUCOSE DIGITAL TWIN</a:t>
            </a:r>
          </a:p>
          <a:p>
            <a:pPr>
              <a:spcAft>
                <a:spcPts val="200"/>
              </a:spcAft>
              <a:defRPr sz="2600" b="1">
                <a:solidFill>
                  <a:srgbClr val="123A40"/>
                </a:solidFill>
              </a:defRPr>
            </a:pPr>
            <a:r>
              <a:t>Live Workstation: Verified Prototype on Synthetic Cohort</a:t>
            </a:r>
          </a:p>
          <a:p>
            <a:pPr>
              <a:defRPr sz="1300">
                <a:solidFill>
                  <a:srgbClr val="64748B"/>
                </a:solidFill>
              </a:defRPr>
            </a:pPr>
            <a:r>
              <a:t>Real-time streaming replay of 249 served subjects; test partition strictly sealed.</a:t>
            </a:r>
          </a:p>
        </p:txBody>
      </p:sp>
      <p:pic>
        <p:nvPicPr>
          <p:cNvPr id="4" name="Picture 3" descr="landing-hero.png"/>
          <p:cNvPicPr>
            <a:picLocks noChangeAspect="1"/>
          </p:cNvPicPr>
          <p:nvPr/>
        </p:nvPicPr>
        <p:blipFill>
          <a:blip r:embed="rId2"/>
          <a:stretch>
            <a:fillRect/>
          </a:stretch>
        </p:blipFill>
        <p:spPr>
          <a:xfrm>
            <a:off x="731520" y="1645920"/>
            <a:ext cx="6858000" cy="4389120"/>
          </a:xfrm>
          <a:prstGeom prst="rect">
            <a:avLst/>
          </a:prstGeom>
        </p:spPr>
      </p:pic>
      <p:sp>
        <p:nvSpPr>
          <p:cNvPr id="5" name="Rounded Rectangle 4"/>
          <p:cNvSpPr/>
          <p:nvPr/>
        </p:nvSpPr>
        <p:spPr>
          <a:xfrm>
            <a:off x="7863840" y="1645920"/>
            <a:ext cx="3566160"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1000"/>
              </a:spcAft>
              <a:defRPr sz="1600" b="1">
                <a:solidFill>
                  <a:srgbClr val="123A40"/>
                </a:solidFill>
              </a:defRPr>
            </a:pPr>
            <a:r>
              <a:t>Verified Features</a:t>
            </a:r>
          </a:p>
          <a:p>
            <a:pPr>
              <a:spcAft>
                <a:spcPts val="800"/>
              </a:spcAft>
              <a:defRPr sz="1150">
                <a:solidFill>
                  <a:srgbClr val="1E293B"/>
                </a:solidFill>
              </a:defRPr>
            </a:pPr>
            <a:r>
              <a:t>• Live Hero (P0017): 53yo male with T2D replayed at 08:00 UTC.</a:t>
            </a:r>
          </a:p>
          <a:p>
            <a:pPr>
              <a:spcAft>
                <a:spcPts val="800"/>
              </a:spcAft>
              <a:defRPr sz="1150">
                <a:solidFill>
                  <a:srgbClr val="1E293B"/>
                </a:solidFill>
              </a:defRPr>
            </a:pPr>
            <a:r>
              <a:t>• On-Screen Math: Twin (232.5) + Adjustment (−15.4) = 217.1 mg/dL at +60m.</a:t>
            </a:r>
          </a:p>
          <a:p>
            <a:pPr>
              <a:spcAft>
                <a:spcPts val="800"/>
              </a:spcAft>
              <a:defRPr sz="1150">
                <a:solidFill>
                  <a:srgbClr val="1E293B"/>
                </a:solidFill>
              </a:defRPr>
            </a:pPr>
            <a:r>
              <a:t>• Ward Triage View: Ranks patients by 2-hour spike-onset hazard.</a:t>
            </a:r>
          </a:p>
          <a:p>
            <a:pPr>
              <a:spcAft>
                <a:spcPts val="800"/>
              </a:spcAft>
              <a:defRPr sz="1150">
                <a:solidFill>
                  <a:srgbClr val="1E293B"/>
                </a:solidFill>
              </a:defRPr>
            </a:pPr>
            <a:r>
              <a:t>• Timeline Pinning: Freeze historical moments without lookahead bias.</a:t>
            </a:r>
          </a:p>
          <a:p>
            <a:pPr>
              <a:spcAft>
                <a:spcPts val="800"/>
              </a:spcAft>
              <a:defRPr sz="1150">
                <a:solidFill>
                  <a:srgbClr val="1E293B"/>
                </a:solidFill>
              </a:defRPr>
            </a:pPr>
            <a:r>
              <a:t>• Sealed Partition Guard: 44 test subjects return HTTP 404 (never exposed).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defRPr sz="1100" b="1">
                <a:solidFill>
                  <a:srgbClr val="0F766E"/>
                </a:solidFill>
              </a:defRPr>
            </a:pPr>
            <a:r>
              <a:t>PRESENTER: NIKHIL  ·  T2D GLUCOSE DIGITAL TWIN</a:t>
            </a:r>
          </a:p>
          <a:p>
            <a:pPr>
              <a:spcAft>
                <a:spcPts val="200"/>
              </a:spcAft>
              <a:defRPr sz="2600" b="1">
                <a:solidFill>
                  <a:srgbClr val="123A40"/>
                </a:solidFill>
              </a:defRPr>
            </a:pPr>
            <a:r>
              <a:t>Uncertainty &amp; What-If Counterfactual Simulation</a:t>
            </a:r>
          </a:p>
          <a:p>
            <a:pPr>
              <a:defRPr sz="1300">
                <a:solidFill>
                  <a:srgbClr val="64748B"/>
                </a:solidFill>
              </a:defRPr>
            </a:pPr>
            <a:r>
              <a:t>Conformal intervals, calibrated hazard, and principled scenario exploration.</a:t>
            </a:r>
          </a:p>
        </p:txBody>
      </p:sp>
      <p:pic>
        <p:nvPicPr>
          <p:cNvPr id="4" name="Picture 3" descr="whatif-meal-result.png"/>
          <p:cNvPicPr>
            <a:picLocks noChangeAspect="1"/>
          </p:cNvPicPr>
          <p:nvPr/>
        </p:nvPicPr>
        <p:blipFill>
          <a:blip r:embed="rId2"/>
          <a:stretch>
            <a:fillRect/>
          </a:stretch>
        </p:blipFill>
        <p:spPr>
          <a:xfrm>
            <a:off x="731520" y="1645920"/>
            <a:ext cx="6858000" cy="4389120"/>
          </a:xfrm>
          <a:prstGeom prst="rect">
            <a:avLst/>
          </a:prstGeom>
        </p:spPr>
      </p:pic>
      <p:sp>
        <p:nvSpPr>
          <p:cNvPr id="5" name="Rounded Rectangle 4"/>
          <p:cNvSpPr/>
          <p:nvPr/>
        </p:nvSpPr>
        <p:spPr>
          <a:xfrm>
            <a:off x="7863840" y="1645920"/>
            <a:ext cx="3566160"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1000"/>
              </a:spcAft>
              <a:defRPr sz="1600" b="1">
                <a:solidFill>
                  <a:srgbClr val="123A40"/>
                </a:solidFill>
              </a:defRPr>
            </a:pPr>
            <a:r>
              <a:t>What-If Dynamics</a:t>
            </a:r>
          </a:p>
          <a:p>
            <a:pPr>
              <a:spcAft>
                <a:spcPts val="800"/>
              </a:spcAft>
              <a:defRPr sz="1150">
                <a:solidFill>
                  <a:srgbClr val="1E293B"/>
                </a:solidFill>
              </a:defRPr>
            </a:pPr>
            <a:r>
              <a:t>• Add 60g Carbs in 30m: Mechanistic gut rollout raises glucose; network adjusts.</a:t>
            </a:r>
          </a:p>
          <a:p>
            <a:pPr>
              <a:spcAft>
                <a:spcPts val="800"/>
              </a:spcAft>
              <a:defRPr sz="1150">
                <a:solidFill>
                  <a:srgbClr val="1E293B"/>
                </a:solidFill>
              </a:defRPr>
            </a:pPr>
            <a:r>
              <a:t>• Add 30m Walking: Elevates glucose clearance via exercise uptake.</a:t>
            </a:r>
          </a:p>
          <a:p>
            <a:pPr>
              <a:spcAft>
                <a:spcPts val="800"/>
              </a:spcAft>
              <a:defRPr sz="1150">
                <a:solidFill>
                  <a:srgbClr val="1E293B"/>
                </a:solidFill>
              </a:defRPr>
            </a:pPr>
            <a:r>
              <a:t>• Medication Refusal: Clicking drug changes returns SCENARIO_UNSUPPORTED.</a:t>
            </a:r>
          </a:p>
          <a:p>
            <a:pPr>
              <a:spcAft>
                <a:spcPts val="800"/>
              </a:spcAft>
              <a:defRPr sz="1150">
                <a:solidFill>
                  <a:srgbClr val="1E293B"/>
                </a:solidFill>
              </a:defRPr>
            </a:pPr>
            <a:r>
              <a:t>• Visible Artefact Flag: Circled 5-min blip is flagged, never silently smoothed.</a:t>
            </a:r>
          </a:p>
          <a:p>
            <a:pPr>
              <a:spcAft>
                <a:spcPts val="800"/>
              </a:spcAft>
              <a:defRPr sz="1150">
                <a:solidFill>
                  <a:srgbClr val="1E293B"/>
                </a:solidFill>
              </a:defRPr>
            </a:pPr>
            <a:r>
              <a:t>• Causal Caveat: What-If is a simulated response, not a proven clinical outcome.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defRPr sz="1100" b="1">
                <a:solidFill>
                  <a:srgbClr val="0F766E"/>
                </a:solidFill>
              </a:defRPr>
            </a:pPr>
            <a:r>
              <a:t>PRESENTER: AKSHAYA  ·  T2D GLUCOSE DIGITAL TWIN</a:t>
            </a:r>
          </a:p>
          <a:p>
            <a:pPr>
              <a:spcAft>
                <a:spcPts val="200"/>
              </a:spcAft>
              <a:defRPr sz="2600" b="1">
                <a:solidFill>
                  <a:srgbClr val="123A40"/>
                </a:solidFill>
              </a:defRPr>
            </a:pPr>
            <a:r>
              <a:t>Evidence: Locked Evaluation on 161 Real Patients</a:t>
            </a:r>
          </a:p>
          <a:p>
            <a:pPr>
              <a:defRPr sz="1300">
                <a:solidFill>
                  <a:srgbClr val="64748B"/>
                </a:solidFill>
              </a:defRPr>
            </a:pPr>
            <a:r>
              <a:t>Primary locked test results on 11 held-out test patients with 5-minute CGM.</a:t>
            </a:r>
          </a:p>
        </p:txBody>
      </p:sp>
      <p:pic>
        <p:nvPicPr>
          <p:cNvPr id="4" name="Picture 3" descr="evidence-alarms-and-real161.png"/>
          <p:cNvPicPr>
            <a:picLocks noChangeAspect="1"/>
          </p:cNvPicPr>
          <p:nvPr/>
        </p:nvPicPr>
        <p:blipFill>
          <a:blip r:embed="rId2"/>
          <a:stretch>
            <a:fillRect/>
          </a:stretch>
        </p:blipFill>
        <p:spPr>
          <a:xfrm>
            <a:off x="731520" y="1645920"/>
            <a:ext cx="6858000" cy="4389120"/>
          </a:xfrm>
          <a:prstGeom prst="rect">
            <a:avLst/>
          </a:prstGeom>
        </p:spPr>
      </p:pic>
      <p:sp>
        <p:nvSpPr>
          <p:cNvPr id="5" name="Rounded Rectangle 4"/>
          <p:cNvSpPr/>
          <p:nvPr/>
        </p:nvSpPr>
        <p:spPr>
          <a:xfrm>
            <a:off x="7863840" y="1645920"/>
            <a:ext cx="3566160"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1000"/>
              </a:spcAft>
              <a:defRPr sz="1600" b="1">
                <a:solidFill>
                  <a:srgbClr val="0F766E"/>
                </a:solidFill>
              </a:defRPr>
            </a:pPr>
            <a:r>
              <a:t>Key Verified Numbers</a:t>
            </a:r>
          </a:p>
          <a:p>
            <a:pPr>
              <a:spcAft>
                <a:spcPts val="800"/>
              </a:spcAft>
              <a:defRPr sz="1150">
                <a:solidFill>
                  <a:srgbClr val="1E293B"/>
                </a:solidFill>
              </a:defRPr>
            </a:pPr>
            <a:r>
              <a:t>• 60-min RMSE: 23.11 mg/dL [18.75–28.12] (Persistence: 26.27 mg/dL).</a:t>
            </a:r>
          </a:p>
          <a:p>
            <a:pPr>
              <a:spcAft>
                <a:spcPts val="800"/>
              </a:spcAft>
              <a:defRPr sz="1150">
                <a:solidFill>
                  <a:srgbClr val="1E293B"/>
                </a:solidFill>
              </a:defRPr>
            </a:pPr>
            <a:r>
              <a:t>• False Alerts: 0.11 / patient-day (within ≤ 1.0 budget).</a:t>
            </a:r>
          </a:p>
          <a:p>
            <a:pPr>
              <a:spcAft>
                <a:spcPts val="800"/>
              </a:spcAft>
              <a:defRPr sz="1150">
                <a:solidFill>
                  <a:srgbClr val="1E293B"/>
                </a:solidFill>
              </a:defRPr>
            </a:pPr>
            <a:r>
              <a:t>• Alert Precision: 65.5% (Linear trend: only 16.4%).</a:t>
            </a:r>
          </a:p>
          <a:p>
            <a:pPr>
              <a:spcAft>
                <a:spcPts val="800"/>
              </a:spcAft>
              <a:defRPr sz="1150">
                <a:solidFill>
                  <a:srgbClr val="1E293B"/>
                </a:solidFill>
              </a:defRPr>
            </a:pPr>
            <a:r>
              <a:t>• Early Sensitivity (≥30m): 6.9% point est. / 6.0% bootstrap mean.</a:t>
            </a:r>
          </a:p>
          <a:p>
            <a:pPr>
              <a:spcAft>
                <a:spcPts val="800"/>
              </a:spcAft>
              <a:defRPr sz="1150">
                <a:solidFill>
                  <a:srgbClr val="1E293B"/>
                </a:solidFill>
              </a:defRPr>
            </a:pPr>
            <a:r>
              <a:t>• ShanghaiT2DM: Declared NOT ESTIMABLE (15-min cadence violates 70% rule).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defRPr sz="1100" b="1">
                <a:solidFill>
                  <a:srgbClr val="0F766E"/>
                </a:solidFill>
              </a:defRPr>
            </a:pPr>
            <a:r>
              <a:t>PRESENTER: NIKHIL  ·  T2D GLUCOSE DIGITAL TWIN</a:t>
            </a:r>
          </a:p>
          <a:p>
            <a:pPr>
              <a:spcAft>
                <a:spcPts val="200"/>
              </a:spcAft>
              <a:defRPr sz="2600" b="1">
                <a:solidFill>
                  <a:srgbClr val="123A40"/>
                </a:solidFill>
              </a:defRPr>
            </a:pPr>
            <a:r>
              <a:t>What Failed &amp; What We Learned: Honest Science</a:t>
            </a:r>
          </a:p>
          <a:p>
            <a:pPr>
              <a:defRPr sz="1300">
                <a:solidFill>
                  <a:srgbClr val="64748B"/>
                </a:solidFill>
              </a:defRPr>
            </a:pPr>
            <a:r>
              <a:t>Negative results, failed gates, and external validation checks.</a:t>
            </a:r>
          </a:p>
        </p:txBody>
      </p:sp>
      <p:pic>
        <p:nvPicPr>
          <p:cNvPr id="4" name="Picture 3" descr="evidence-real-external-tables.png"/>
          <p:cNvPicPr>
            <a:picLocks noChangeAspect="1"/>
          </p:cNvPicPr>
          <p:nvPr/>
        </p:nvPicPr>
        <p:blipFill>
          <a:blip r:embed="rId2"/>
          <a:stretch>
            <a:fillRect/>
          </a:stretch>
        </p:blipFill>
        <p:spPr>
          <a:xfrm>
            <a:off x="731520" y="1645920"/>
            <a:ext cx="6858000" cy="4389120"/>
          </a:xfrm>
          <a:prstGeom prst="rect">
            <a:avLst/>
          </a:prstGeom>
        </p:spPr>
      </p:pic>
      <p:sp>
        <p:nvSpPr>
          <p:cNvPr id="5" name="Rounded Rectangle 4"/>
          <p:cNvSpPr/>
          <p:nvPr/>
        </p:nvSpPr>
        <p:spPr>
          <a:xfrm>
            <a:off x="7863840" y="1645920"/>
            <a:ext cx="3566160"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1000"/>
              </a:spcAft>
              <a:defRPr sz="1600" b="1">
                <a:solidFill>
                  <a:srgbClr val="BE123C"/>
                </a:solidFill>
              </a:defRPr>
            </a:pPr>
            <a:r>
              <a:t>Failed Gates Disclosed</a:t>
            </a:r>
          </a:p>
          <a:p>
            <a:pPr>
              <a:spcAft>
                <a:spcPts val="800"/>
              </a:spcAft>
              <a:defRPr sz="1150">
                <a:solidFill>
                  <a:srgbClr val="1E293B"/>
                </a:solidFill>
              </a:defRPr>
            </a:pPr>
            <a:r>
              <a:t>• Gate 3 Realism Audit: FAILED (AUROC 0.932 vs ≤0.65 target; ODE traces too smooth).</a:t>
            </a:r>
          </a:p>
          <a:p>
            <a:pPr>
              <a:spcAft>
                <a:spcPts val="800"/>
              </a:spcAft>
              <a:defRPr sz="1150">
                <a:solidFill>
                  <a:srgbClr val="1E293B"/>
                </a:solidFill>
              </a:defRPr>
            </a:pPr>
            <a:r>
              <a:t>• Real Early Warning (6.9%): Low advance sensitivity due to unannounced meals.</a:t>
            </a:r>
          </a:p>
          <a:p>
            <a:pPr>
              <a:spcAft>
                <a:spcPts val="800"/>
              </a:spcAft>
              <a:defRPr sz="1150">
                <a:solidFill>
                  <a:srgbClr val="1E293B"/>
                </a:solidFill>
              </a:defRPr>
            </a:pPr>
            <a:r>
              <a:t>• External Check 1 (Hall 2018): NOT CONFIRMED (+7.8%, 95% CI crosses 0).</a:t>
            </a:r>
          </a:p>
          <a:p>
            <a:pPr>
              <a:spcAft>
                <a:spcPts val="800"/>
              </a:spcAft>
              <a:defRPr sz="1150">
                <a:solidFill>
                  <a:srgbClr val="1E293B"/>
                </a:solidFill>
              </a:defRPr>
            </a:pPr>
            <a:r>
              <a:t>• External Check 2 (AZT1D): NOT MET (Learned model −2.5% vs linear trend).</a:t>
            </a:r>
          </a:p>
          <a:p>
            <a:pPr>
              <a:spcAft>
                <a:spcPts val="800"/>
              </a:spcAft>
              <a:defRPr sz="1150">
                <a:solidFill>
                  <a:srgbClr val="1E293B"/>
                </a:solidFill>
              </a:defRPr>
            </a:pPr>
            <a:r>
              <a:t>• Lesson: Probability thresholds do not transfer across cohorts without local recalibration.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defRPr sz="1100" b="1">
                <a:solidFill>
                  <a:srgbClr val="0F766E"/>
                </a:solidFill>
              </a:defRPr>
            </a:pPr>
            <a:r>
              <a:t>PRESENTER: AKSHAYA  ·  T2D GLUCOSE DIGITAL TWIN</a:t>
            </a:r>
          </a:p>
          <a:p>
            <a:pPr>
              <a:spcAft>
                <a:spcPts val="200"/>
              </a:spcAft>
              <a:defRPr sz="2600" b="1">
                <a:solidFill>
                  <a:srgbClr val="123A40"/>
                </a:solidFill>
              </a:defRPr>
            </a:pPr>
            <a:r>
              <a:t>Engineering Rigor, Safety Governance &amp; Interoperability</a:t>
            </a:r>
          </a:p>
          <a:p>
            <a:pPr>
              <a:defRPr sz="1300">
                <a:solidFill>
                  <a:srgbClr val="64748B"/>
                </a:solidFill>
              </a:defRPr>
            </a:pPr>
            <a:r>
              <a:t>Test split firewalls, HL7 FHIR R4 export, and containerized deployment.</a:t>
            </a:r>
          </a:p>
        </p:txBody>
      </p:sp>
      <p:pic>
        <p:nvPicPr>
          <p:cNvPr id="4" name="Picture 3" descr="clinician-summary-modal.png"/>
          <p:cNvPicPr>
            <a:picLocks noChangeAspect="1"/>
          </p:cNvPicPr>
          <p:nvPr/>
        </p:nvPicPr>
        <p:blipFill>
          <a:blip r:embed="rId2"/>
          <a:stretch>
            <a:fillRect/>
          </a:stretch>
        </p:blipFill>
        <p:spPr>
          <a:xfrm>
            <a:off x="731520" y="1645920"/>
            <a:ext cx="6858000" cy="4389120"/>
          </a:xfrm>
          <a:prstGeom prst="rect">
            <a:avLst/>
          </a:prstGeom>
        </p:spPr>
      </p:pic>
      <p:sp>
        <p:nvSpPr>
          <p:cNvPr id="5" name="Rounded Rectangle 4"/>
          <p:cNvSpPr/>
          <p:nvPr/>
        </p:nvSpPr>
        <p:spPr>
          <a:xfrm>
            <a:off x="7863840" y="1645920"/>
            <a:ext cx="3566160"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1000"/>
              </a:spcAft>
              <a:defRPr sz="1600" b="1">
                <a:solidFill>
                  <a:srgbClr val="123A40"/>
                </a:solidFill>
              </a:defRPr>
            </a:pPr>
            <a:r>
              <a:t>Clinical Integration</a:t>
            </a:r>
          </a:p>
          <a:p>
            <a:pPr>
              <a:spcAft>
                <a:spcPts val="800"/>
              </a:spcAft>
              <a:defRPr sz="1150">
                <a:solidFill>
                  <a:srgbClr val="1E293B"/>
                </a:solidFill>
              </a:defRPr>
            </a:pPr>
            <a:r>
              <a:t>• Partition Firewall: Sealed test partition isolated at API boundary (HTTP 404).</a:t>
            </a:r>
          </a:p>
          <a:p>
            <a:pPr>
              <a:spcAft>
                <a:spcPts val="800"/>
              </a:spcAft>
              <a:defRPr sz="1150">
                <a:solidFill>
                  <a:srgbClr val="1E293B"/>
                </a:solidFill>
              </a:defRPr>
            </a:pPr>
            <a:r>
              <a:t>• HL7 FHIR R4: Validated JSON export using LOINC 99504-3 and HTEST security tag.</a:t>
            </a:r>
          </a:p>
          <a:p>
            <a:pPr>
              <a:spcAft>
                <a:spcPts val="800"/>
              </a:spcAft>
              <a:defRPr sz="1150">
                <a:solidFill>
                  <a:srgbClr val="1E293B"/>
                </a:solidFill>
              </a:defRPr>
            </a:pPr>
            <a:r>
              <a:t>• Bilingual Note: Plain English and Hindi patient summaries.</a:t>
            </a:r>
          </a:p>
          <a:p>
            <a:pPr>
              <a:spcAft>
                <a:spcPts val="800"/>
              </a:spcAft>
              <a:defRPr sz="1150">
                <a:solidFill>
                  <a:srgbClr val="1E293B"/>
                </a:solidFill>
              </a:defRPr>
            </a:pPr>
            <a:r>
              <a:t>• Reproducibility: Git SHA commit tracking, deterministic seeds, and run manifests.</a:t>
            </a:r>
          </a:p>
          <a:p>
            <a:pPr>
              <a:spcAft>
                <a:spcPts val="800"/>
              </a:spcAft>
              <a:defRPr sz="1150">
                <a:solidFill>
                  <a:srgbClr val="1E293B"/>
                </a:solidFill>
              </a:defRPr>
            </a:pPr>
            <a:r>
              <a:t>• Zero Real Data Leakage: Real patient datasets stored offline only.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defRPr sz="1100" b="1">
                <a:solidFill>
                  <a:srgbClr val="CCFBF1"/>
                </a:solidFill>
              </a:defRPr>
            </a:pPr>
            <a:r>
              <a:t>PRESENTER: AKSHAYA &amp; NIKHIL  ·  T2D GLUCOSE DIGITAL TWIN</a:t>
            </a:r>
          </a:p>
          <a:p>
            <a:pPr>
              <a:spcAft>
                <a:spcPts val="200"/>
              </a:spcAft>
              <a:defRPr sz="2600" b="1">
                <a:solidFill>
                  <a:srgbClr val="FFFFFF"/>
                </a:solidFill>
              </a:defRPr>
            </a:pPr>
            <a:r>
              <a:t>Conclusion &amp; Next Steps: The Path to Clinical Translation</a:t>
            </a:r>
          </a:p>
          <a:p>
            <a:pPr>
              <a:defRPr sz="1300">
                <a:solidFill>
                  <a:srgbClr val="CBD5E1"/>
                </a:solidFill>
              </a:defRPr>
            </a:pPr>
            <a:r>
              <a:t>What we proved, what remains, and our evidence-justified research roadmap.</a:t>
            </a:r>
          </a:p>
        </p:txBody>
      </p:sp>
      <p:sp>
        <p:nvSpPr>
          <p:cNvPr id="4" name="Rounded Rectangle 3"/>
          <p:cNvSpPr/>
          <p:nvPr/>
        </p:nvSpPr>
        <p:spPr>
          <a:xfrm>
            <a:off x="731520" y="1645920"/>
            <a:ext cx="5120640" cy="4389120"/>
          </a:xfrm>
          <a:prstGeom prst="roundRect">
            <a:avLst/>
          </a:prstGeom>
          <a:solidFill>
            <a:srgbClr val="1E3A40"/>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200"/>
              </a:spcAft>
              <a:defRPr sz="1600" b="1">
                <a:solidFill>
                  <a:srgbClr val="CCFBF1"/>
                </a:solidFill>
              </a:defRPr>
            </a:pPr>
            <a:r>
              <a:t>What We Have Proven</a:t>
            </a:r>
          </a:p>
          <a:p>
            <a:pPr>
              <a:spcAft>
                <a:spcPts val="800"/>
              </a:spcAft>
              <a:defRPr sz="1200">
                <a:solidFill>
                  <a:srgbClr val="FFFFFF"/>
                </a:solidFill>
              </a:defRPr>
            </a:pPr>
            <a:r>
              <a:t>✔ A working, reproducible digital twin combining biophysical ODEs with PR-TFT attention.</a:t>
            </a:r>
          </a:p>
          <a:p>
            <a:pPr>
              <a:spcAft>
                <a:spcPts val="800"/>
              </a:spcAft>
              <a:defRPr sz="1200">
                <a:solidFill>
                  <a:srgbClr val="FFFFFF"/>
                </a:solidFill>
              </a:defRPr>
            </a:pPr>
            <a:r>
              <a:t>✔ A 16.0% RMSE reduction over the physics twin on synthetic validation data.</a:t>
            </a:r>
          </a:p>
          <a:p>
            <a:pPr>
              <a:spcAft>
                <a:spcPts val="800"/>
              </a:spcAft>
              <a:defRPr sz="1200">
                <a:solidFill>
                  <a:srgbClr val="FFFFFF"/>
                </a:solidFill>
              </a:defRPr>
            </a:pPr>
            <a:r>
              <a:t>✔ A 60-min RMSE of 23.11 mg/dL on held-out real patients within a 0.11 false alert/day budget.</a:t>
            </a:r>
          </a:p>
          <a:p>
            <a:pPr>
              <a:spcAft>
                <a:spcPts val="800"/>
              </a:spcAft>
              <a:defRPr sz="1200">
                <a:solidFill>
                  <a:srgbClr val="FFFFFF"/>
                </a:solidFill>
              </a:defRPr>
            </a:pPr>
            <a:r>
              <a:t>✔ Full-stack clinical workstation with FHIR export, What-If simulation, and sealed partition guards.</a:t>
            </a:r>
          </a:p>
          <a:p>
            <a:pPr>
              <a:spcAft>
                <a:spcPts val="800"/>
              </a:spcAft>
              <a:defRPr sz="1200">
                <a:solidFill>
                  <a:srgbClr val="FFFFFF"/>
                </a:solidFill>
              </a:defRPr>
            </a:pPr>
            <a:r>
              <a:t>✔ Uncompromising scientific integrity: failed gates and negative findings published openly.</a:t>
            </a:r>
          </a:p>
        </p:txBody>
      </p:sp>
      <p:sp>
        <p:nvSpPr>
          <p:cNvPr id="5" name="Rounded Rectangle 4"/>
          <p:cNvSpPr/>
          <p:nvPr/>
        </p:nvSpPr>
        <p:spPr>
          <a:xfrm>
            <a:off x="6217920" y="1645920"/>
            <a:ext cx="5212080" cy="4389120"/>
          </a:xfrm>
          <a:prstGeom prst="roundRect">
            <a:avLst/>
          </a:prstGeom>
          <a:solidFill>
            <a:srgbClr val="1E3A40"/>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200"/>
              </a:spcAft>
              <a:defRPr sz="1600" b="1">
                <a:solidFill>
                  <a:srgbClr val="D97706"/>
                </a:solidFill>
              </a:defRPr>
            </a:pPr>
            <a:r>
              <a:t>Next Steps Before Clinical Use</a:t>
            </a:r>
          </a:p>
          <a:p>
            <a:pPr>
              <a:spcAft>
                <a:spcPts val="800"/>
              </a:spcAft>
              <a:defRPr sz="1200">
                <a:solidFill>
                  <a:srgbClr val="FFFFFF"/>
                </a:solidFill>
              </a:defRPr>
            </a:pPr>
            <a:r>
              <a:t>➔ 1. AI-READI Confirmation: Execute frozen protocol on ~944 T2D participants once data access is approved.</a:t>
            </a:r>
          </a:p>
          <a:p>
            <a:pPr>
              <a:spcAft>
                <a:spcPts val="800"/>
              </a:spcAft>
              <a:defRPr sz="1200">
                <a:solidFill>
                  <a:srgbClr val="FFFFFF"/>
                </a:solidFill>
              </a:defRPr>
            </a:pPr>
            <a:r>
              <a:t>➔ 2. Adaptive Thresholds: Implement dynamic operating points to prevent cross-cohort calibration collapse.</a:t>
            </a:r>
          </a:p>
          <a:p>
            <a:pPr>
              <a:spcAft>
                <a:spcPts val="800"/>
              </a:spcAft>
              <a:defRPr sz="1200">
                <a:solidFill>
                  <a:srgbClr val="FFFFFF"/>
                </a:solidFill>
              </a:defRPr>
            </a:pPr>
            <a:r>
              <a:t>➔ 3. Unannounced Meal Deconvolution: Infer carbohydrate arrival directly from early CGM inflections.</a:t>
            </a:r>
          </a:p>
          <a:p>
            <a:pPr>
              <a:spcAft>
                <a:spcPts val="800"/>
              </a:spcAft>
              <a:defRPr sz="1200">
                <a:solidFill>
                  <a:srgbClr val="FFFFFF"/>
                </a:solidFill>
              </a:defRPr>
            </a:pPr>
            <a:r>
              <a:t>➔ 4. Curvature Regularization: Retrain PR-TFT with smoothness loss to permanently eliminate 20 mg/dL jumps.</a:t>
            </a:r>
          </a:p>
          <a:p>
            <a:pPr>
              <a:spcAft>
                <a:spcPts val="800"/>
              </a:spcAft>
              <a:defRPr sz="1200">
                <a:solidFill>
                  <a:srgbClr val="FFFFFF"/>
                </a:solidFill>
              </a:defRPr>
            </a:pPr>
            <a:r>
              <a:t>➔ 5. Observational Clinical Pilot: Evaluate clinician decision support in outpatient type 2 reviews.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defRPr sz="1100" b="1">
                <a:solidFill>
                  <a:srgbClr val="0F766E"/>
                </a:solidFill>
              </a:defRPr>
            </a:pPr>
            <a:r>
              <a:t>PRESENTER: APPENDIX  ·  T2D GLUCOSE DIGITAL TWIN</a:t>
            </a:r>
          </a:p>
          <a:p>
            <a:pPr>
              <a:spcAft>
                <a:spcPts val="200"/>
              </a:spcAft>
              <a:defRPr sz="2600" b="1">
                <a:solidFill>
                  <a:srgbClr val="123A40"/>
                </a:solidFill>
              </a:defRPr>
            </a:pPr>
            <a:r>
              <a:t>Slide 11: Appendix — Bergman Minimal Model &amp; UKF Equations</a:t>
            </a:r>
          </a:p>
          <a:p>
            <a:pPr>
              <a:defRPr sz="1300">
                <a:solidFill>
                  <a:srgbClr val="64748B"/>
                </a:solidFill>
              </a:defRPr>
            </a:pPr>
            <a:r>
              <a:t>Technical reference &amp; deep-dive material for jury questions.</a:t>
            </a:r>
          </a:p>
        </p:txBody>
      </p:sp>
      <p:sp>
        <p:nvSpPr>
          <p:cNvPr id="4" name="Rounded Rectangle 3"/>
          <p:cNvSpPr/>
          <p:nvPr/>
        </p:nvSpPr>
        <p:spPr>
          <a:xfrm>
            <a:off x="731520" y="1645920"/>
            <a:ext cx="10728655"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spcAft>
                <a:spcPts val="1200"/>
              </a:spcAft>
              <a:defRPr sz="1300">
                <a:solidFill>
                  <a:srgbClr val="1E293B"/>
                </a:solidFill>
              </a:defRPr>
            </a:pPr>
            <a:r>
              <a:t>• Glucose dynamics: dG/dt = −[p1 + X(t)] G(t) + p1 Gb + (1/VG) Ra(t)</a:t>
            </a:r>
          </a:p>
          <a:p>
            <a:pPr>
              <a:spcAft>
                <a:spcPts val="1200"/>
              </a:spcAft>
              <a:defRPr sz="1300">
                <a:solidFill>
                  <a:srgbClr val="1E293B"/>
                </a:solidFill>
              </a:defRPr>
            </a:pPr>
            <a:r>
              <a:t>• Remote insulin action: dX/dt = −p2 X(t) + p3 [I(t) − Ib]</a:t>
            </a:r>
          </a:p>
          <a:p>
            <a:pPr>
              <a:spcAft>
                <a:spcPts val="1200"/>
              </a:spcAft>
              <a:defRPr sz="1300">
                <a:solidFill>
                  <a:srgbClr val="1E293B"/>
                </a:solidFill>
              </a:defRPr>
            </a:pPr>
            <a:r>
              <a:t>• Gut absorption: Two-compartment model dQ1/dt = −k_gri Q1 + Meals; dQ2/dt = k_gri Q1 − k_abs Q2</a:t>
            </a:r>
          </a:p>
          <a:p>
            <a:pPr>
              <a:spcAft>
                <a:spcPts val="1200"/>
              </a:spcAft>
              <a:defRPr sz="1300">
                <a:solidFill>
                  <a:srgbClr val="1E293B"/>
                </a:solidFill>
              </a:defRPr>
            </a:pPr>
            <a:r>
              <a:t>• UKF State Vector: [G, X, I, Q1, Q2, SI, EGP] tracked recursively with sigma points.</a:t>
            </a:r>
          </a:p>
          <a:p>
            <a:pPr>
              <a:spcAft>
                <a:spcPts val="1200"/>
              </a:spcAft>
              <a:defRPr sz="1300">
                <a:solidFill>
                  <a:srgbClr val="1E293B"/>
                </a:solidFill>
              </a:defRPr>
            </a:pPr>
            <a:r>
              <a:t>• State prior prevents unphysical negative glucose or runaway exponential spikes during dropouts.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defRPr sz="1100" b="1">
                <a:solidFill>
                  <a:srgbClr val="0F766E"/>
                </a:solidFill>
              </a:defRPr>
            </a:pPr>
            <a:r>
              <a:t>PRESENTER: APPENDIX  ·  T2D GLUCOSE DIGITAL TWIN</a:t>
            </a:r>
          </a:p>
          <a:p>
            <a:pPr>
              <a:spcAft>
                <a:spcPts val="200"/>
              </a:spcAft>
              <a:defRPr sz="2600" b="1">
                <a:solidFill>
                  <a:srgbClr val="123A40"/>
                </a:solidFill>
              </a:defRPr>
            </a:pPr>
            <a:r>
              <a:t>Slide 12: Appendix — PR-TFT Architecture &amp; Hyperparameters</a:t>
            </a:r>
          </a:p>
          <a:p>
            <a:pPr>
              <a:defRPr sz="1300">
                <a:solidFill>
                  <a:srgbClr val="64748B"/>
                </a:solidFill>
              </a:defRPr>
            </a:pPr>
            <a:r>
              <a:t>Technical reference &amp; deep-dive material for jury questions.</a:t>
            </a:r>
          </a:p>
        </p:txBody>
      </p:sp>
      <p:sp>
        <p:nvSpPr>
          <p:cNvPr id="4" name="Rounded Rectangle 3"/>
          <p:cNvSpPr/>
          <p:nvPr/>
        </p:nvSpPr>
        <p:spPr>
          <a:xfrm>
            <a:off x="731520" y="1645920"/>
            <a:ext cx="10728655"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spcAft>
                <a:spcPts val="1200"/>
              </a:spcAft>
              <a:defRPr sz="1300">
                <a:solidFill>
                  <a:srgbClr val="1E293B"/>
                </a:solidFill>
              </a:defRPr>
            </a:pPr>
            <a:r>
              <a:t>• Architecture: Temporal Fusion Transformer with Gated Residual Networks (GRN) and Variable Selection Networks (VSN).</a:t>
            </a:r>
          </a:p>
          <a:p>
            <a:pPr>
              <a:spcAft>
                <a:spcPts val="1200"/>
              </a:spcAft>
              <a:defRPr sz="1300">
                <a:solidFill>
                  <a:srgbClr val="1E293B"/>
                </a:solidFill>
              </a:defRPr>
            </a:pPr>
            <a:r>
              <a:t>• Hidden dimension: 96; Attention heads: 4; Layers: 2; Dropout: 0.1.</a:t>
            </a:r>
          </a:p>
          <a:p>
            <a:pPr>
              <a:spcAft>
                <a:spcPts val="1200"/>
              </a:spcAft>
              <a:defRPr sz="1300">
                <a:solidFill>
                  <a:srgbClr val="1E293B"/>
                </a:solidFill>
              </a:defRPr>
            </a:pPr>
            <a:r>
              <a:t>• Inputs: Static EHR (Age, BMI, HbA1c, eGFR) + Dynamic Wearables (CGM, HR, HRV, Steps, Sleep) + Clock features.</a:t>
            </a:r>
          </a:p>
          <a:p>
            <a:pPr>
              <a:spcAft>
                <a:spcPts val="1200"/>
              </a:spcAft>
              <a:defRPr sz="1300">
                <a:solidFill>
                  <a:srgbClr val="1E293B"/>
                </a:solidFill>
              </a:defRPr>
            </a:pPr>
            <a:r>
              <a:t>• Loss function: Pinball quantile loss across 7 quantiles (P05 to P95) + Binary cross-entropy on hazard head.</a:t>
            </a:r>
          </a:p>
          <a:p>
            <a:pPr>
              <a:spcAft>
                <a:spcPts val="1200"/>
              </a:spcAft>
              <a:defRPr sz="1300">
                <a:solidFill>
                  <a:srgbClr val="1E293B"/>
                </a:solidFill>
              </a:defRPr>
            </a:pPr>
            <a:r>
              <a:t>• Early stopping: Patience of 4 epochs on validation loss (checkpoint: epoch=03, val_loss=0.2255).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defRPr sz="1100" b="1">
                <a:solidFill>
                  <a:srgbClr val="0F766E"/>
                </a:solidFill>
              </a:defRPr>
            </a:pPr>
            <a:r>
              <a:t>PRESENTER: APPENDIX  ·  T2D GLUCOSE DIGITAL TWIN</a:t>
            </a:r>
          </a:p>
          <a:p>
            <a:pPr>
              <a:spcAft>
                <a:spcPts val="200"/>
              </a:spcAft>
              <a:defRPr sz="2600" b="1">
                <a:solidFill>
                  <a:srgbClr val="123A40"/>
                </a:solidFill>
              </a:defRPr>
            </a:pPr>
            <a:r>
              <a:t>Slide 13: Appendix — Dataset Split Accountability &amp; Denominators</a:t>
            </a:r>
          </a:p>
          <a:p>
            <a:pPr>
              <a:defRPr sz="1300">
                <a:solidFill>
                  <a:srgbClr val="64748B"/>
                </a:solidFill>
              </a:defRPr>
            </a:pPr>
            <a:r>
              <a:t>Technical reference &amp; deep-dive material for jury questions.</a:t>
            </a:r>
          </a:p>
        </p:txBody>
      </p:sp>
      <p:sp>
        <p:nvSpPr>
          <p:cNvPr id="4" name="Rounded Rectangle 3"/>
          <p:cNvSpPr/>
          <p:nvPr/>
        </p:nvSpPr>
        <p:spPr>
          <a:xfrm>
            <a:off x="731520" y="1645920"/>
            <a:ext cx="10728655"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spcAft>
                <a:spcPts val="1200"/>
              </a:spcAft>
              <a:defRPr sz="1300">
                <a:solidFill>
                  <a:srgbClr val="1E293B"/>
                </a:solidFill>
              </a:defRPr>
            </a:pPr>
            <a:r>
              <a:t>• Synthetic Cohort: 293 total (205 train, 44 val, 44 test sealed). Served in app: 249 subjects.</a:t>
            </a:r>
          </a:p>
          <a:p>
            <a:pPr>
              <a:spcAft>
                <a:spcPts val="1200"/>
              </a:spcAft>
              <a:defRPr sz="1300">
                <a:solidFill>
                  <a:srgbClr val="1E293B"/>
                </a:solidFill>
              </a:defRPr>
            </a:pPr>
            <a:r>
              <a:t>• Real Benchmark: 161 nominal patients across CGMacros (45), BIG IDEAs (16), ShanghaiT2DM (100).</a:t>
            </a:r>
          </a:p>
          <a:p>
            <a:pPr>
              <a:spcAft>
                <a:spcPts val="1200"/>
              </a:spcAft>
              <a:defRPr sz="1300">
                <a:solidFill>
                  <a:srgbClr val="1E293B"/>
                </a:solidFill>
              </a:defRPr>
            </a:pPr>
            <a:r>
              <a:t>• ShanghaiT2DM: 15-minute sampling cadence violates ≥70% 5-minute coverage rule -&gt; NOT ESTIMABLE.</a:t>
            </a:r>
          </a:p>
          <a:p>
            <a:pPr>
              <a:spcAft>
                <a:spcPts val="1200"/>
              </a:spcAft>
              <a:defRPr sz="1300">
                <a:solidFill>
                  <a:srgbClr val="1E293B"/>
                </a:solidFill>
              </a:defRPr>
            </a:pPr>
            <a:r>
              <a:t>• Evaluated Real Test Set: Exactly 11 held-out test patients with native 5-minute CGM.</a:t>
            </a:r>
          </a:p>
          <a:p>
            <a:pPr>
              <a:spcAft>
                <a:spcPts val="1200"/>
              </a:spcAft>
              <a:defRPr sz="1300">
                <a:solidFill>
                  <a:srgbClr val="1E293B"/>
                </a:solidFill>
              </a:defRPr>
            </a:pPr>
            <a:r>
              <a:t>• Zero participant-level outcome inspection was performed during development.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defRPr sz="1100" b="1">
                <a:solidFill>
                  <a:srgbClr val="0F766E"/>
                </a:solidFill>
              </a:defRPr>
            </a:pPr>
            <a:r>
              <a:t>PRESENTER: APPENDIX  ·  T2D GLUCOSE DIGITAL TWIN</a:t>
            </a:r>
          </a:p>
          <a:p>
            <a:pPr>
              <a:spcAft>
                <a:spcPts val="200"/>
              </a:spcAft>
              <a:defRPr sz="2600" b="1">
                <a:solidFill>
                  <a:srgbClr val="123A40"/>
                </a:solidFill>
              </a:defRPr>
            </a:pPr>
            <a:r>
              <a:t>Slide 14: Appendix — Metric Definitions &amp; 1-to-1 Alert Matching</a:t>
            </a:r>
          </a:p>
          <a:p>
            <a:pPr>
              <a:defRPr sz="1300">
                <a:solidFill>
                  <a:srgbClr val="64748B"/>
                </a:solidFill>
              </a:defRPr>
            </a:pPr>
            <a:r>
              <a:t>Technical reference &amp; deep-dive material for jury questions.</a:t>
            </a:r>
          </a:p>
        </p:txBody>
      </p:sp>
      <p:sp>
        <p:nvSpPr>
          <p:cNvPr id="4" name="Rounded Rectangle 3"/>
          <p:cNvSpPr/>
          <p:nvPr/>
        </p:nvSpPr>
        <p:spPr>
          <a:xfrm>
            <a:off x="731520" y="1645920"/>
            <a:ext cx="10728655"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spcAft>
                <a:spcPts val="1200"/>
              </a:spcAft>
              <a:defRPr sz="1300">
                <a:solidFill>
                  <a:srgbClr val="1E293B"/>
                </a:solidFill>
              </a:defRPr>
            </a:pPr>
            <a:r>
              <a:t>• Adverse Spike: Crossing ≥180 mg/dL preceded by ≥50 mg/dL rise in 60 min, persisting for ≥15 min.</a:t>
            </a:r>
          </a:p>
          <a:p>
            <a:pPr>
              <a:spcAft>
                <a:spcPts val="1200"/>
              </a:spcAft>
              <a:defRPr sz="1300">
                <a:solidFill>
                  <a:srgbClr val="1E293B"/>
                </a:solidFill>
              </a:defRPr>
            </a:pPr>
            <a:r>
              <a:t>• 1-to-1 Alert Matching: An alert matches at most ONE subsequent spike event (5–120 min ahead).</a:t>
            </a:r>
          </a:p>
          <a:p>
            <a:pPr>
              <a:spcAft>
                <a:spcPts val="1200"/>
              </a:spcAft>
              <a:defRPr sz="1300">
                <a:solidFill>
                  <a:srgbClr val="1E293B"/>
                </a:solidFill>
              </a:defRPr>
            </a:pPr>
            <a:r>
              <a:t>• Refractory Cooldown: 120-minute alert suppression following any triggered alarm.</a:t>
            </a:r>
          </a:p>
          <a:p>
            <a:pPr>
              <a:spcAft>
                <a:spcPts val="1200"/>
              </a:spcAft>
              <a:defRPr sz="1300">
                <a:solidFill>
                  <a:srgbClr val="1E293B"/>
                </a:solidFill>
              </a:defRPr>
            </a:pPr>
            <a:r>
              <a:t>• Sensitivity ≥30m: Spikes caught with an alert at least 30 minutes before crossing 180 mg/dL.</a:t>
            </a:r>
          </a:p>
          <a:p>
            <a:pPr>
              <a:spcAft>
                <a:spcPts val="1200"/>
              </a:spcAft>
              <a:defRPr sz="1300">
                <a:solidFill>
                  <a:srgbClr val="1E293B"/>
                </a:solidFill>
              </a:defRPr>
            </a:pPr>
            <a:r>
              <a:t>• False Alert Budget: Maximum allowable rate is ≤ 1.0 false alert per patient-day.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defRPr sz="1100" b="1">
                <a:solidFill>
                  <a:srgbClr val="0F766E"/>
                </a:solidFill>
              </a:defRPr>
            </a:pPr>
            <a:r>
              <a:t>PRESENTER: APPENDIX  ·  T2D GLUCOSE DIGITAL TWIN</a:t>
            </a:r>
          </a:p>
          <a:p>
            <a:pPr>
              <a:spcAft>
                <a:spcPts val="200"/>
              </a:spcAft>
              <a:defRPr sz="2600" b="1">
                <a:solidFill>
                  <a:srgbClr val="123A40"/>
                </a:solidFill>
              </a:defRPr>
            </a:pPr>
            <a:r>
              <a:t>Slide 15: Appendix — External Checks on Unused Cohorts (Hall &amp; AZT1D)</a:t>
            </a:r>
          </a:p>
          <a:p>
            <a:pPr>
              <a:defRPr sz="1300">
                <a:solidFill>
                  <a:srgbClr val="64748B"/>
                </a:solidFill>
              </a:defRPr>
            </a:pPr>
            <a:r>
              <a:t>Technical reference &amp; deep-dive material for jury questions.</a:t>
            </a:r>
          </a:p>
        </p:txBody>
      </p:sp>
      <p:sp>
        <p:nvSpPr>
          <p:cNvPr id="4" name="Rounded Rectangle 3"/>
          <p:cNvSpPr/>
          <p:nvPr/>
        </p:nvSpPr>
        <p:spPr>
          <a:xfrm>
            <a:off x="731520" y="1645920"/>
            <a:ext cx="10728655"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spcAft>
                <a:spcPts val="1200"/>
              </a:spcAft>
              <a:defRPr sz="1300">
                <a:solidFill>
                  <a:srgbClr val="1E293B"/>
                </a:solidFill>
              </a:defRPr>
            </a:pPr>
            <a:r>
              <a:t>• Hall et al. 2018 (57 participants, 64 spikes): Routine model +7.8% [0.0, +13.2]; NOT CONFIRMED.</a:t>
            </a:r>
          </a:p>
          <a:p>
            <a:pPr>
              <a:spcAft>
                <a:spcPts val="1200"/>
              </a:spcAft>
              <a:defRPr sz="1300">
                <a:solidFill>
                  <a:srgbClr val="1E293B"/>
                </a:solidFill>
              </a:defRPr>
            </a:pPr>
            <a:r>
              <a:t>• Linear trend beat learned models on Hall (32.8% sens at 0.38 FA/day) due to low event frequency.</a:t>
            </a:r>
          </a:p>
          <a:p>
            <a:pPr>
              <a:spcAft>
                <a:spcPts val="1200"/>
              </a:spcAft>
              <a:defRPr sz="1300">
                <a:solidFill>
                  <a:srgbClr val="1E293B"/>
                </a:solidFill>
              </a:defRPr>
            </a:pPr>
            <a:r>
              <a:t>• AZT1D (24 adults with T1D on AID, 2,814 spikes): Learned model 12.5% vs Trend 15.0%; NOT MET.</a:t>
            </a:r>
          </a:p>
          <a:p>
            <a:pPr>
              <a:spcAft>
                <a:spcPts val="1200"/>
              </a:spcAft>
              <a:defRPr sz="1300">
                <a:solidFill>
                  <a:srgbClr val="1E293B"/>
                </a:solidFill>
              </a:defRPr>
            </a:pPr>
            <a:r>
              <a:t>• Risk-Gated Trend (C2): Doubled sensitivity (26.4%) but exceeded false alert budget (1.26/day).</a:t>
            </a:r>
          </a:p>
          <a:p>
            <a:pPr>
              <a:spcAft>
                <a:spcPts val="1200"/>
              </a:spcAft>
              <a:defRPr sz="1300">
                <a:solidFill>
                  <a:srgbClr val="1E293B"/>
                </a:solidFill>
              </a:defRPr>
            </a:pPr>
            <a:r>
              <a:t>• Core Takeaway: Probability calibration collapses across populations without adaptive operating points.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defRPr sz="1100" b="1">
                <a:solidFill>
                  <a:srgbClr val="0F766E"/>
                </a:solidFill>
              </a:defRPr>
            </a:pPr>
            <a:r>
              <a:t>PRESENTER: APPENDIX  ·  T2D GLUCOSE DIGITAL TWIN</a:t>
            </a:r>
          </a:p>
          <a:p>
            <a:pPr>
              <a:spcAft>
                <a:spcPts val="200"/>
              </a:spcAft>
              <a:defRPr sz="2600" b="1">
                <a:solidFill>
                  <a:srgbClr val="123A40"/>
                </a:solidFill>
              </a:defRPr>
            </a:pPr>
            <a:r>
              <a:t>Slide 16: Appendix — Sealed Partition Firewall Verification</a:t>
            </a:r>
          </a:p>
          <a:p>
            <a:pPr>
              <a:defRPr sz="1300">
                <a:solidFill>
                  <a:srgbClr val="64748B"/>
                </a:solidFill>
              </a:defRPr>
            </a:pPr>
            <a:r>
              <a:t>Technical reference &amp; deep-dive material for jury questions.</a:t>
            </a:r>
          </a:p>
        </p:txBody>
      </p:sp>
      <p:sp>
        <p:nvSpPr>
          <p:cNvPr id="4" name="Rounded Rectangle 3"/>
          <p:cNvSpPr/>
          <p:nvPr/>
        </p:nvSpPr>
        <p:spPr>
          <a:xfrm>
            <a:off x="731520" y="1645920"/>
            <a:ext cx="10728655"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spcAft>
                <a:spcPts val="1200"/>
              </a:spcAft>
              <a:defRPr sz="1300">
                <a:solidFill>
                  <a:srgbClr val="1E293B"/>
                </a:solidFill>
              </a:defRPr>
            </a:pPr>
            <a:r>
              <a:t>• Code Location: backend/serve_pr_tft.py line 79 (SEALED_SPLITS = frozenset({'test'})).</a:t>
            </a:r>
          </a:p>
          <a:p>
            <a:pPr>
              <a:spcAft>
                <a:spcPts val="1200"/>
              </a:spcAft>
              <a:defRPr sz="1300">
                <a:solidFill>
                  <a:srgbClr val="1E293B"/>
                </a:solidFill>
              </a:defRPr>
            </a:pPr>
            <a:r>
              <a:t>• Rejection Behavior: Querying any test-split subject UUID or patient ID raises HTTP 404.</a:t>
            </a:r>
          </a:p>
          <a:p>
            <a:pPr>
              <a:spcAft>
                <a:spcPts val="1200"/>
              </a:spcAft>
              <a:defRPr sz="1300">
                <a:solidFill>
                  <a:srgbClr val="1E293B"/>
                </a:solidFill>
              </a:defRPr>
            </a:pPr>
            <a:r>
              <a:t>• Subject Directory: GET /v1/subjects filters out all test IDs at the database iterator level.</a:t>
            </a:r>
          </a:p>
          <a:p>
            <a:pPr>
              <a:spcAft>
                <a:spcPts val="1200"/>
              </a:spcAft>
              <a:defRPr sz="1300">
                <a:solidFill>
                  <a:srgbClr val="1E293B"/>
                </a:solidFill>
              </a:defRPr>
            </a:pPr>
            <a:r>
              <a:t>• Offline Isolation: Real patient files (data/real/) are excluded from Git and Docker images.</a:t>
            </a:r>
          </a:p>
          <a:p>
            <a:pPr>
              <a:spcAft>
                <a:spcPts val="1200"/>
              </a:spcAft>
              <a:defRPr sz="1300">
                <a:solidFill>
                  <a:srgbClr val="1E293B"/>
                </a:solidFill>
              </a:defRPr>
            </a:pPr>
            <a:r>
              <a:t>• No Lookahead Leakage: Timeline scrubbing strictly hides readings after the anchor timestamp.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defRPr sz="1100" b="1">
                <a:solidFill>
                  <a:srgbClr val="0F766E"/>
                </a:solidFill>
              </a:defRPr>
            </a:pPr>
            <a:r>
              <a:t>PRESENTER: APPENDIX  ·  T2D GLUCOSE DIGITAL TWIN</a:t>
            </a:r>
          </a:p>
          <a:p>
            <a:pPr>
              <a:spcAft>
                <a:spcPts val="200"/>
              </a:spcAft>
              <a:defRPr sz="2600" b="1">
                <a:solidFill>
                  <a:srgbClr val="123A40"/>
                </a:solidFill>
              </a:defRPr>
            </a:pPr>
            <a:r>
              <a:t>Slide 17: Appendix — Clinical Safety, Medication Refusal &amp; FHIR R4</a:t>
            </a:r>
          </a:p>
          <a:p>
            <a:pPr>
              <a:defRPr sz="1300">
                <a:solidFill>
                  <a:srgbClr val="64748B"/>
                </a:solidFill>
              </a:defRPr>
            </a:pPr>
            <a:r>
              <a:t>Technical reference &amp; deep-dive material for jury questions.</a:t>
            </a:r>
          </a:p>
        </p:txBody>
      </p:sp>
      <p:sp>
        <p:nvSpPr>
          <p:cNvPr id="4" name="Rounded Rectangle 3"/>
          <p:cNvSpPr/>
          <p:nvPr/>
        </p:nvSpPr>
        <p:spPr>
          <a:xfrm>
            <a:off x="731520" y="1645920"/>
            <a:ext cx="10728655"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spcAft>
                <a:spcPts val="1200"/>
              </a:spcAft>
              <a:defRPr sz="1300">
                <a:solidFill>
                  <a:srgbClr val="1E293B"/>
                </a:solidFill>
              </a:defRPr>
            </a:pPr>
            <a:r>
              <a:t>• Medication Refusal: What-If drug modifications return 422 SCENARIO_UNSUPPORTED.</a:t>
            </a:r>
          </a:p>
          <a:p>
            <a:pPr>
              <a:spcAft>
                <a:spcPts val="1200"/>
              </a:spcAft>
              <a:defRPr sz="1300">
                <a:solidFill>
                  <a:srgbClr val="1E293B"/>
                </a:solidFill>
              </a:defRPr>
            </a:pPr>
            <a:r>
              <a:t>• FHIR R4 Schema: Exported bundles validated against official HL7 JSON schema.</a:t>
            </a:r>
          </a:p>
          <a:p>
            <a:pPr>
              <a:spcAft>
                <a:spcPts val="1200"/>
              </a:spcAft>
              <a:defRPr sz="1300">
                <a:solidFill>
                  <a:srgbClr val="1E293B"/>
                </a:solidFill>
              </a:defRPr>
            </a:pPr>
            <a:r>
              <a:t>• Standard Codings: Interstitial glucose coded as LOINC 99504-3 with UCUM units mg/dL.</a:t>
            </a:r>
          </a:p>
          <a:p>
            <a:pPr>
              <a:spcAft>
                <a:spcPts val="1200"/>
              </a:spcAft>
              <a:defRPr sz="1300">
                <a:solidFill>
                  <a:srgbClr val="1E293B"/>
                </a:solidFill>
              </a:defRPr>
            </a:pPr>
            <a:r>
              <a:t>• HTEST Security Label: Prevents accidental ingestion into real clinical EHR databases.</a:t>
            </a:r>
          </a:p>
          <a:p>
            <a:pPr>
              <a:spcAft>
                <a:spcPts val="1200"/>
              </a:spcAft>
              <a:defRPr sz="1300">
                <a:solidFill>
                  <a:srgbClr val="1E293B"/>
                </a:solidFill>
              </a:defRPr>
            </a:pPr>
            <a:r>
              <a:t>• Bilingual Translation: English and Hindi patient summaries with explicit clinical disclaimer.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defRPr sz="1100" b="1">
                <a:solidFill>
                  <a:srgbClr val="0F766E"/>
                </a:solidFill>
              </a:defRPr>
            </a:pPr>
            <a:r>
              <a:t>PRESENTER: APPENDIX  ·  T2D GLUCOSE DIGITAL TWIN</a:t>
            </a:r>
          </a:p>
          <a:p>
            <a:pPr>
              <a:spcAft>
                <a:spcPts val="200"/>
              </a:spcAft>
              <a:defRPr sz="2600" b="1">
                <a:solidFill>
                  <a:srgbClr val="123A40"/>
                </a:solidFill>
              </a:defRPr>
            </a:pPr>
            <a:r>
              <a:t>Slide 18: Appendix — Unexecuted Protocols &amp; Research Integrity</a:t>
            </a:r>
          </a:p>
          <a:p>
            <a:pPr>
              <a:defRPr sz="1300">
                <a:solidFill>
                  <a:srgbClr val="64748B"/>
                </a:solidFill>
              </a:defRPr>
            </a:pPr>
            <a:r>
              <a:t>Technical reference &amp; deep-dive material for jury questions.</a:t>
            </a:r>
          </a:p>
        </p:txBody>
      </p:sp>
      <p:sp>
        <p:nvSpPr>
          <p:cNvPr id="4" name="Rounded Rectangle 3"/>
          <p:cNvSpPr/>
          <p:nvPr/>
        </p:nvSpPr>
        <p:spPr>
          <a:xfrm>
            <a:off x="731520" y="1645920"/>
            <a:ext cx="10728655"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spcAft>
                <a:spcPts val="1200"/>
              </a:spcAft>
              <a:defRPr sz="1300">
                <a:solidFill>
                  <a:srgbClr val="1E293B"/>
                </a:solidFill>
              </a:defRPr>
            </a:pPr>
            <a:r>
              <a:t>• EW-01 Protocol: Prospective early-warning trial protocol remains unexecuted and excluded from claims.</a:t>
            </a:r>
          </a:p>
          <a:p>
            <a:pPr>
              <a:spcAft>
                <a:spcPts val="1200"/>
              </a:spcAft>
              <a:defRPr sz="1300">
                <a:solidFill>
                  <a:srgbClr val="1E293B"/>
                </a:solidFill>
              </a:defRPr>
            </a:pPr>
            <a:r>
              <a:t>• AI-READI Confirmation: Frozen preregistration on FAIRhub (~944 T2D participants); awaiting data access.</a:t>
            </a:r>
          </a:p>
          <a:p>
            <a:pPr>
              <a:spcAft>
                <a:spcPts val="1200"/>
              </a:spcAft>
              <a:defRPr sz="1300">
                <a:solidFill>
                  <a:srgbClr val="1E293B"/>
                </a:solidFill>
              </a:defRPr>
            </a:pPr>
            <a:r>
              <a:t>• Frozen Harness: aireadi_evaluate.py committed and SHA-256 hashed before receiving data.</a:t>
            </a:r>
          </a:p>
          <a:p>
            <a:pPr>
              <a:spcAft>
                <a:spcPts val="1200"/>
              </a:spcAft>
              <a:defRPr sz="1300">
                <a:solidFill>
                  <a:srgbClr val="1E293B"/>
                </a:solidFill>
              </a:defRPr>
            </a:pPr>
            <a:r>
              <a:t>• No P-Hacking: All evaluations executed in a single authorized run without parameter retuning.</a:t>
            </a:r>
          </a:p>
          <a:p>
            <a:pPr>
              <a:spcAft>
                <a:spcPts val="1200"/>
              </a:spcAft>
              <a:defRPr sz="1300">
                <a:solidFill>
                  <a:srgbClr val="1E293B"/>
                </a:solidFill>
              </a:defRPr>
            </a:pPr>
            <a:r>
              <a:t>• Complete Provenance: Every claim backed by commit SHAs and locked manifest files.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