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Types>
</file>

<file path=_rels/.rels><?xml version='1.0' encoding='UTF-8' standalone='yes'?>
<Relationships xmlns="http://schemas.openxmlformats.org/package/2006/relationships"><Relationship Id="R0fd1807e354447e6" Type="http://schemas.openxmlformats.org/officeDocument/2006/relationships/officeDocument" Target="ppt/presentation.xml"/><Relationship Id="R1c13f40d9df74233" Type="http://schemas.openxmlformats.org/officeDocument/2006/relationships/extended-properties" Target="docProps/app.xml"/><Relationship Id="Rf229d601b0d74578"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43f916c552fa4628"/>
  </p:sldMasterIdLst>
  <p:notesMasterIdLst>
    <p:notesMasterId xmlns:r="http://schemas.openxmlformats.org/officeDocument/2006/relationships" r:id="Ra8b47ba3564e4622"/>
  </p:notesMasterIdLst>
  <p:sldIdLst>
    <p:sldId xmlns:r="http://schemas.openxmlformats.org/officeDocument/2006/relationships" id="256" r:id="R9cdbdde9cff24980"/>
    <p:sldId xmlns:r="http://schemas.openxmlformats.org/officeDocument/2006/relationships" id="257" r:id="R8831a6abaf324034"/>
    <p:sldId xmlns:r="http://schemas.openxmlformats.org/officeDocument/2006/relationships" id="258" r:id="Ra714640a9e744214"/>
    <p:sldId xmlns:r="http://schemas.openxmlformats.org/officeDocument/2006/relationships" id="259" r:id="Rda3ed913122e46f2"/>
    <p:sldId xmlns:r="http://schemas.openxmlformats.org/officeDocument/2006/relationships" id="260" r:id="R79acf91933f14f27"/>
    <p:sldId xmlns:r="http://schemas.openxmlformats.org/officeDocument/2006/relationships" id="261" r:id="Rf5efb30fef1543e7"/>
    <p:sldId xmlns:r="http://schemas.openxmlformats.org/officeDocument/2006/relationships" id="262" r:id="R7ce83b6d5e7143d3"/>
    <p:sldId xmlns:r="http://schemas.openxmlformats.org/officeDocument/2006/relationships" id="263" r:id="R7d1720d0a9a141c8"/>
    <p:sldId xmlns:r="http://schemas.openxmlformats.org/officeDocument/2006/relationships" id="264" r:id="Rf0f3456ae3544c39"/>
    <p:sldId xmlns:r="http://schemas.openxmlformats.org/officeDocument/2006/relationships" id="265" r:id="R00fb91b830604cc5"/>
    <p:sldId xmlns:r="http://schemas.openxmlformats.org/officeDocument/2006/relationships" id="266" r:id="R10deb0f4792647c8"/>
    <p:sldId xmlns:r="http://schemas.openxmlformats.org/officeDocument/2006/relationships" id="267" r:id="R6d4aeb1df2f541fb"/>
    <p:sldId xmlns:r="http://schemas.openxmlformats.org/officeDocument/2006/relationships" id="268" r:id="R14ed15bfdbf64f0c"/>
    <p:sldId xmlns:r="http://schemas.openxmlformats.org/officeDocument/2006/relationships" id="269" r:id="R86458ecc0e524c4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xml version='1.0' encoding='UTF-8' standalone='yes'?>
<Relationships xmlns="http://schemas.openxmlformats.org/package/2006/relationships"><Relationship Id="R00fb91b830604cc5" Type="http://schemas.openxmlformats.org/officeDocument/2006/relationships/slide" Target="slides/slide10.xml"/><Relationship Id="R10deb0f4792647c8" Type="http://schemas.openxmlformats.org/officeDocument/2006/relationships/slide" Target="slides/slide11.xml"/><Relationship Id="R14ed15bfdbf64f0c" Type="http://schemas.openxmlformats.org/officeDocument/2006/relationships/slide" Target="slides/slide13.xml"/><Relationship Id="R14f7ff6c34624cf1" Type="http://schemas.openxmlformats.org/officeDocument/2006/relationships/presProps" Target="presProps.xml"/><Relationship Id="R43f916c552fa4628" Type="http://schemas.openxmlformats.org/officeDocument/2006/relationships/slideMaster" Target="slideMasters/slideMaster1.xml"/><Relationship Id="R6d4aeb1df2f541fb" Type="http://schemas.openxmlformats.org/officeDocument/2006/relationships/slide" Target="slides/slide12.xml"/><Relationship Id="R79acf91933f14f27" Type="http://schemas.openxmlformats.org/officeDocument/2006/relationships/slide" Target="slides/slide5.xml"/><Relationship Id="R7ce83b6d5e7143d3" Type="http://schemas.openxmlformats.org/officeDocument/2006/relationships/slide" Target="slides/slide7.xml"/><Relationship Id="R7d1720d0a9a141c8" Type="http://schemas.openxmlformats.org/officeDocument/2006/relationships/slide" Target="slides/slide8.xml"/><Relationship Id="R822d420edab241cb" Type="http://schemas.openxmlformats.org/officeDocument/2006/relationships/theme" Target="theme/theme1.xml"/><Relationship Id="R86458ecc0e524c42" Type="http://schemas.openxmlformats.org/officeDocument/2006/relationships/slide" Target="slides/slide14.xml"/><Relationship Id="R8831a6abaf324034" Type="http://schemas.openxmlformats.org/officeDocument/2006/relationships/slide" Target="slides/slide2.xml"/><Relationship Id="R9cdbdde9cff24980" Type="http://schemas.openxmlformats.org/officeDocument/2006/relationships/slide" Target="slides/slide1.xml"/><Relationship Id="Ra714640a9e744214" Type="http://schemas.openxmlformats.org/officeDocument/2006/relationships/slide" Target="slides/slide3.xml"/><Relationship Id="Ra8b47ba3564e4622" Type="http://schemas.openxmlformats.org/officeDocument/2006/relationships/notesMaster" Target="notesMasters/notesMaster1.xml"/><Relationship Id="Rd789913d40d44d54" Type="http://schemas.openxmlformats.org/officeDocument/2006/relationships/tableStyles" Target="tableStyles.xml"/><Relationship Id="Rda3ed913122e46f2" Type="http://schemas.openxmlformats.org/officeDocument/2006/relationships/slide" Target="slides/slide4.xml"/><Relationship Id="Rf0f3456ae3544c39" Type="http://schemas.openxmlformats.org/officeDocument/2006/relationships/slide" Target="slides/slide9.xml"/><Relationship Id="Rf5efb30fef1543e7" Type="http://schemas.openxmlformats.org/officeDocument/2006/relationships/slide" Target="slides/slide6.xml"/></Relationships>
</file>

<file path=ppt/notesMasters/_rels/notesMaster1.xml.rels><?xml version='1.0' encoding='UTF-8' standalone='yes'?>
<Relationships xmlns="http://schemas.openxmlformats.org/package/2006/relationships"><Relationship Id="Ra47d6341db9245fa"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98d2946ca80140b6" Type="http://schemas.openxmlformats.org/officeDocument/2006/relationships/notesMaster" Target="../notesMasters/notesMaster1.xml"/><Relationship Id="Rd5869d5551ed43ef"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13b1781b5beb449b" Type="http://schemas.openxmlformats.org/officeDocument/2006/relationships/notesMaster" Target="../notesMasters/notesMaster1.xml"/><Relationship Id="R3db3d7a92dd1494f"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5e7a6d6e473f4aef" Type="http://schemas.openxmlformats.org/officeDocument/2006/relationships/notesMaster" Target="../notesMasters/notesMaster1.xml"/><Relationship Id="R79ed75e14beb442f"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16cba6cfa4b34019" Type="http://schemas.openxmlformats.org/officeDocument/2006/relationships/notesMaster" Target="../notesMasters/notesMaster1.xml"/><Relationship Id="Rc80a2a3373664fd5"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99a922e2fa114f2a" Type="http://schemas.openxmlformats.org/officeDocument/2006/relationships/notesMaster" Target="../notesMasters/notesMaster1.xml"/><Relationship Id="Rdd26a5e398e44e79"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3b7899111570431b" Type="http://schemas.openxmlformats.org/officeDocument/2006/relationships/notesMaster" Target="../notesMasters/notesMaster1.xml"/><Relationship Id="Rf1a4e7e4657e4ea8"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94c38594f4314033" Type="http://schemas.openxmlformats.org/officeDocument/2006/relationships/notesMaster" Target="../notesMasters/notesMaster1.xml"/><Relationship Id="Rb5a7bab1bed04506"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bba593bbe3dd471a" Type="http://schemas.openxmlformats.org/officeDocument/2006/relationships/slide" Target="../slides/slide8.xml"/><Relationship Id="Ree5586db1aaa46b4"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90cca9fdae414dde" Type="http://schemas.openxmlformats.org/officeDocument/2006/relationships/notesMaster" Target="../notesMasters/notesMaster1.xml"/><Relationship Id="Rc106e2a630954d51"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307cac473eb249bb" Type="http://schemas.openxmlformats.org/officeDocument/2006/relationships/slide" Target="../slides/slide10.xml"/><Relationship Id="Rf4fa12d221d640ee"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11175484bb2a43c0" Type="http://schemas.openxmlformats.org/officeDocument/2006/relationships/slide" Target="../slides/slide11.xml"/><Relationship Id="R2998d4d825554479"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88a65520b4514954" Type="http://schemas.openxmlformats.org/officeDocument/2006/relationships/notesMaster" Target="../notesMasters/notesMaster1.xml"/><Relationship Id="Rb5a4897dac3849bc"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388ee30b7d6c4d5f" Type="http://schemas.openxmlformats.org/officeDocument/2006/relationships/notesMaster" Target="../notesMasters/notesMaster1.xml"/><Relationship Id="R5ef13dea1a7f4f39"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1303f3006f604315" Type="http://schemas.openxmlformats.org/officeDocument/2006/relationships/slide" Target="../slides/slide14.xml"/><Relationship Id="R62ad5a7fb2bc4253"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1. Both presenters on camera briefly, then the slide full screen. Do not show a fabricated patient or present this opening as a clinical case.</a:t>
            </a:r>
          </a:p>
          <a:p xmlns:a="http://schemas.openxmlformats.org/drawingml/2006/main"/>
          <a:p xmlns:a="http://schemas.openxmlformats.org/drawingml/2006/main">
            <a:r>
              <a:t>Imagine a researcher looking at a glucose reading. The number is clear. The next two hours are much less clear. Is the trajectory rising? How uncertain is that prediction? And what information would make us stop trusting it?</a:t>
            </a:r>
          </a:p>
          <a:p xmlns:a="http://schemas.openxmlformats.org/drawingml/2006/main"/>
          <a:p xmlns:a="http://schemas.openxmlformats.org/drawingml/2006/main">
            <a:r>
              <a:t>Those questions are the starting point for our T2D Glucose Digital Twin. In this presentation, we will follow synthetic subjects through a forecasting workflow. We will show the context that enters the model, the forecast that reaches the screen, and the evidence behind the result. We will also show where our evidence ends.</a:t>
            </a:r>
          </a:p>
          <a:p xmlns:a="http://schemas.openxmlformats.org/drawingml/2006/main"/>
          <a:p xmlns:a="http://schemas.openxmlformats.org/drawingml/2006/main">
            <a:r>
              <a:t>I am Nikhil VS, from East West Institute of Technology. My teammate is Akshaya R, from BGS College of Engineering and Technology. We use T2D Digital Twin Team as a descriptive name for our project.</a:t>
            </a:r>
          </a:p>
          <a:p xmlns:a="http://schemas.openxmlformats.org/drawingml/2006/main"/>
          <a:p xmlns:a="http://schemas.openxmlformats.org/drawingml/2006/main">
            <a:r>
              <a:t>This is a research prototype using synthetic data. It has no live wearable connection, and we do not present it as a medical device or a treatment recommendation. The story you are about to see is a software demonstration, not a real patient's clinical history. Akshaya will begin with the problem we chose to investigate.</a:t>
            </a:r>
          </a:p>
          <a:p xmlns:a="http://schemas.openxmlformats.org/drawingml/2006/main"/>
          <a:p xmlns:a="http://schemas.openxmlformats.org/drawingml/2006/main">
            <a:r>
              <a:t>SOURCES (repository paths at the submission commit):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2. Point to the three questions one at a time. Leave the final question visible during the handoff.</a:t>
            </a:r>
          </a:p>
          <a:p xmlns:a="http://schemas.openxmlformats.org/drawingml/2006/main"/>
          <a:p xmlns:a="http://schemas.openxmlformats.org/drawingml/2006/main">
            <a:r>
              <a:t>A glucose reading describes a moment. A forecast asks what may happen after that moment. The healthcare use case we chose is Type 2 Diabetes research, where interpreting a trajectory also requires understanding the information available about the person and the quality of their measurements.</a:t>
            </a:r>
          </a:p>
          <a:p xmlns:a="http://schemas.openxmlformats.org/drawingml/2006/main"/>
          <a:p xmlns:a="http://schemas.openxmlformats.org/drawingml/2006/main">
            <a:r>
              <a:t>Our prototype asks whether a physiological prior and a learned forecasting model can present that future in a form a researcher can inspect. The intended interaction is straightforward: select a subject, examine the current reading, look at the predicted trajectory, then ask how much confidence the surrounding evidence supports.</a:t>
            </a:r>
          </a:p>
          <a:p xmlns:a="http://schemas.openxmlformats.org/drawingml/2006/main"/>
          <a:p xmlns:a="http://schemas.openxmlformats.org/drawingml/2006/main">
            <a:r>
              <a:t>The interface should help someone distinguish a high predicted risk from a reliable input stream. Those are different questions. A low risk estimate does not prove that a person is safe. A fresh-looking screen does not prove that the model has recent data.</a:t>
            </a:r>
          </a:p>
          <a:p xmlns:a="http://schemas.openxmlformats.org/drawingml/2006/main"/>
          <a:p xmlns:a="http://schemas.openxmlformats.org/drawingml/2006/main">
            <a:r>
              <a:t>So our design makes the timestamp, model mode and input quality visible beside the result. We are not claiming that this workflow improves clinical outcomes or gives a guaranteed amount of warning. We are presenting a concrete way to examine those questions before any clinical use. To understand the demonstration, we first need to understand who our subject actually is.</a:t>
            </a:r>
          </a:p>
          <a:p xmlns:a="http://schemas.openxmlformats.org/drawingml/2006/main"/>
          <a:p xmlns:a="http://schemas.openxmlformats.org/drawingml/2006/main">
            <a:r>
              <a:t>SOURCES (repository paths at the submission commit): src/components/digital-twin/PatientWorkspace.tsx;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3. Explain the cohort counts without opening any held-out files. The demonstration uses training-split subjects only; never select a test-split subject.</a:t>
            </a:r>
          </a:p>
          <a:p xmlns:a="http://schemas.openxmlformats.org/drawingml/2006/main"/>
          <a:p xmlns:a="http://schemas.openxmlformats.org/drawingml/2006/main">
            <a:r>
              <a:t>Our subjects come from the existing synthetic cohort shipped with the project. There is no real patient behind any identifier we use. The served run records 293 active synthetic subjects. Its manifest records a split of 205 training subjects, 44 validation subjects and 44 test subjects.</a:t>
            </a:r>
          </a:p>
          <a:p xmlns:a="http://schemas.openxmlformats.org/drawingml/2006/main"/>
          <a:p xmlns:a="http://schemas.openxmlformats.org/drawingml/2006/main">
            <a:r>
              <a:t>For this demonstration we use synthetic subjects from the training partition only. The screenshots in this deck show P0001 and P0095, both training-split subjects in the run's split file. That keeps the demonstration separate from held-out evaluation. We are replaying existing data, not collecting new data or generating a new cohort.</a:t>
            </a:r>
          </a:p>
          <a:p xmlns:a="http://schemas.openxmlformats.org/drawingml/2006/main"/>
          <a:p xmlns:a="http://schemas.openxmlformats.org/drawingml/2006/main">
            <a:r>
              <a:t>The model receives glucose history and structured context. The dashboard can display fields such as age, HbA1c and medication classes when the response includes them. These are synthetic attributes. A medication class is descriptive context, not a prescription. A model estimate of physiological state is not a measured laboratory result.</a:t>
            </a:r>
          </a:p>
          <a:p xmlns:a="http://schemas.openxmlformats.org/drawingml/2006/main"/>
          <a:p xmlns:a="http://schemas.openxmlformats.org/drawingml/2006/main">
            <a:r>
              <a:t>Replay also changes the meaning of time on screen. The browser can receive an update every few seconds while the displayed synthetic timestamp advances by five minutes. We read that recorded timestamp rather than confuse it with the clock on our computer. Nikhil will now show how those inputs reach the workspace.</a:t>
            </a:r>
          </a:p>
          <a:p xmlns:a="http://schemas.openxmlformats.org/drawingml/2006/main"/>
          <a:p xmlns:a="http://schemas.openxmlformats.org/drawingml/2006/main">
            <a:r>
              <a:t>SOURCES (repository paths at the submission commit): runs/pr_tft_ablation_arm_d/run_manifest.json; runs/pr_tft_ablation_arm_d/split.json; backend/serve_pr_tft.py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4. Read the five numbered stages from top to bottom. This is the architecture slide, not a running terminal. No commands or credentials on screen.</a:t>
            </a:r>
          </a:p>
          <a:p xmlns:a="http://schemas.openxmlformats.org/drawingml/2006/main"/>
          <a:p xmlns:a="http://schemas.openxmlformats.org/drawingml/2006/main">
            <a:r>
              <a:t>There are five stages in this path. First, the existing synthetic records provide the observable input history and context. Second, the physiological twin produces a prior trajectory. Third, the PR-TFT model produces forecasts and risk estimates using its learned representation. Fourth, the FastAPI service packages those outputs into the versioned response contract. Finally, the Next.js application validates and presents the response.</a:t>
            </a:r>
          </a:p>
          <a:p xmlns:a="http://schemas.openxmlformats.org/drawingml/2006/main"/>
          <a:p xmlns:a="http://schemas.openxmlformats.org/drawingml/2006/main">
            <a:r>
              <a:t>The implementation uses Python, PyTorch and Lightning for the model workflow, with FastAPI for serving. The interface uses Next.js 16, React and TypeScript, with D3 for the visualizations. Zod validation checks responses in the web application.</a:t>
            </a:r>
          </a:p>
          <a:p xmlns:a="http://schemas.openxmlformats.org/drawingml/2006/main"/>
          <a:p xmlns:a="http://schemas.openxmlformats.org/drawingml/2006/main">
            <a:r>
              <a:t>That separation matters when interpreting a demonstration. A screenshot proves that a screen existed. A connected recording can show that a particular input reached the serving path and produced an observable update. Neither of those observations, on its own, reproduces training or establishes clinical effectiveness.</a:t>
            </a:r>
          </a:p>
          <a:p xmlns:a="http://schemas.openxmlformats.org/drawingml/2006/main"/>
          <a:p xmlns:a="http://schemas.openxmlformats.org/drawingml/2006/main">
            <a:r>
              <a:t>The served model version is pinned by the run manifest listed in these notes. We keep the checkpoint and its manifest together rather than replacing artifacts to make a demo look successful. The next question is why the model combines a physiological component with a learned one.</a:t>
            </a:r>
          </a:p>
          <a:p xmlns:a="http://schemas.openxmlformats.org/drawingml/2006/main"/>
          <a:p xmlns:a="http://schemas.openxmlformats.org/drawingml/2006/main">
            <a:r>
              <a:t>SOURCES (repository paths at the submission commit): backend/serve_pr_tft.py; package.json; src/hooks/useRealtimeTelemetry.ts; runs/pr_tft_ablation_arm_d/run_manifest.json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5. Point to the two model descriptions, then the checkpoint statement. Avoid saying the twin is a validated replica of a real person.</a:t>
            </a:r>
          </a:p>
          <a:p xmlns:a="http://schemas.openxmlformats.org/drawingml/2006/main"/>
          <a:p xmlns:a="http://schemas.openxmlformats.org/drawingml/2006/main">
            <a:r>
              <a:t>The physiological component represents a simplified glucose process. In the served configuration, the project uses a UKF twin prior in S3 mode. The learned component is a physiology-regularized Temporal Fusion Transformer, which we call PR-TFT.</a:t>
            </a:r>
          </a:p>
          <a:p xmlns:a="http://schemas.openxmlformats.org/drawingml/2006/main"/>
          <a:p xmlns:a="http://schemas.openxmlformats.org/drawingml/2006/main">
            <a:r>
              <a:t>The motivation is to combine a structured model of the process with patterns learned from the available histories. That motivation should not be confused with a proof that physiology makes every prediction correct. Both components have assumptions, and the synthetic data limit what we can conclude about their behavior in real people.</a:t>
            </a:r>
          </a:p>
          <a:p xmlns:a="http://schemas.openxmlformats.org/drawingml/2006/main"/>
          <a:p xmlns:a="http://schemas.openxmlformats.org/drawingml/2006/main">
            <a:r>
              <a:t>At serving time, the software loads the existing checkpoint, configuration, normalization and calibration artifacts. It also uses the canonical state artifacts associated with the run. Hashes let us check whether we are discussing the same files. They do not establish that the experiment has been independently repeated.</a:t>
            </a:r>
          </a:p>
          <a:p xmlns:a="http://schemas.openxmlformats.org/drawingml/2006/main"/>
          <a:p xmlns:a="http://schemas.openxmlformats.org/drawingml/2006/main">
            <a:r>
              <a:t>There is another important qualification in the manifest: the training run records a working tree with uncommitted changes. We keep that provenance visible instead of describing the training run as a perfectly clean reproduction. For the viewer, the practical output of this model is a trajectory with uncertainty and a separate estimate of spike-onset risk. Let us look at how to read those outputs.</a:t>
            </a:r>
          </a:p>
          <a:p xmlns:a="http://schemas.openxmlformats.org/drawingml/2006/main"/>
          <a:p xmlns:a="http://schemas.openxmlformats.org/drawingml/2006/main">
            <a:r>
              <a:t>SOURCES (repository paths at the submission commit): backend/serve_pr_tft.py; runs/pr_tft_ablation_arm_d/run_manifest.json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6. The screenshot is a recorded repository image of synthetic subject P0001 (training split). Point at the anchor and interval rather than reading values as results.</a:t>
            </a:r>
          </a:p>
          <a:p xmlns:a="http://schemas.openxmlformats.org/drawingml/2006/main"/>
          <a:p xmlns:a="http://schemas.openxmlformats.org/drawingml/2006/main">
            <a:r>
              <a:t>The forecast covers the next 120 minutes at five-minute steps. The median is one summary of the predicted trajectory. The surrounding quantiles describe uncertainty under the model's assumptions. The 80 percent interval uses the tenth and ninetieth percentiles, with a conformal adjustment fitted on validation patients.</a:t>
            </a:r>
          </a:p>
          <a:p xmlns:a="http://schemas.openxmlformats.org/drawingml/2006/main"/>
          <a:p xmlns:a="http://schemas.openxmlformats.org/drawingml/2006/main">
            <a:r>
              <a:t>An interval is not a promise that a future reading must stay inside it. Its recorded 80 percent coverage was measured on the same validation patients used to fit that adjustment, so it is an in-sample diagnostic. It is not an individual guarantee and does not automatically transfer to a new population.</a:t>
            </a:r>
          </a:p>
          <a:p xmlns:a="http://schemas.openxmlformats.org/drawingml/2006/main"/>
          <a:p xmlns:a="http://schemas.openxmlformats.org/drawingml/2006/main">
            <a:r>
              <a:t>The risk panel answers a related but distinct question: what is the model's estimated probability of a spike onset within the next two hours? Alert presentation follows a served policy. We should not infer clinical urgency solely from a color or a threshold.</a:t>
            </a:r>
          </a:p>
          <a:p xmlns:a="http://schemas.openxmlformats.org/drawingml/2006/main"/>
          <a:p xmlns:a="http://schemas.openxmlformats.org/drawingml/2006/main">
            <a:r>
              <a:t>The contribution display is also easy to overread. It decomposes the arithmetic of the model's median forecast near its peak. It does not prove that any displayed component caused a real person's glucose to change.</a:t>
            </a:r>
          </a:p>
          <a:p xmlns:a="http://schemas.openxmlformats.org/drawingml/2006/main"/>
          <a:p xmlns:a="http://schemas.openxmlformats.org/drawingml/2006/main">
            <a:r>
              <a:t>The image on this slide is a recorded repository screenshot, labelled as such. Next, the connected application.</a:t>
            </a:r>
          </a:p>
          <a:p xmlns:a="http://schemas.openxmlformats.org/drawingml/2006/main"/>
          <a:p xmlns:a="http://schemas.openxmlformats.org/drawingml/2006/main">
            <a:r>
              <a:t>SOURCES (repository paths at the submission commit): src/components/digital-twin/ForecastCanvas.tsx; docs/presentation/screens/slide6-reading-forecast.png</a:t>
            </a:r>
          </a:p>
          <a:p xmlns:a="http://schemas.openxmlformats.org/drawingml/2006/main"/>
          <a:p xmlns:a="http://schemas.openxmlformats.org/drawingml/2006/main">
            <a:r>
              <a:t>Screenshots are recorded repository images of synthetic subjects; subject IDs were matched from the on-screen identifier (uuid5 in backend/serve_pr_tft.py) to runs/pr_tft_ablation_arm_d/split.json.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 + Akshaya</a:t>
            </a:r>
          </a:p>
          <a:p xmlns:a="http://schemas.openxmlformats.org/drawingml/2006/main"/>
          <a:p xmlns:a="http://schemas.openxmlformats.org/drawingml/2006/main">
            <a:r>
              <a:t>SCREEN: Switch from slide 7 to the application (http://127.0.0.1:3000/cohort). Select a training-split subject, confirm the Train label, and open its workspace. Read only the values that actually arrive: replay timestamp, current glucose, model mode and data status. Show at least two successive updates, then the interval and risk panels. Do not open test-split subjects. If no valid forecast arrives, say so rather than substituting fixtures.</a:t>
            </a:r>
          </a:p>
          <a:p xmlns:a="http://schemas.openxmlformats.org/drawingml/2006/main"/>
          <a:p xmlns:a="http://schemas.openxmlformats.org/drawingml/2006/main">
            <a:r>
              <a:t>NIKHIL: We are now in the application. This is the synthetic cohort directory. I am selecting a synthetic subject from the training split. Before reading a forecast, I am checking the identity and the synthetic-data label.</a:t>
            </a:r>
          </a:p>
          <a:p xmlns:a="http://schemas.openxmlformats.org/drawingml/2006/main"/>
          <a:p xmlns:a="http://schemas.openxmlformats.org/drawingml/2006/main">
            <a:r>
              <a:t>[Read the actual current glucose, UTC forecast timestamp, model mode and data-quality state. Pause while pointing to each.]</a:t>
            </a:r>
          </a:p>
          <a:p xmlns:a="http://schemas.openxmlformats.org/drawingml/2006/main"/>
          <a:p xmlns:a="http://schemas.openxmlformats.org/drawingml/2006/main">
            <a:r>
              <a:t>AKSHAYA: The clinical context belongs to this synthetic subject. The medication entries describe the recorded input classes. The insulin-sensitivity display explicitly identifies an EHR-derived prior. We should not call it a newly measured physiological property.</a:t>
            </a:r>
          </a:p>
          <a:p xmlns:a="http://schemas.openxmlformats.org/drawingml/2006/main"/>
          <a:p xmlns:a="http://schemas.openxmlformats.org/drawingml/2006/main">
            <a:r>
              <a:t>[Point to the context and prior wording. Allow the next valid update to arrive.]</a:t>
            </a:r>
          </a:p>
          <a:p xmlns:a="http://schemas.openxmlformats.org/drawingml/2006/main"/>
          <a:p xmlns:a="http://schemas.openxmlformats.org/drawingml/2006/main">
            <a:r>
              <a:t>NIKHIL: Now compare the timestamp with the previous one. The displayed trajectory and risk belong to that forecast anchor. We are watching a replay of synthetic observations, not a sensor attached to someone today.</a:t>
            </a:r>
          </a:p>
          <a:p xmlns:a="http://schemas.openxmlformats.org/drawingml/2006/main"/>
          <a:p xmlns:a="http://schemas.openxmlformats.org/drawingml/2006/main">
            <a:r>
              <a:t>[Read the second actual timestamp and risk. If no second update arrives, say: “We have only observed one forecast in this window.”]</a:t>
            </a:r>
          </a:p>
          <a:p xmlns:a="http://schemas.openxmlformats.org/drawingml/2006/main"/>
          <a:p xmlns:a="http://schemas.openxmlformats.org/drawingml/2006/main">
            <a:r>
              <a:t>AKSHAYA: Notice the median and the interval around it. We can inspect the model's estimate and its uncertainty together. The risk value describes the next two hours from this anchor. It does not tell us to administer a treatment.</a:t>
            </a:r>
          </a:p>
          <a:p xmlns:a="http://schemas.openxmlformats.org/drawingml/2006/main"/>
          <a:p xmlns:a="http://schemas.openxmlformats.org/drawingml/2006/main">
            <a:r>
              <a:t>NIKHIL: This is the behavior we wanted to make inspectable: a named synthetic subject, a timestamped response and visible uncertainty. We will now leave this connected segment and explain how the application handles a fixed point in the replay.</a:t>
            </a:r>
          </a:p>
          <a:p xmlns:a="http://schemas.openxmlformats.org/drawingml/2006/main"/>
          <a:p xmlns:a="http://schemas.openxmlformats.org/drawingml/2006/main">
            <a:r>
              <a:t>SOURCES (repository paths at the submission commit): src/components/digital-twin/PatientWorkspace.tsx; src/app/cohort/page.tsx</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8. Recorded repository screenshot of synthetic subject P0001 (training split) in the pinned state. Interaction: focus the timeline slider and press Space to pin; ArrowLeft steps five minutes within received history; L returns to replay.</a:t>
            </a:r>
          </a:p>
          <a:p xmlns:a="http://schemas.openxmlformats.org/drawingml/2006/main"/>
          <a:p xmlns:a="http://schemas.openxmlformats.org/drawingml/2006/main">
            <a:r>
              <a:t>A moving replay is useful for observing updates, but it can be difficult to discuss a result while the anchor keeps changing. The application includes a pinned view to address that interaction.</a:t>
            </a:r>
          </a:p>
          <a:p xmlns:a="http://schemas.openxmlformats.org/drawingml/2006/main"/>
          <a:p xmlns:a="http://schemas.openxmlformats.org/drawingml/2006/main">
            <a:r>
              <a:t>The timeline uses received history. Focusing the timeline and pressing Space pins the current cursor, and the header identifies the pinned state. Moving left steps through available time, and returning to replay restores the moving view.</a:t>
            </a:r>
          </a:p>
          <a:p xmlns:a="http://schemas.openxmlformats.org/drawingml/2006/main"/>
          <a:p xmlns:a="http://schemas.openxmlformats.org/drawingml/2006/main">
            <a:r>
              <a:t>The image here is the repository's recorded pinned state, with its provenance retained. It is useful for explaining the interaction, but we are not presenting it as an action just performed.</a:t>
            </a:r>
          </a:p>
          <a:p xmlns:a="http://schemas.openxmlformats.org/drawingml/2006/main"/>
          <a:p xmlns:a="http://schemas.openxmlformats.org/drawingml/2006/main">
            <a:r>
              <a:t>Keeping the time fixed is also important for a scenario request. A comparison should refer to the same subject and the same anchor. If the view changes, the application must avoid presenting an old comparison as though it belongs to the new time.</a:t>
            </a:r>
          </a:p>
          <a:p xmlns:a="http://schemas.openxmlformats.org/drawingml/2006/main"/>
          <a:p xmlns:a="http://schemas.openxmlformats.org/drawingml/2006/main">
            <a:r>
              <a:t>That gives us a natural next question in our story: what happens inside the model if we change one permitted input? The answer is an exploratory projection, with important limits.</a:t>
            </a:r>
          </a:p>
          <a:p xmlns:a="http://schemas.openxmlformats.org/drawingml/2006/main"/>
          <a:p xmlns:a="http://schemas.openxmlformats.org/drawingml/2006/main">
            <a:r>
              <a:t>SOURCES (repository paths at the submission commit): src/components/digital-twin/TimeScrubber.tsx; src/components/digital-twin/TimeContext.tsx; docs/presentation/screens/slide8-holding-moment.png</a:t>
            </a:r>
          </a:p>
          <a:p xmlns:a="http://schemas.openxmlformats.org/drawingml/2006/main"/>
          <a:p xmlns:a="http://schemas.openxmlformats.org/drawingml/2006/main">
            <a:r>
              <a:t>Screenshots are recorded repository images of synthetic subjects; subject IDs were matched from the on-screen identifier (uuid5 in backend/serve_pr_tft.py) to runs/pr_tft_ablation_arm_d/split.json.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9. Recorded repository screenshot of a 60 g meal scenario for synthetic subject P0001 (training split). Explain the source-backed controls. Read actual returned values only; never pre-script numeric results.</a:t>
            </a:r>
          </a:p>
          <a:p xmlns:a="http://schemas.openxmlformats.org/drawingml/2006/main"/>
          <a:p xmlns:a="http://schemas.openxmlformats.org/drawingml/2006/main">
            <a:r>
              <a:t>The interface supports meal, activity and skipped-usual-meal scenario inputs. Medication is explicitly not modelled. The request is tied to the subject and the timestamp being viewed, and the web layer validates the response before presenting it.</a:t>
            </a:r>
          </a:p>
          <a:p xmlns:a="http://schemas.openxmlformats.org/drawingml/2006/main"/>
          <a:p xmlns:a="http://schemas.openxmlformats.org/drawingml/2006/main">
            <a:r>
              <a:t>The smallest example is a single meal input at a pinned anchor. We enter the carbohydrate amount, run one request, and compare the returned peak and two-hour risk with the baseline shown at that same time. We read the actual response rather than promise that it must move by a particular amount.</a:t>
            </a:r>
          </a:p>
          <a:p xmlns:a="http://schemas.openxmlformats.org/drawingml/2006/main"/>
          <a:p xmlns:a="http://schemas.openxmlformats.org/drawingml/2006/main">
            <a:r>
              <a:t>The recorded repository image on this slide uses a sixty-gram meal example. It is not a prescription. The interface's own qualification is important: projection under model assumptions, with size not validated.</a:t>
            </a:r>
          </a:p>
          <a:p xmlns:a="http://schemas.openxmlformats.org/drawingml/2006/main"/>
          <a:p xmlns:a="http://schemas.openxmlformats.org/drawingml/2006/main">
            <a:r>
              <a:t>Changing a model input is not equivalent to establishing a causal treatment effect in a person. We cannot use these projections to recommend insulin, meals or exercise for an individual. For this prototype, the value is in making the model's assumptions and comparisons visible. That visibility must extend to failure, as well as to successful responses.</a:t>
            </a:r>
          </a:p>
          <a:p xmlns:a="http://schemas.openxmlformats.org/drawingml/2006/main"/>
          <a:p xmlns:a="http://schemas.openxmlformats.org/drawingml/2006/main">
            <a:r>
              <a:t>SOURCES (repository paths at the submission commit): src/components/digital-twin/ScenarioEditor.tsx; src/hooks/useScenario.ts; src/app/api/forecast/route.ts; docs/presentation/screens/slide9-scenario-projections.png</a:t>
            </a:r>
          </a:p>
          <a:p xmlns:a="http://schemas.openxmlformats.org/drawingml/2006/main"/>
          <a:p xmlns:a="http://schemas.openxmlformats.org/drawingml/2006/main">
            <a:r>
              <a:t>Screenshots are recorded repository images of synthetic subjects; subject IDs were matched from the on-screen identifier (uuid5 in backend/serve_pr_tft.py) to runs/pr_tft_ablation_arm_d/split.json.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10. Recorded repository screenshot of an insufficient-history state for synthetic subject P0095 (training split). Do not break a service, inject data or force a fallback. Mention stale and disconnected as distinct states; do not claim reconnect continuity is proven.</a:t>
            </a:r>
          </a:p>
          <a:p xmlns:a="http://schemas.openxmlformats.org/drawingml/2006/main"/>
          <a:p xmlns:a="http://schemas.openxmlformats.org/drawingml/2006/main">
            <a:r>
              <a:t>A forecasting interface also needs to explain when it cannot provide an answer. Missing history, an unreachable service and an invalid response are different conditions. Showing a smooth curve in all of those cases would hide information the viewer needs.</a:t>
            </a:r>
          </a:p>
          <a:p xmlns:a="http://schemas.openxmlformats.org/drawingml/2006/main"/>
          <a:p xmlns:a="http://schemas.openxmlformats.org/drawingml/2006/main">
            <a:r>
              <a:t>The current source has explicit handling for insufficient data, disconnected or stale transport, and responses that fail contract validation. The screenshot here records an insufficient-history state from the repository. It is not a fresh fault-injection test.</a:t>
            </a:r>
          </a:p>
          <a:p xmlns:a="http://schemas.openxmlformats.org/drawingml/2006/main"/>
          <a:p xmlns:a="http://schemas.openxmlformats.org/drawingml/2006/main">
            <a:r>
              <a:t>There are still engineering boundaries to be honest about. A reconnect mechanism does not by itself prove that every companion alert is delivered or that alert cooldown survives reconnection. A twin-only fallback path does not mean the browser continues inference when the network disappears. We are not claiming those properties have been fully verified in this release.</a:t>
            </a:r>
          </a:p>
          <a:p xmlns:a="http://schemas.openxmlformats.org/drawingml/2006/main"/>
          <a:p xmlns:a="http://schemas.openxmlformats.org/drawingml/2006/main">
            <a:r>
              <a:t>Our practical rule is that a failure state should remain visible and should not be narrated as a successful prediction. We would rather show an unavailable answer than disguise an invalid one. That same approach applies to our scientific evidence: an attractive dashboard cannot turn incomplete validation into established performance.</a:t>
            </a:r>
          </a:p>
          <a:p xmlns:a="http://schemas.openxmlformats.org/drawingml/2006/main"/>
          <a:p xmlns:a="http://schemas.openxmlformats.org/drawingml/2006/main">
            <a:r>
              <a:t>SOURCES (repository paths at the submission commit): src/components/digital-twin/PatientWorkspace.tsx; src/hooks/useRealtimeTelemetry.ts; docs/presentation/screens/slide10-answer-unavailable.png</a:t>
            </a:r>
          </a:p>
          <a:p xmlns:a="http://schemas.openxmlformats.org/drawingml/2006/main"/>
          <a:p xmlns:a="http://schemas.openxmlformats.org/drawingml/2006/main">
            <a:r>
              <a:t>Screenshots are recorded repository images of synthetic subjects; subject IDs were matched from the on-screen identifier (uuid5 in backend/serve_pr_tft.py) to runs/pr_tft_ablation_arm_d/split.json.</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11. Keep the qualifiers visible: synthetic validation split, development evidence, and the in-sample box. Do not open held-out split files or run evaluation.</a:t>
            </a:r>
          </a:p>
          <a:p xmlns:a="http://schemas.openxmlformats.org/drawingml/2006/main"/>
          <a:p xmlns:a="http://schemas.openxmlformats.org/drawingml/2006/main">
            <a:r>
              <a:t>These results come from the synthetic validation split: 44 patients, which were also used for checkpoint selection and calibration. That makes them development evidence, not a held-out test. At sixty minutes the hybrid's root mean squared error is 19.53 milligrams per decilitre, against 23.23 for the physiological twin alone and 36.05 for persistence, on the same patients and anchors. Across horizons the hybrid records 12.36, 19.53 and 25.03 at thirty, sixty and one hundred and twenty minutes.</a:t>
            </a:r>
          </a:p>
          <a:p xmlns:a="http://schemas.openxmlformats.org/drawingml/2006/main"/>
          <a:p xmlns:a="http://schemas.openxmlformats.org/drawingml/2006/main">
            <a:r>
              <a:t>For spike-onset risk, the raw model output has an AUROC of about 0.922. After isotonic calibration it is about 0.923, so calibration barely changes the ranking.</a:t>
            </a:r>
          </a:p>
          <a:p xmlns:a="http://schemas.openxmlformats.org/drawingml/2006/main"/>
          <a:p xmlns:a="http://schemas.openxmlformats.org/drawingml/2006/main">
            <a:r>
              <a:t>The boxed figures are in-sample diagnostics. The conformal interval adjustment and the hazard calibration were fitted and scored on these same validation patients. Coverage of 80.00 percent is therefore expected by construction, with an interval width of 37.30 milligrams per decilitre, and the calibrated Brier score of 0.0703 is likewise in-sample. None of these numbers is independent performance evidence, and none establishes a clinical benefit.</a:t>
            </a:r>
          </a:p>
          <a:p xmlns:a="http://schemas.openxmlformats.org/drawingml/2006/main"/>
          <a:p xmlns:a="http://schemas.openxmlformats.org/drawingml/2006/main">
            <a:r>
              <a:t>We have inspected these saved values; we have not re-run the experiment for this presentation. The next slide shows why the synthetic setting itself limits what they can mean.</a:t>
            </a:r>
          </a:p>
          <a:p xmlns:a="http://schemas.openxmlformats.org/drawingml/2006/main"/>
          <a:p xmlns:a="http://schemas.openxmlformats.org/drawingml/2006/main">
            <a:r>
              <a:t>SOURCES (repository paths at the submission commit): runs/pr_tft_ablation_arm_d/evaluation_report.json (populations.primary.models; calibration_resubstitution_diagnostics, status RESUBSTITUTION_DIAGNOSTIC); runs/pr_tft_ablation_arm_d/run_manifest.json (validation.hazard_raw.auroc 0.922061; validation.hazard_calibrated.auroc 0.922616); docs/submission/CLAIM_EVIDENCE_LEDGER.md (C11)</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a:t>
            </a:r>
          </a:p>
          <a:p xmlns:a="http://schemas.openxmlformats.org/drawingml/2006/main"/>
          <a:p xmlns:a="http://schemas.openxmlformats.org/drawingml/2006/main">
            <a:r>
              <a:t>SCREEN: Slide 12. Hold the FAIL text clearly. The comparator is mock-real, not clinical data. EW-01 is recorded as unexecuted in the claim-evidence ledger (C14); do not claim a new evaluation. Use no clinical efficacy graphic.</a:t>
            </a:r>
          </a:p>
          <a:p xmlns:a="http://schemas.openxmlformats.org/drawingml/2006/main"/>
          <a:p xmlns:a="http://schemas.openxmlformats.org/drawingml/2006/main">
            <a:r>
              <a:t>The synthetic-data validation report records a failure of Gate 3. This check compared the generated data with an independent mock-real comparator. It did not compare our system with a real clinical deployment.</a:t>
            </a:r>
          </a:p>
          <a:p xmlns:a="http://schemas.openxmlformats.org/drawingml/2006/main"/>
          <a:p xmlns:a="http://schemas.openxmlformats.org/drawingml/2006/main">
            <a:r>
              <a:t>The discriminator separated the two sources much more readily than the criterion allowed. The recorded AUROC was about 0.932, against an acceptance target of at most 0.65. That is a limitation of the data-realism evidence, not a result we can hide behind the forecast metrics on the previous slide.</a:t>
            </a:r>
          </a:p>
          <a:p xmlns:a="http://schemas.openxmlformats.org/drawingml/2006/main"/>
          <a:p xmlns:a="http://schemas.openxmlformats.org/drawingml/2006/main">
            <a:r>
              <a:t>The project record also leaves the EW-01 study protocol unexecuted. We have not performed that evaluation in preparing this submission. There is no basis here to claim clinical efficacy, regulatory approval, or reliable transfer to patients outside the synthetic setting.</a:t>
            </a:r>
          </a:p>
          <a:p xmlns:a="http://schemas.openxmlformats.org/drawingml/2006/main"/>
          <a:p xmlns:a="http://schemas.openxmlformats.org/drawingml/2006/main">
            <a:r>
              <a:t>These limitations shape the next research steps: understand the realism gap, independently reproduce the existing results, and complete the frozen AI-READI confirmation once data access is approved. The real-patient and external results on the final slide show how far the evidence currently goes.</a:t>
            </a:r>
          </a:p>
          <a:p xmlns:a="http://schemas.openxmlformats.org/drawingml/2006/main"/>
          <a:p xmlns:a="http://schemas.openxmlformats.org/drawingml/2006/main">
            <a:r>
              <a:t>Returning to our opening question, the model can offer a forecast in this synthetic workflow. The evidence does not yet tell us that acting on it would improve a real person's outcome. That is the boundary we want a reviewer to see clearly.</a:t>
            </a:r>
          </a:p>
          <a:p xmlns:a="http://schemas.openxmlformats.org/drawingml/2006/main"/>
          <a:p xmlns:a="http://schemas.openxmlformats.org/drawingml/2006/main">
            <a:r>
              <a:t>SOURCES (repository paths at the submission commit): backend/synthetic_v2/validation/validation_report.json (GATE 3, check G3.1); docs/submission/CLAIM_EVIDENCE_LEDGER.md (C14); docs/architecture/architecture.html</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Nikhil</a:t>
            </a:r>
          </a:p>
          <a:p xmlns:a="http://schemas.openxmlformats.org/drawingml/2006/main"/>
          <a:p xmlns:a="http://schemas.openxmlformats.org/drawingml/2006/main">
            <a:r>
              <a:t>SCREEN: Slide 13. The screenshot is the Evidence page recorded from an earlier build, before the run's validation report was committed; it shows 'Not yet evaluated' under held-out test evaluation. Point to source and manifest identity. No terminal commands, tokens or private browser tabs.</a:t>
            </a:r>
          </a:p>
          <a:p xmlns:a="http://schemas.openxmlformats.org/drawingml/2006/main"/>
          <a:p xmlns:a="http://schemas.openxmlformats.org/drawingml/2006/main">
            <a:r>
              <a:t>A reviewer should be able to connect the interface to the artifacts behind it. The repository contains the serving code, versioned contracts, model configuration and run manifest. The evidence view exposes provenance for the served run.</a:t>
            </a:r>
          </a:p>
          <a:p xmlns:a="http://schemas.openxmlformats.org/drawingml/2006/main"/>
          <a:p xmlns:a="http://schemas.openxmlformats.org/drawingml/2006/main">
            <a:r>
              <a:t>It also distinguishes validation results from held-out evaluation. The recorded page says the held-out test is not yet evaluated, and that remains true: the synthetic test split is sealed and has not been run. The current release also shows the validation report from slide 11, which is a different artifact and a different claim.</a:t>
            </a:r>
          </a:p>
          <a:p xmlns:a="http://schemas.openxmlformats.org/drawingml/2006/main"/>
          <a:p xmlns:a="http://schemas.openxmlformats.org/drawingml/2006/main">
            <a:r>
              <a:t>The screenshot on this slide comes from an earlier build of the same application. The repository README records the setup, the test commands and the evidence scripts for this release.</a:t>
            </a:r>
          </a:p>
          <a:p xmlns:a="http://schemas.openxmlformats.org/drawingml/2006/main"/>
          <a:p xmlns:a="http://schemas.openxmlformats.org/drawingml/2006/main">
            <a:r>
              <a:t>For an engineering reviewer, the remaining priority areas include fallback quantile ordering, reconnect alert continuity, missing-sample causality and null or insufficient-data responses. Those deserve focused verification. They do not justify changing scientific artifacts to make tests pass.</a:t>
            </a:r>
          </a:p>
          <a:p xmlns:a="http://schemas.openxmlformats.org/drawingml/2006/main"/>
          <a:p xmlns:a="http://schemas.openxmlformats.org/drawingml/2006/main">
            <a:r>
              <a:t>Our submission makes its implementation inspectable and its limitations explicit. Akshaya will close by returning to the question that started the project.</a:t>
            </a:r>
          </a:p>
          <a:p xmlns:a="http://schemas.openxmlformats.org/drawingml/2006/main"/>
          <a:p xmlns:a="http://schemas.openxmlformats.org/drawingml/2006/main">
            <a:r>
              <a:t>SOURCES (repository paths at the submission commit): src/app/evidence/page.tsx; docs/presentation/screens/slide13-reviewer-inspection.png; README.md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PRESENTER Akshaya + Nikhil</a:t>
            </a:r>
          </a:p>
          <a:p xmlns:a="http://schemas.openxmlformats.org/drawingml/2006/main"/>
          <a:p xmlns:a="http://schemas.openxmlformats.org/drawingml/2006/main">
            <a:r>
              <a:t>SCREEN: Slide 14. Both presenters return on camera for the close. Read the four evidence lines as written.</a:t>
            </a:r>
          </a:p>
          <a:p xmlns:a="http://schemas.openxmlformats.org/drawingml/2006/main"/>
          <a:p xmlns:a="http://schemas.openxmlformats.org/drawingml/2006/main">
            <a:r>
              <a:t>AKSHAYA: We began with a glucose reading and a question about the next two hours. Our prototype gives that question an inspectable workflow: synthetic context enters a hybrid forecaster, and the interface presents a timestamped trajectory with uncertainty and risk.</a:t>
            </a:r>
          </a:p>
          <a:p xmlns:a="http://schemas.openxmlformats.org/drawingml/2006/main"/>
          <a:p xmlns:a="http://schemas.openxmlformats.org/drawingml/2006/main">
            <a:r>
              <a:t>The evidence has clear limits. On the locked real-patient test, the model warned of only 6.9 percent of spikes at least thirty minutes ahead. That is the full-test point estimate, with a 95 percent interval from 0.0 to 13.9; the bootstrap mean is 6.0 percent. Two preregistered external checks, Hall 2018 and AZT1D, did not confirm the prespecified early-warning improvement. Candidate C2 is exploratory: plus 4.5 points, with an interval from minus 2.5 to plus 12.8 that includes zero. We have not established a treatment benefit.</a:t>
            </a:r>
          </a:p>
          <a:p xmlns:a="http://schemas.openxmlformats.org/drawingml/2006/main"/>
          <a:p xmlns:a="http://schemas.openxmlformats.org/drawingml/2006/main">
            <a:r>
              <a:t>NIKHIL: Our next step is the AI-READI confirmation. Its protocol is frozen, and it will run once, after data access is approved; it has not been run. We would welcome feedback on the forecasting interface, the model assumptions and the validation plan.</a:t>
            </a:r>
          </a:p>
          <a:p xmlns:a="http://schemas.openxmlformats.org/drawingml/2006/main"/>
          <a:p xmlns:a="http://schemas.openxmlformats.org/drawingml/2006/main">
            <a:r>
              <a:t>AKSHAYA: Thank you for considering our T2D Glucose Digital Twin. We hope the demonstration makes both the possibilities and the boundaries clear.</a:t>
            </a:r>
          </a:p>
          <a:p xmlns:a="http://schemas.openxmlformats.org/drawingml/2006/main"/>
          <a:p xmlns:a="http://schemas.openxmlformats.org/drawingml/2006/main">
            <a:r>
              <a:t>SOURCES (repository paths at the submission commit): docs/evidence/real_data/results.json (test_results.event_sensitivity_30m, event_sensitivity_30m_ci95); docs/evidence/real_data/RESULTS.md; docs/submission/LOCKED_RESULTS_RECONCILIATION.md; docs/evidence/external_hall/RESULTS.md; docs/evidence/external_v2/RESULTS.md; docs/evidence/fa_controller/README.md; docs/evidence/aireadi_confirmation/PREREGISTRATION.md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088f5ea1c5e84fd4"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82a7e6d0822f49b8"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74f3a47338cb427b"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00f5a9c70c184a6d"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8cdadda016bd4c08"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48732e48041f49be" Type="http://schemas.openxmlformats.org/officeDocument/2006/relationships/slideMaster" Target="../slideMasters/slideMaster1.xml"/></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817E19F2-4CCD-4D93-951C-5E8C580479BD}"/>
              </a:ext>
            </a:extLst>
          </p:cNvPr>
          <p:cNvSpPr>
            <a:spLocks xmlns:a="http://schemas.openxmlformats.org/drawingml/2006/main" noGrp="1"/>
          </p:cNvSpPr>
          <p:nvPr>
            <p:ph type="title" idx="0"/>
          </p:nvPr>
        </p:nvSpPr>
        <p:spPr>
          <a:xfrm xmlns:a="http://schemas.openxmlformats.org/drawingml/2006/main">
            <a:off x="1219200" y="2590800"/>
            <a:ext cx="9753600" cy="9906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800" b="1">
                <a:solidFill>
                  <a:schemeClr val="tx1"/>
                </a:solidFill>
                <a:latin typeface="+mj-lt"/>
                <a:ea typeface="+mj-lt"/>
                <a:cs typeface="+mj-lt"/>
              </a:defRPr>
            </a:defPPr>
            <a:lvl1pPr marL="0" indent="0" algn="ctr">
              <a:lnSpc>
                <a:spcPct val="110000"/>
              </a:lnSpc>
              <a:spcBef>
                <a:spcPts val="0"/>
              </a:spcBef>
              <a:spcAft>
                <a:spcPts val="0"/>
              </a:spcAft>
              <a:buNone/>
              <a:defRPr sz="4800" b="1">
                <a:solidFill>
                  <a:schemeClr val="tx1"/>
                </a:solidFill>
                <a:latin typeface="+mj-lt"/>
                <a:ea typeface="+mj-lt"/>
                <a:cs typeface="+mj-lt"/>
              </a:defRPr>
            </a:lvl1pPr>
            <a:lvl2pPr marL="0" indent="0" algn="ctr">
              <a:lnSpc>
                <a:spcPct val="110000"/>
              </a:lnSpc>
              <a:spcBef>
                <a:spcPts val="0"/>
              </a:spcBef>
              <a:spcAft>
                <a:spcPts val="0"/>
              </a:spcAft>
              <a:buNone/>
              <a:defRPr sz="4800" b="1">
                <a:solidFill>
                  <a:schemeClr val="tx1"/>
                </a:solidFill>
                <a:latin typeface="+mj-lt"/>
                <a:ea typeface="+mj-lt"/>
                <a:cs typeface="+mj-lt"/>
              </a:defRPr>
            </a:lvl2pPr>
            <a:lvl3pPr marL="0" indent="0" algn="ctr">
              <a:lnSpc>
                <a:spcPct val="110000"/>
              </a:lnSpc>
              <a:spcBef>
                <a:spcPts val="0"/>
              </a:spcBef>
              <a:spcAft>
                <a:spcPts val="0"/>
              </a:spcAft>
              <a:buNone/>
              <a:defRPr sz="4800" b="1">
                <a:solidFill>
                  <a:schemeClr val="tx1"/>
                </a:solidFill>
                <a:latin typeface="+mj-lt"/>
                <a:ea typeface="+mj-lt"/>
                <a:cs typeface="+mj-lt"/>
              </a:defRPr>
            </a:lvl3pPr>
            <a:lvl4pPr marL="0" indent="0" algn="ctr">
              <a:lnSpc>
                <a:spcPct val="110000"/>
              </a:lnSpc>
              <a:spcBef>
                <a:spcPts val="0"/>
              </a:spcBef>
              <a:spcAft>
                <a:spcPts val="0"/>
              </a:spcAft>
              <a:buNone/>
              <a:defRPr sz="4800" b="1">
                <a:solidFill>
                  <a:schemeClr val="tx1"/>
                </a:solidFill>
                <a:latin typeface="+mj-lt"/>
                <a:ea typeface="+mj-lt"/>
                <a:cs typeface="+mj-lt"/>
              </a:defRPr>
            </a:lvl4pPr>
            <a:lvl5pPr marL="0" indent="0" algn="ctr">
              <a:lnSpc>
                <a:spcPct val="110000"/>
              </a:lnSpc>
              <a:spcBef>
                <a:spcPts val="0"/>
              </a:spcBef>
              <a:spcAft>
                <a:spcPts val="0"/>
              </a:spcAft>
              <a:buNone/>
              <a:defRPr sz="4800" b="1">
                <a:solidFill>
                  <a:schemeClr val="tx1"/>
                </a:solidFill>
                <a:latin typeface="+mj-lt"/>
                <a:ea typeface="+mj-lt"/>
                <a:cs typeface="+mj-lt"/>
              </a:defRPr>
            </a:lvl5pPr>
            <a:lvl6pPr marL="0" indent="0" algn="ctr">
              <a:lnSpc>
                <a:spcPct val="110000"/>
              </a:lnSpc>
              <a:spcBef>
                <a:spcPts val="0"/>
              </a:spcBef>
              <a:spcAft>
                <a:spcPts val="0"/>
              </a:spcAft>
              <a:buNone/>
              <a:defRPr sz="4800" b="1">
                <a:solidFill>
                  <a:schemeClr val="tx1"/>
                </a:solidFill>
                <a:latin typeface="+mj-lt"/>
                <a:ea typeface="+mj-lt"/>
                <a:cs typeface="+mj-lt"/>
              </a:defRPr>
            </a:lvl6pPr>
            <a:lvl7pPr marL="0" indent="0" algn="ctr">
              <a:lnSpc>
                <a:spcPct val="110000"/>
              </a:lnSpc>
              <a:spcBef>
                <a:spcPts val="0"/>
              </a:spcBef>
              <a:spcAft>
                <a:spcPts val="0"/>
              </a:spcAft>
              <a:buNone/>
              <a:defRPr sz="4800" b="1">
                <a:solidFill>
                  <a:schemeClr val="tx1"/>
                </a:solidFill>
                <a:latin typeface="+mj-lt"/>
                <a:ea typeface="+mj-lt"/>
                <a:cs typeface="+mj-lt"/>
              </a:defRPr>
            </a:lvl7pPr>
            <a:lvl8pPr marL="0" indent="0" algn="ctr">
              <a:lnSpc>
                <a:spcPct val="110000"/>
              </a:lnSpc>
              <a:spcBef>
                <a:spcPts val="0"/>
              </a:spcBef>
              <a:spcAft>
                <a:spcPts val="0"/>
              </a:spcAft>
              <a:buNone/>
              <a:defRPr sz="4800" b="1">
                <a:solidFill>
                  <a:schemeClr val="tx1"/>
                </a:solidFill>
                <a:latin typeface="+mj-lt"/>
                <a:ea typeface="+mj-lt"/>
                <a:cs typeface="+mj-lt"/>
              </a:defRPr>
            </a:lvl8pPr>
            <a:lvl9pPr marL="0" indent="0" algn="ctr">
              <a:lnSpc>
                <a:spcPct val="110000"/>
              </a:lnSpc>
              <a:spcBef>
                <a:spcPts val="0"/>
              </a:spcBef>
              <a:spcAft>
                <a:spcPts val="0"/>
              </a:spcAft>
              <a:buNone/>
              <a:defRPr sz="4800" b="1">
                <a:solidFill>
                  <a:schemeClr val="tx1"/>
                </a:solidFill>
                <a:latin typeface="+mj-lt"/>
                <a:ea typeface="+mj-lt"/>
                <a:cs typeface="+mj-lt"/>
              </a:defRPr>
            </a:lvl9pPr>
          </a:lstStyle>
          <a:p xmlns:a="http://schemas.openxmlformats.org/drawingml/2006/main"/>
        </p:txBody>
      </p:sp>
      <p:sp>
        <p:nvSpPr>
          <p:cNvPr id="2" name="Subtitle">
            <a:extLst xmlns:a="http://schemas.openxmlformats.org/drawingml/2006/main">
              <a:ext uri="{FF2B5EF4-FFF2-40B4-BE49-F238E27FC236}">
                <a16:creationId xmlns:a16="http://schemas.microsoft.com/office/drawing/2014/main" id="{C589946C-A8B0-402E-89E4-C645478DB059}"/>
              </a:ext>
            </a:extLst>
          </p:cNvPr>
          <p:cNvSpPr>
            <a:spLocks xmlns:a="http://schemas.openxmlformats.org/drawingml/2006/main" noGrp="1"/>
          </p:cNvSpPr>
          <p:nvPr>
            <p:ph type="subTitle" idx="1"/>
          </p:nvPr>
        </p:nvSpPr>
        <p:spPr>
          <a:xfrm xmlns:a="http://schemas.openxmlformats.org/drawingml/2006/main">
            <a:off x="1828800" y="3771900"/>
            <a:ext cx="8534400" cy="762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2100" b="0">
                <a:solidFill>
                  <a:schemeClr val="tx1"/>
                </a:solidFill>
                <a:latin typeface="+mn-lt"/>
                <a:ea typeface="+mn-lt"/>
                <a:cs typeface="+mn-lt"/>
              </a:defRPr>
            </a:defPPr>
            <a:lvl1pPr marL="0" indent="0" algn="ctr">
              <a:lnSpc>
                <a:spcPct val="110000"/>
              </a:lnSpc>
              <a:spcBef>
                <a:spcPts val="0"/>
              </a:spcBef>
              <a:spcAft>
                <a:spcPts val="0"/>
              </a:spcAft>
              <a:buNone/>
              <a:defRPr sz="2100" b="0">
                <a:solidFill>
                  <a:schemeClr val="tx1"/>
                </a:solidFill>
                <a:latin typeface="+mn-lt"/>
                <a:ea typeface="+mn-lt"/>
                <a:cs typeface="+mn-lt"/>
              </a:defRPr>
            </a:lvl1pPr>
            <a:lvl2pPr marL="0" indent="0" algn="ctr">
              <a:lnSpc>
                <a:spcPct val="110000"/>
              </a:lnSpc>
              <a:spcBef>
                <a:spcPts val="0"/>
              </a:spcBef>
              <a:spcAft>
                <a:spcPts val="0"/>
              </a:spcAft>
              <a:buNone/>
              <a:defRPr sz="2100" b="0">
                <a:solidFill>
                  <a:schemeClr val="tx1"/>
                </a:solidFill>
                <a:latin typeface="+mn-lt"/>
                <a:ea typeface="+mn-lt"/>
                <a:cs typeface="+mn-lt"/>
              </a:defRPr>
            </a:lvl2pPr>
            <a:lvl3pPr marL="0" indent="0" algn="ctr">
              <a:lnSpc>
                <a:spcPct val="110000"/>
              </a:lnSpc>
              <a:spcBef>
                <a:spcPts val="0"/>
              </a:spcBef>
              <a:spcAft>
                <a:spcPts val="0"/>
              </a:spcAft>
              <a:buNone/>
              <a:defRPr sz="2100" b="0">
                <a:solidFill>
                  <a:schemeClr val="tx1"/>
                </a:solidFill>
                <a:latin typeface="+mn-lt"/>
                <a:ea typeface="+mn-lt"/>
                <a:cs typeface="+mn-lt"/>
              </a:defRPr>
            </a:lvl3pPr>
            <a:lvl4pPr marL="0" indent="0" algn="ctr">
              <a:lnSpc>
                <a:spcPct val="110000"/>
              </a:lnSpc>
              <a:spcBef>
                <a:spcPts val="0"/>
              </a:spcBef>
              <a:spcAft>
                <a:spcPts val="0"/>
              </a:spcAft>
              <a:buNone/>
              <a:defRPr sz="2100" b="0">
                <a:solidFill>
                  <a:schemeClr val="tx1"/>
                </a:solidFill>
                <a:latin typeface="+mn-lt"/>
                <a:ea typeface="+mn-lt"/>
                <a:cs typeface="+mn-lt"/>
              </a:defRPr>
            </a:lvl4pPr>
            <a:lvl5pPr marL="0" indent="0" algn="ctr">
              <a:lnSpc>
                <a:spcPct val="110000"/>
              </a:lnSpc>
              <a:spcBef>
                <a:spcPts val="0"/>
              </a:spcBef>
              <a:spcAft>
                <a:spcPts val="0"/>
              </a:spcAft>
              <a:buNone/>
              <a:defRPr sz="2100" b="0">
                <a:solidFill>
                  <a:schemeClr val="tx1"/>
                </a:solidFill>
                <a:latin typeface="+mn-lt"/>
                <a:ea typeface="+mn-lt"/>
                <a:cs typeface="+mn-lt"/>
              </a:defRPr>
            </a:lvl5pPr>
            <a:lvl6pPr marL="0" indent="0" algn="ctr">
              <a:lnSpc>
                <a:spcPct val="110000"/>
              </a:lnSpc>
              <a:spcBef>
                <a:spcPts val="0"/>
              </a:spcBef>
              <a:spcAft>
                <a:spcPts val="0"/>
              </a:spcAft>
              <a:buNone/>
              <a:defRPr sz="2100" b="0">
                <a:solidFill>
                  <a:schemeClr val="tx1"/>
                </a:solidFill>
                <a:latin typeface="+mn-lt"/>
                <a:ea typeface="+mn-lt"/>
                <a:cs typeface="+mn-lt"/>
              </a:defRPr>
            </a:lvl6pPr>
            <a:lvl7pPr marL="0" indent="0" algn="ctr">
              <a:lnSpc>
                <a:spcPct val="110000"/>
              </a:lnSpc>
              <a:spcBef>
                <a:spcPts val="0"/>
              </a:spcBef>
              <a:spcAft>
                <a:spcPts val="0"/>
              </a:spcAft>
              <a:buNone/>
              <a:defRPr sz="2100" b="0">
                <a:solidFill>
                  <a:schemeClr val="tx1"/>
                </a:solidFill>
                <a:latin typeface="+mn-lt"/>
                <a:ea typeface="+mn-lt"/>
                <a:cs typeface="+mn-lt"/>
              </a:defRPr>
            </a:lvl7pPr>
            <a:lvl8pPr marL="0" indent="0" algn="ctr">
              <a:lnSpc>
                <a:spcPct val="110000"/>
              </a:lnSpc>
              <a:spcBef>
                <a:spcPts val="0"/>
              </a:spcBef>
              <a:spcAft>
                <a:spcPts val="0"/>
              </a:spcAft>
              <a:buNone/>
              <a:defRPr sz="2100" b="0">
                <a:solidFill>
                  <a:schemeClr val="tx1"/>
                </a:solidFill>
                <a:latin typeface="+mn-lt"/>
                <a:ea typeface="+mn-lt"/>
                <a:cs typeface="+mn-lt"/>
              </a:defRPr>
            </a:lvl8pPr>
            <a:lvl9pPr marL="0" indent="0" algn="ctr">
              <a:lnSpc>
                <a:spcPct val="110000"/>
              </a:lnSpc>
              <a:spcBef>
                <a:spcPts val="0"/>
              </a:spcBef>
              <a:spcAft>
                <a:spcPts val="0"/>
              </a:spcAft>
              <a:buNone/>
              <a:defRPr sz="2100" b="0">
                <a:solidFill>
                  <a:schemeClr val="tx1"/>
                </a:solidFill>
                <a:latin typeface="+mn-lt"/>
                <a:ea typeface="+mn-lt"/>
                <a:cs typeface="+mn-lt"/>
              </a:defRPr>
            </a:lvl9pPr>
          </a:lstStyle>
          <a:p xmlns:a="http://schemas.openxmlformats.org/drawingml/2006/main"/>
        </p:txBody>
      </p:sp>
    </p:spTree>
  </p:cSld>
</p:sldLayout>
</file>

<file path=ppt/slideLayouts/slideLayout2.xml><?xml version="1.0" encoding="utf-8"?>
<p:sldLayout xmlns:p="http://schemas.openxmlformats.org/presentationml/2006/main">
  <p:cSld name="Section Header">
    <p:spTree>
      <p:nvGrpSpPr>
        <p:cNvPr id="1" name=""/>
        <p:cNvGrpSpPr/>
        <p:nvPr/>
      </p:nvGrpSpPr>
      <p:grpSpPr>
        <a:xfrm xmlns:a="http://schemas.openxmlformats.org/drawingml/2006/main"/>
      </p:grpSpPr>
      <p:sp>
        <p:nvSpPr>
          <p:cNvPr id="2" name="Section title">
            <a:extLst xmlns:a="http://schemas.openxmlformats.org/drawingml/2006/main">
              <a:ext uri="{FF2B5EF4-FFF2-40B4-BE49-F238E27FC236}">
                <a16:creationId xmlns:a16="http://schemas.microsoft.com/office/drawing/2014/main" id="{D0E1BB42-E060-49A0-B5C9-24F7169D3D9E}"/>
              </a:ext>
            </a:extLst>
          </p:cNvPr>
          <p:cNvSpPr>
            <a:spLocks xmlns:a="http://schemas.openxmlformats.org/drawingml/2006/main" noGrp="1"/>
          </p:cNvSpPr>
          <p:nvPr>
            <p:ph type="title" idx="0"/>
          </p:nvPr>
        </p:nvSpPr>
        <p:spPr>
          <a:xfrm xmlns:a="http://schemas.openxmlformats.org/drawingml/2006/main">
            <a:off x="1219200" y="2857500"/>
            <a:ext cx="9753600" cy="11430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ctr">
            <a:normAutofit/>
          </a:bodyPr>
          <a:lstStyle xmlns:a="http://schemas.openxmlformats.org/drawingml/2006/main">
            <a:defPPr algn="ctr">
              <a:defRPr sz="4200" b="1">
                <a:solidFill>
                  <a:schemeClr val="tx1"/>
                </a:solidFill>
                <a:latin typeface="+mj-lt"/>
                <a:ea typeface="+mj-lt"/>
                <a:cs typeface="+mj-lt"/>
              </a:defRPr>
            </a:defPPr>
            <a:lvl1pPr marL="0" indent="0" algn="ctr">
              <a:lnSpc>
                <a:spcPct val="110000"/>
              </a:lnSpc>
              <a:spcBef>
                <a:spcPts val="0"/>
              </a:spcBef>
              <a:spcAft>
                <a:spcPts val="0"/>
              </a:spcAft>
              <a:buNone/>
              <a:defRPr sz="4200" b="1">
                <a:solidFill>
                  <a:schemeClr val="tx1"/>
                </a:solidFill>
                <a:latin typeface="+mj-lt"/>
                <a:ea typeface="+mj-lt"/>
                <a:cs typeface="+mj-lt"/>
              </a:defRPr>
            </a:lvl1pPr>
            <a:lvl2pPr marL="0" indent="0" algn="ctr">
              <a:lnSpc>
                <a:spcPct val="110000"/>
              </a:lnSpc>
              <a:spcBef>
                <a:spcPts val="0"/>
              </a:spcBef>
              <a:spcAft>
                <a:spcPts val="0"/>
              </a:spcAft>
              <a:buNone/>
              <a:defRPr sz="4200" b="1">
                <a:solidFill>
                  <a:schemeClr val="tx1"/>
                </a:solidFill>
                <a:latin typeface="+mj-lt"/>
                <a:ea typeface="+mj-lt"/>
                <a:cs typeface="+mj-lt"/>
              </a:defRPr>
            </a:lvl2pPr>
            <a:lvl3pPr marL="0" indent="0" algn="ctr">
              <a:lnSpc>
                <a:spcPct val="110000"/>
              </a:lnSpc>
              <a:spcBef>
                <a:spcPts val="0"/>
              </a:spcBef>
              <a:spcAft>
                <a:spcPts val="0"/>
              </a:spcAft>
              <a:buNone/>
              <a:defRPr sz="4200" b="1">
                <a:solidFill>
                  <a:schemeClr val="tx1"/>
                </a:solidFill>
                <a:latin typeface="+mj-lt"/>
                <a:ea typeface="+mj-lt"/>
                <a:cs typeface="+mj-lt"/>
              </a:defRPr>
            </a:lvl3pPr>
            <a:lvl4pPr marL="0" indent="0" algn="ctr">
              <a:lnSpc>
                <a:spcPct val="110000"/>
              </a:lnSpc>
              <a:spcBef>
                <a:spcPts val="0"/>
              </a:spcBef>
              <a:spcAft>
                <a:spcPts val="0"/>
              </a:spcAft>
              <a:buNone/>
              <a:defRPr sz="4200" b="1">
                <a:solidFill>
                  <a:schemeClr val="tx1"/>
                </a:solidFill>
                <a:latin typeface="+mj-lt"/>
                <a:ea typeface="+mj-lt"/>
                <a:cs typeface="+mj-lt"/>
              </a:defRPr>
            </a:lvl4pPr>
            <a:lvl5pPr marL="0" indent="0" algn="ctr">
              <a:lnSpc>
                <a:spcPct val="110000"/>
              </a:lnSpc>
              <a:spcBef>
                <a:spcPts val="0"/>
              </a:spcBef>
              <a:spcAft>
                <a:spcPts val="0"/>
              </a:spcAft>
              <a:buNone/>
              <a:defRPr sz="4200" b="1">
                <a:solidFill>
                  <a:schemeClr val="tx1"/>
                </a:solidFill>
                <a:latin typeface="+mj-lt"/>
                <a:ea typeface="+mj-lt"/>
                <a:cs typeface="+mj-lt"/>
              </a:defRPr>
            </a:lvl5pPr>
            <a:lvl6pPr marL="0" indent="0" algn="ctr">
              <a:lnSpc>
                <a:spcPct val="110000"/>
              </a:lnSpc>
              <a:spcBef>
                <a:spcPts val="0"/>
              </a:spcBef>
              <a:spcAft>
                <a:spcPts val="0"/>
              </a:spcAft>
              <a:buNone/>
              <a:defRPr sz="4200" b="1">
                <a:solidFill>
                  <a:schemeClr val="tx1"/>
                </a:solidFill>
                <a:latin typeface="+mj-lt"/>
                <a:ea typeface="+mj-lt"/>
                <a:cs typeface="+mj-lt"/>
              </a:defRPr>
            </a:lvl6pPr>
            <a:lvl7pPr marL="0" indent="0" algn="ctr">
              <a:lnSpc>
                <a:spcPct val="110000"/>
              </a:lnSpc>
              <a:spcBef>
                <a:spcPts val="0"/>
              </a:spcBef>
              <a:spcAft>
                <a:spcPts val="0"/>
              </a:spcAft>
              <a:buNone/>
              <a:defRPr sz="4200" b="1">
                <a:solidFill>
                  <a:schemeClr val="tx1"/>
                </a:solidFill>
                <a:latin typeface="+mj-lt"/>
                <a:ea typeface="+mj-lt"/>
                <a:cs typeface="+mj-lt"/>
              </a:defRPr>
            </a:lvl7pPr>
            <a:lvl8pPr marL="0" indent="0" algn="ctr">
              <a:lnSpc>
                <a:spcPct val="110000"/>
              </a:lnSpc>
              <a:spcBef>
                <a:spcPts val="0"/>
              </a:spcBef>
              <a:spcAft>
                <a:spcPts val="0"/>
              </a:spcAft>
              <a:buNone/>
              <a:defRPr sz="4200" b="1">
                <a:solidFill>
                  <a:schemeClr val="tx1"/>
                </a:solidFill>
                <a:latin typeface="+mj-lt"/>
                <a:ea typeface="+mj-lt"/>
                <a:cs typeface="+mj-lt"/>
              </a:defRPr>
            </a:lvl8pPr>
            <a:lvl9pPr marL="0" indent="0" algn="ctr">
              <a:lnSpc>
                <a:spcPct val="110000"/>
              </a:lnSpc>
              <a:spcBef>
                <a:spcPts val="0"/>
              </a:spcBef>
              <a:spcAft>
                <a:spcPts val="0"/>
              </a:spcAft>
              <a:buNone/>
              <a:defRPr sz="4200" b="1">
                <a:solidFill>
                  <a:schemeClr val="tx1"/>
                </a:solidFill>
                <a:latin typeface="+mj-lt"/>
                <a:ea typeface="+mj-lt"/>
                <a:cs typeface="+mj-lt"/>
              </a:defRPr>
            </a:lvl9pPr>
          </a:lstStyle>
          <a:p xmlns:a="http://schemas.openxmlformats.org/drawingml/2006/main"/>
        </p:txBody>
      </p:sp>
    </p:spTree>
  </p:cSld>
</p:sldLayout>
</file>

<file path=ppt/slideLayouts/slideLayout3.xml><?xml version="1.0" encoding="utf-8"?>
<p:sldLayout xmlns:p="http://schemas.openxmlformats.org/presentationml/2006/main">
  <p:cSld name="Title and Body">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2B8CFBA5-9718-4387-84B6-4EE1E8B9854A}"/>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Body">
            <a:extLst xmlns:a="http://schemas.openxmlformats.org/drawingml/2006/main">
              <a:ext uri="{FF2B5EF4-FFF2-40B4-BE49-F238E27FC236}">
                <a16:creationId xmlns:a16="http://schemas.microsoft.com/office/drawing/2014/main" id="{2F914A3F-6352-4B35-866C-CFEDB736F27B}"/>
              </a:ext>
            </a:extLst>
          </p:cNvPr>
          <p:cNvSpPr>
            <a:spLocks xmlns:a="http://schemas.openxmlformats.org/drawingml/2006/main" noGrp="1"/>
          </p:cNvSpPr>
          <p:nvPr>
            <p:ph type="body" idx="1"/>
          </p:nvPr>
        </p:nvSpPr>
        <p:spPr>
          <a:xfrm xmlns:a="http://schemas.openxmlformats.org/drawingml/2006/main">
            <a:off x="685800" y="1905000"/>
            <a:ext cx="108204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4.xml><?xml version="1.0" encoding="utf-8"?>
<p:sldLayout xmlns:p="http://schemas.openxmlformats.org/presentationml/2006/main">
  <p:cSld name="Title and Two Column">
    <p:spTree>
      <p:nvGrpSpPr>
        <p:cNvPr id="1" name=""/>
        <p:cNvGrpSpPr/>
        <p:nvPr/>
      </p:nvGrpSpPr>
      <p:grpSpPr>
        <a:xfrm xmlns:a="http://schemas.openxmlformats.org/drawingml/2006/main"/>
      </p:grpSpPr>
      <p:sp>
        <p:nvSpPr>
          <p:cNvPr id="4" name="Title">
            <a:extLst xmlns:a="http://schemas.openxmlformats.org/drawingml/2006/main">
              <a:ext uri="{FF2B5EF4-FFF2-40B4-BE49-F238E27FC236}">
                <a16:creationId xmlns:a16="http://schemas.microsoft.com/office/drawing/2014/main" id="{FFEDC0C6-5947-4202-848E-00A28173C6D1}"/>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AB10822D-4567-49BF-B572-2B9E9F10F285}"/>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
        <p:nvSpPr>
          <p:cNvPr id="3" name="Right column">
            <a:extLst xmlns:a="http://schemas.openxmlformats.org/drawingml/2006/main">
              <a:ext uri="{FF2B5EF4-FFF2-40B4-BE49-F238E27FC236}">
                <a16:creationId xmlns:a16="http://schemas.microsoft.com/office/drawing/2014/main" id="{F50D5A78-C8C3-48D7-AA17-A78DCE31DAF1}"/>
              </a:ext>
            </a:extLst>
          </p:cNvPr>
          <p:cNvSpPr>
            <a:spLocks xmlns:a="http://schemas.openxmlformats.org/drawingml/2006/main" noGrp="1"/>
          </p:cNvSpPr>
          <p:nvPr>
            <p:ph type="body" idx="2"/>
          </p:nvPr>
        </p:nvSpPr>
        <p:spPr>
          <a:xfrm xmlns:a="http://schemas.openxmlformats.org/drawingml/2006/main">
            <a:off x="64770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100" b="0">
                <a:solidFill>
                  <a:schemeClr val="tx1"/>
                </a:solidFill>
                <a:latin typeface="+mn-lt"/>
                <a:ea typeface="+mn-lt"/>
                <a:cs typeface="+mn-lt"/>
              </a:defRPr>
            </a:defPPr>
            <a:lvl1pPr marL="228600" indent="-228600" algn="l">
              <a:lnSpc>
                <a:spcPct val="110000"/>
              </a:lnSpc>
              <a:spcBef>
                <a:spcPts val="0"/>
              </a:spcBef>
              <a:spcAft>
                <a:spcPts val="1200"/>
              </a:spcAft>
              <a:buChar char="•"/>
              <a:defRPr sz="2100" b="0">
                <a:solidFill>
                  <a:schemeClr val="tx1"/>
                </a:solidFill>
                <a:latin typeface="+mn-lt"/>
                <a:ea typeface="+mn-lt"/>
                <a:cs typeface="+mn-lt"/>
              </a:defRPr>
            </a:lvl1pPr>
            <a:lvl2pPr marL="533400" indent="-228600" algn="l">
              <a:lnSpc>
                <a:spcPct val="110000"/>
              </a:lnSpc>
              <a:spcBef>
                <a:spcPts val="0"/>
              </a:spcBef>
              <a:spcAft>
                <a:spcPts val="1200"/>
              </a:spcAft>
              <a:buChar char="•"/>
              <a:defRPr sz="2100" b="0">
                <a:solidFill>
                  <a:schemeClr val="tx1"/>
                </a:solidFill>
                <a:latin typeface="+mn-lt"/>
                <a:ea typeface="+mn-lt"/>
                <a:cs typeface="+mn-lt"/>
              </a:defRPr>
            </a:lvl2pPr>
            <a:lvl3pPr marL="838200" indent="-228600" algn="l">
              <a:lnSpc>
                <a:spcPct val="110000"/>
              </a:lnSpc>
              <a:spcBef>
                <a:spcPts val="0"/>
              </a:spcBef>
              <a:spcAft>
                <a:spcPts val="1200"/>
              </a:spcAft>
              <a:buChar char="•"/>
              <a:defRPr sz="2100" b="0">
                <a:solidFill>
                  <a:schemeClr val="tx1"/>
                </a:solidFill>
                <a:latin typeface="+mn-lt"/>
                <a:ea typeface="+mn-lt"/>
                <a:cs typeface="+mn-lt"/>
              </a:defRPr>
            </a:lvl3pPr>
            <a:lvl4pPr marL="1143000" indent="-228600" algn="l">
              <a:lnSpc>
                <a:spcPct val="110000"/>
              </a:lnSpc>
              <a:spcBef>
                <a:spcPts val="0"/>
              </a:spcBef>
              <a:spcAft>
                <a:spcPts val="1200"/>
              </a:spcAft>
              <a:buChar char="•"/>
              <a:defRPr sz="2100" b="0">
                <a:solidFill>
                  <a:schemeClr val="tx1"/>
                </a:solidFill>
                <a:latin typeface="+mn-lt"/>
                <a:ea typeface="+mn-lt"/>
                <a:cs typeface="+mn-lt"/>
              </a:defRPr>
            </a:lvl4pPr>
            <a:lvl5pPr marL="1447800" indent="-228600" algn="l">
              <a:lnSpc>
                <a:spcPct val="110000"/>
              </a:lnSpc>
              <a:spcBef>
                <a:spcPts val="0"/>
              </a:spcBef>
              <a:spcAft>
                <a:spcPts val="1200"/>
              </a:spcAft>
              <a:buChar char="•"/>
              <a:defRPr sz="2100" b="0">
                <a:solidFill>
                  <a:schemeClr val="tx1"/>
                </a:solidFill>
                <a:latin typeface="+mn-lt"/>
                <a:ea typeface="+mn-lt"/>
                <a:cs typeface="+mn-lt"/>
              </a:defRPr>
            </a:lvl5pPr>
            <a:lvl6pPr marL="1752600" indent="-228600" algn="l">
              <a:lnSpc>
                <a:spcPct val="110000"/>
              </a:lnSpc>
              <a:spcBef>
                <a:spcPts val="0"/>
              </a:spcBef>
              <a:spcAft>
                <a:spcPts val="1200"/>
              </a:spcAft>
              <a:buChar char="•"/>
              <a:defRPr sz="2100" b="0">
                <a:solidFill>
                  <a:schemeClr val="tx1"/>
                </a:solidFill>
                <a:latin typeface="+mn-lt"/>
                <a:ea typeface="+mn-lt"/>
                <a:cs typeface="+mn-lt"/>
              </a:defRPr>
            </a:lvl6pPr>
            <a:lvl7pPr marL="2057400" indent="-228600" algn="l">
              <a:lnSpc>
                <a:spcPct val="110000"/>
              </a:lnSpc>
              <a:spcBef>
                <a:spcPts val="0"/>
              </a:spcBef>
              <a:spcAft>
                <a:spcPts val="1200"/>
              </a:spcAft>
              <a:buChar char="•"/>
              <a:defRPr sz="2100" b="0">
                <a:solidFill>
                  <a:schemeClr val="tx1"/>
                </a:solidFill>
                <a:latin typeface="+mn-lt"/>
                <a:ea typeface="+mn-lt"/>
                <a:cs typeface="+mn-lt"/>
              </a:defRPr>
            </a:lvl7pPr>
            <a:lvl8pPr marL="2362200" indent="-228600" algn="l">
              <a:lnSpc>
                <a:spcPct val="110000"/>
              </a:lnSpc>
              <a:spcBef>
                <a:spcPts val="0"/>
              </a:spcBef>
              <a:spcAft>
                <a:spcPts val="1200"/>
              </a:spcAft>
              <a:buChar char="•"/>
              <a:defRPr sz="2100" b="0">
                <a:solidFill>
                  <a:schemeClr val="tx1"/>
                </a:solidFill>
                <a:latin typeface="+mn-lt"/>
                <a:ea typeface="+mn-lt"/>
                <a:cs typeface="+mn-lt"/>
              </a:defRPr>
            </a:lvl8pPr>
            <a:lvl9pPr marL="2667000" indent="-228600" algn="l">
              <a:lnSpc>
                <a:spcPct val="110000"/>
              </a:lnSpc>
              <a:spcBef>
                <a:spcPts val="0"/>
              </a:spcBef>
              <a:spcAft>
                <a:spcPts val="1200"/>
              </a:spcAft>
              <a:buChar char="•"/>
              <a:defRPr sz="2100" b="0">
                <a:solidFill>
                  <a:schemeClr val="tx1"/>
                </a:solidFill>
                <a:latin typeface="+mn-lt"/>
                <a:ea typeface="+mn-lt"/>
                <a:cs typeface="+mn-lt"/>
              </a:defRPr>
            </a:lvl9pPr>
          </a:lstStyle>
          <a:p xmlns:a="http://schemas.openxmlformats.org/drawingml/2006/main"/>
        </p:txBody>
      </p:sp>
    </p:spTree>
  </p:cSld>
</p:sldLayout>
</file>

<file path=ppt/slideLayouts/slideLayout5.xml><?xml version="1.0" encoding="utf-8"?>
<p:sldLayout xmlns:p="http://schemas.openxmlformats.org/presentationml/2006/main">
  <p:cSld name="Title and One Column">
    <p:spTree>
      <p:nvGrpSpPr>
        <p:cNvPr id="1" name=""/>
        <p:cNvGrpSpPr/>
        <p:nvPr/>
      </p:nvGrpSpPr>
      <p:grpSpPr>
        <a:xfrm xmlns:a="http://schemas.openxmlformats.org/drawingml/2006/main"/>
      </p:grpSpPr>
      <p:sp>
        <p:nvSpPr>
          <p:cNvPr id="3" name="Title">
            <a:extLst xmlns:a="http://schemas.openxmlformats.org/drawingml/2006/main">
              <a:ext uri="{FF2B5EF4-FFF2-40B4-BE49-F238E27FC236}">
                <a16:creationId xmlns:a16="http://schemas.microsoft.com/office/drawing/2014/main" id="{E386B6F9-81FE-4703-96BB-3C6145E71194}"/>
              </a:ext>
            </a:extLst>
          </p:cNvPr>
          <p:cNvSpPr>
            <a:spLocks xmlns:a="http://schemas.openxmlformats.org/drawingml/2006/main" noGrp="1"/>
          </p:cNvSpPr>
          <p:nvPr>
            <p:ph type="title" idx="0"/>
          </p:nvPr>
        </p:nvSpPr>
        <p:spPr>
          <a:xfrm xmlns:a="http://schemas.openxmlformats.org/drawingml/2006/main">
            <a:off x="685800" y="533400"/>
            <a:ext cx="10820400" cy="838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3300" b="1">
                <a:solidFill>
                  <a:schemeClr val="tx1"/>
                </a:solidFill>
                <a:latin typeface="+mj-lt"/>
                <a:ea typeface="+mj-lt"/>
                <a:cs typeface="+mj-lt"/>
              </a:defRPr>
            </a:defPPr>
            <a:lvl1pPr marL="0" indent="0" algn="l">
              <a:lnSpc>
                <a:spcPct val="110000"/>
              </a:lnSpc>
              <a:spcBef>
                <a:spcPts val="0"/>
              </a:spcBef>
              <a:spcAft>
                <a:spcPts val="0"/>
              </a:spcAft>
              <a:buNone/>
              <a:defRPr sz="3300" b="1">
                <a:solidFill>
                  <a:schemeClr val="tx1"/>
                </a:solidFill>
                <a:latin typeface="+mj-lt"/>
                <a:ea typeface="+mj-lt"/>
                <a:cs typeface="+mj-lt"/>
              </a:defRPr>
            </a:lvl1pPr>
            <a:lvl2pPr marL="0" indent="0" algn="l">
              <a:lnSpc>
                <a:spcPct val="110000"/>
              </a:lnSpc>
              <a:spcBef>
                <a:spcPts val="0"/>
              </a:spcBef>
              <a:spcAft>
                <a:spcPts val="0"/>
              </a:spcAft>
              <a:buNone/>
              <a:defRPr sz="3300" b="1">
                <a:solidFill>
                  <a:schemeClr val="tx1"/>
                </a:solidFill>
                <a:latin typeface="+mj-lt"/>
                <a:ea typeface="+mj-lt"/>
                <a:cs typeface="+mj-lt"/>
              </a:defRPr>
            </a:lvl2pPr>
            <a:lvl3pPr marL="0" indent="0" algn="l">
              <a:lnSpc>
                <a:spcPct val="110000"/>
              </a:lnSpc>
              <a:spcBef>
                <a:spcPts val="0"/>
              </a:spcBef>
              <a:spcAft>
                <a:spcPts val="0"/>
              </a:spcAft>
              <a:buNone/>
              <a:defRPr sz="3300" b="1">
                <a:solidFill>
                  <a:schemeClr val="tx1"/>
                </a:solidFill>
                <a:latin typeface="+mj-lt"/>
                <a:ea typeface="+mj-lt"/>
                <a:cs typeface="+mj-lt"/>
              </a:defRPr>
            </a:lvl3pPr>
            <a:lvl4pPr marL="0" indent="0" algn="l">
              <a:lnSpc>
                <a:spcPct val="110000"/>
              </a:lnSpc>
              <a:spcBef>
                <a:spcPts val="0"/>
              </a:spcBef>
              <a:spcAft>
                <a:spcPts val="0"/>
              </a:spcAft>
              <a:buNone/>
              <a:defRPr sz="3300" b="1">
                <a:solidFill>
                  <a:schemeClr val="tx1"/>
                </a:solidFill>
                <a:latin typeface="+mj-lt"/>
                <a:ea typeface="+mj-lt"/>
                <a:cs typeface="+mj-lt"/>
              </a:defRPr>
            </a:lvl4pPr>
            <a:lvl5pPr marL="0" indent="0" algn="l">
              <a:lnSpc>
                <a:spcPct val="110000"/>
              </a:lnSpc>
              <a:spcBef>
                <a:spcPts val="0"/>
              </a:spcBef>
              <a:spcAft>
                <a:spcPts val="0"/>
              </a:spcAft>
              <a:buNone/>
              <a:defRPr sz="3300" b="1">
                <a:solidFill>
                  <a:schemeClr val="tx1"/>
                </a:solidFill>
                <a:latin typeface="+mj-lt"/>
                <a:ea typeface="+mj-lt"/>
                <a:cs typeface="+mj-lt"/>
              </a:defRPr>
            </a:lvl5pPr>
            <a:lvl6pPr marL="0" indent="0" algn="l">
              <a:lnSpc>
                <a:spcPct val="110000"/>
              </a:lnSpc>
              <a:spcBef>
                <a:spcPts val="0"/>
              </a:spcBef>
              <a:spcAft>
                <a:spcPts val="0"/>
              </a:spcAft>
              <a:buNone/>
              <a:defRPr sz="3300" b="1">
                <a:solidFill>
                  <a:schemeClr val="tx1"/>
                </a:solidFill>
                <a:latin typeface="+mj-lt"/>
                <a:ea typeface="+mj-lt"/>
                <a:cs typeface="+mj-lt"/>
              </a:defRPr>
            </a:lvl6pPr>
            <a:lvl7pPr marL="0" indent="0" algn="l">
              <a:lnSpc>
                <a:spcPct val="110000"/>
              </a:lnSpc>
              <a:spcBef>
                <a:spcPts val="0"/>
              </a:spcBef>
              <a:spcAft>
                <a:spcPts val="0"/>
              </a:spcAft>
              <a:buNone/>
              <a:defRPr sz="3300" b="1">
                <a:solidFill>
                  <a:schemeClr val="tx1"/>
                </a:solidFill>
                <a:latin typeface="+mj-lt"/>
                <a:ea typeface="+mj-lt"/>
                <a:cs typeface="+mj-lt"/>
              </a:defRPr>
            </a:lvl7pPr>
            <a:lvl8pPr marL="0" indent="0" algn="l">
              <a:lnSpc>
                <a:spcPct val="110000"/>
              </a:lnSpc>
              <a:spcBef>
                <a:spcPts val="0"/>
              </a:spcBef>
              <a:spcAft>
                <a:spcPts val="0"/>
              </a:spcAft>
              <a:buNone/>
              <a:defRPr sz="3300" b="1">
                <a:solidFill>
                  <a:schemeClr val="tx1"/>
                </a:solidFill>
                <a:latin typeface="+mj-lt"/>
                <a:ea typeface="+mj-lt"/>
                <a:cs typeface="+mj-lt"/>
              </a:defRPr>
            </a:lvl8pPr>
            <a:lvl9pPr marL="0" indent="0" algn="l">
              <a:lnSpc>
                <a:spcPct val="110000"/>
              </a:lnSpc>
              <a:spcBef>
                <a:spcPts val="0"/>
              </a:spcBef>
              <a:spcAft>
                <a:spcPts val="0"/>
              </a:spcAft>
              <a:buNone/>
              <a:defRPr sz="3300" b="1">
                <a:solidFill>
                  <a:schemeClr val="tx1"/>
                </a:solidFill>
                <a:latin typeface="+mj-lt"/>
                <a:ea typeface="+mj-lt"/>
                <a:cs typeface="+mj-lt"/>
              </a:defRPr>
            </a:lvl9pPr>
          </a:lstStyle>
          <a:p xmlns:a="http://schemas.openxmlformats.org/drawingml/2006/main"/>
        </p:txBody>
      </p:sp>
      <p:sp>
        <p:nvSpPr>
          <p:cNvPr id="2" name="Left column">
            <a:extLst xmlns:a="http://schemas.openxmlformats.org/drawingml/2006/main">
              <a:ext uri="{FF2B5EF4-FFF2-40B4-BE49-F238E27FC236}">
                <a16:creationId xmlns:a16="http://schemas.microsoft.com/office/drawing/2014/main" id="{24FA4A3B-5AED-4D2F-B1A2-BFED94233C80}"/>
              </a:ext>
            </a:extLst>
          </p:cNvPr>
          <p:cNvSpPr>
            <a:spLocks xmlns:a="http://schemas.openxmlformats.org/drawingml/2006/main" noGrp="1"/>
          </p:cNvSpPr>
          <p:nvPr>
            <p:ph type="body" idx="1"/>
          </p:nvPr>
        </p:nvSpPr>
        <p:spPr>
          <a:xfrm xmlns:a="http://schemas.openxmlformats.org/drawingml/2006/main">
            <a:off x="685800" y="1905000"/>
            <a:ext cx="5029200" cy="4267200"/>
          </a:xfrm>
          <a:prstGeom xmlns:a="http://schemas.openxmlformats.org/drawingml/2006/main" prst="rect">
            <a:avLst/>
          </a:prstGeom>
          <a:noFill xmlns:a="http://schemas.openxmlformats.org/drawingml/2006/main"/>
          <a:ln xmlns:a="http://schemas.openxmlformats.org/drawingml/2006/main">
            <a:noFill/>
            <a:prstDash val="solid"/>
          </a:ln>
        </p:spPr>
        <p:txBody>
          <a:bodyPr xmlns:a="http://schemas.openxmlformats.org/drawingml/2006/main" wrap="square" lIns="0" tIns="0" rIns="0" bIns="0" anchor="t">
            <a:normAutofit/>
          </a:bodyPr>
          <a:lstStyle xmlns:a="http://schemas.openxmlformats.org/drawingml/2006/main">
            <a:defPPr algn="l">
              <a:defRPr sz="2250" b="0">
                <a:solidFill>
                  <a:schemeClr val="tx1"/>
                </a:solidFill>
                <a:latin typeface="+mn-lt"/>
                <a:ea typeface="+mn-lt"/>
                <a:cs typeface="+mn-lt"/>
              </a:defRPr>
            </a:defPPr>
            <a:lvl1pPr marL="228600" indent="-228600" algn="l">
              <a:lnSpc>
                <a:spcPct val="110000"/>
              </a:lnSpc>
              <a:spcBef>
                <a:spcPts val="0"/>
              </a:spcBef>
              <a:spcAft>
                <a:spcPts val="1200"/>
              </a:spcAft>
              <a:buChar char="•"/>
              <a:defRPr sz="2250" b="0">
                <a:solidFill>
                  <a:schemeClr val="tx1"/>
                </a:solidFill>
                <a:latin typeface="+mn-lt"/>
                <a:ea typeface="+mn-lt"/>
                <a:cs typeface="+mn-lt"/>
              </a:defRPr>
            </a:lvl1pPr>
            <a:lvl2pPr marL="533400" indent="-228600" algn="l">
              <a:lnSpc>
                <a:spcPct val="110000"/>
              </a:lnSpc>
              <a:spcBef>
                <a:spcPts val="0"/>
              </a:spcBef>
              <a:spcAft>
                <a:spcPts val="1200"/>
              </a:spcAft>
              <a:buChar char="•"/>
              <a:defRPr sz="2250" b="0">
                <a:solidFill>
                  <a:schemeClr val="tx1"/>
                </a:solidFill>
                <a:latin typeface="+mn-lt"/>
                <a:ea typeface="+mn-lt"/>
                <a:cs typeface="+mn-lt"/>
              </a:defRPr>
            </a:lvl2pPr>
            <a:lvl3pPr marL="838200" indent="-228600" algn="l">
              <a:lnSpc>
                <a:spcPct val="110000"/>
              </a:lnSpc>
              <a:spcBef>
                <a:spcPts val="0"/>
              </a:spcBef>
              <a:spcAft>
                <a:spcPts val="1200"/>
              </a:spcAft>
              <a:buChar char="•"/>
              <a:defRPr sz="2250" b="0">
                <a:solidFill>
                  <a:schemeClr val="tx1"/>
                </a:solidFill>
                <a:latin typeface="+mn-lt"/>
                <a:ea typeface="+mn-lt"/>
                <a:cs typeface="+mn-lt"/>
              </a:defRPr>
            </a:lvl3pPr>
            <a:lvl4pPr marL="1143000" indent="-228600" algn="l">
              <a:lnSpc>
                <a:spcPct val="110000"/>
              </a:lnSpc>
              <a:spcBef>
                <a:spcPts val="0"/>
              </a:spcBef>
              <a:spcAft>
                <a:spcPts val="1200"/>
              </a:spcAft>
              <a:buChar char="•"/>
              <a:defRPr sz="2250" b="0">
                <a:solidFill>
                  <a:schemeClr val="tx1"/>
                </a:solidFill>
                <a:latin typeface="+mn-lt"/>
                <a:ea typeface="+mn-lt"/>
                <a:cs typeface="+mn-lt"/>
              </a:defRPr>
            </a:lvl4pPr>
            <a:lvl5pPr marL="1447800" indent="-228600" algn="l">
              <a:lnSpc>
                <a:spcPct val="110000"/>
              </a:lnSpc>
              <a:spcBef>
                <a:spcPts val="0"/>
              </a:spcBef>
              <a:spcAft>
                <a:spcPts val="1200"/>
              </a:spcAft>
              <a:buChar char="•"/>
              <a:defRPr sz="2250" b="0">
                <a:solidFill>
                  <a:schemeClr val="tx1"/>
                </a:solidFill>
                <a:latin typeface="+mn-lt"/>
                <a:ea typeface="+mn-lt"/>
                <a:cs typeface="+mn-lt"/>
              </a:defRPr>
            </a:lvl5pPr>
            <a:lvl6pPr marL="1752600" indent="-228600" algn="l">
              <a:lnSpc>
                <a:spcPct val="110000"/>
              </a:lnSpc>
              <a:spcBef>
                <a:spcPts val="0"/>
              </a:spcBef>
              <a:spcAft>
                <a:spcPts val="1200"/>
              </a:spcAft>
              <a:buChar char="•"/>
              <a:defRPr sz="2250" b="0">
                <a:solidFill>
                  <a:schemeClr val="tx1"/>
                </a:solidFill>
                <a:latin typeface="+mn-lt"/>
                <a:ea typeface="+mn-lt"/>
                <a:cs typeface="+mn-lt"/>
              </a:defRPr>
            </a:lvl6pPr>
            <a:lvl7pPr marL="2057400" indent="-228600" algn="l">
              <a:lnSpc>
                <a:spcPct val="110000"/>
              </a:lnSpc>
              <a:spcBef>
                <a:spcPts val="0"/>
              </a:spcBef>
              <a:spcAft>
                <a:spcPts val="1200"/>
              </a:spcAft>
              <a:buChar char="•"/>
              <a:defRPr sz="2250" b="0">
                <a:solidFill>
                  <a:schemeClr val="tx1"/>
                </a:solidFill>
                <a:latin typeface="+mn-lt"/>
                <a:ea typeface="+mn-lt"/>
                <a:cs typeface="+mn-lt"/>
              </a:defRPr>
            </a:lvl7pPr>
            <a:lvl8pPr marL="2362200" indent="-228600" algn="l">
              <a:lnSpc>
                <a:spcPct val="110000"/>
              </a:lnSpc>
              <a:spcBef>
                <a:spcPts val="0"/>
              </a:spcBef>
              <a:spcAft>
                <a:spcPts val="1200"/>
              </a:spcAft>
              <a:buChar char="•"/>
              <a:defRPr sz="2250" b="0">
                <a:solidFill>
                  <a:schemeClr val="tx1"/>
                </a:solidFill>
                <a:latin typeface="+mn-lt"/>
                <a:ea typeface="+mn-lt"/>
                <a:cs typeface="+mn-lt"/>
              </a:defRPr>
            </a:lvl8pPr>
            <a:lvl9pPr marL="2667000" indent="-228600" algn="l">
              <a:lnSpc>
                <a:spcPct val="110000"/>
              </a:lnSpc>
              <a:spcBef>
                <a:spcPts val="0"/>
              </a:spcBef>
              <a:spcAft>
                <a:spcPts val="1200"/>
              </a:spcAft>
              <a:buChar char="•"/>
              <a:defRPr sz="2250" b="0">
                <a:solidFill>
                  <a:schemeClr val="tx1"/>
                </a:solidFill>
                <a:latin typeface="+mn-lt"/>
                <a:ea typeface="+mn-lt"/>
                <a:cs typeface="+mn-lt"/>
              </a:defRPr>
            </a:lvl9pPr>
          </a:lstStyle>
          <a:p xmlns:a="http://schemas.openxmlformats.org/drawingml/2006/main"/>
        </p:txBody>
      </p:sp>
    </p:spTree>
  </p:cSld>
</p:sldLayout>
</file>

<file path=ppt/slideLayouts/slideLayout6.xml><?xml version="1.0" encoding="utf-8"?>
<p:sldLayout xmlns:p="http://schemas.openxmlformats.org/presentationml/2006/main" type="blank">
  <p:cSld name="Blank">
    <p:spTree>
      <p:nvGrpSpPr>
        <p:cNvPr id="1" name=""/>
        <p:cNvGrpSpPr/>
        <p:nvPr/>
      </p:nvGrpSpPr>
      <p:grpSpPr>
        <a:xfrm xmlns:a="http://schemas.openxmlformats.org/drawingml/2006/main"/>
      </p:grpSpPr>
    </p:spTree>
  </p:cSld>
</p:sldLayout>
</file>

<file path=ppt/slideMasters/_rels/slideMaster1.xml.rels><?xml version='1.0' encoding='UTF-8' standalone='yes'?>
<Relationships xmlns="http://schemas.openxmlformats.org/package/2006/relationships"><Relationship Id="R4e2b36eda53b45ef" Type="http://schemas.openxmlformats.org/officeDocument/2006/relationships/slideLayout" Target="../slideLayouts/slideLayout3.xml"/><Relationship Id="R9cb63ba2e75b40f1" Type="http://schemas.openxmlformats.org/officeDocument/2006/relationships/theme" Target="theme/theme2.xml"/><Relationship Id="Ra0c61726623a4490" Type="http://schemas.openxmlformats.org/officeDocument/2006/relationships/slideLayout" Target="../slideLayouts/slideLayout5.xml"/><Relationship Id="Rab23f5313dd2408f" Type="http://schemas.openxmlformats.org/officeDocument/2006/relationships/slideLayout" Target="../slideLayouts/slideLayout6.xml"/><Relationship Id="Raffe74ca959c43b2" Type="http://schemas.openxmlformats.org/officeDocument/2006/relationships/slideLayout" Target="../slideLayouts/slideLayout1.xml"/><Relationship Id="Rebfdaef77b4d4610" Type="http://schemas.openxmlformats.org/officeDocument/2006/relationships/slideLayout" Target="../slideLayouts/slideLayout4.xml"/><Relationship Id="Rf873b79b6b4847e7" Type="http://schemas.openxmlformats.org/officeDocument/2006/relationships/slideLayout" Target="../slideLayouts/slideLayout2.xml"/></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affe74ca959c43b2"/>
    <p:sldLayoutId xmlns:r="http://schemas.openxmlformats.org/officeDocument/2006/relationships" id="2147483650" r:id="Rf873b79b6b4847e7"/>
    <p:sldLayoutId xmlns:r="http://schemas.openxmlformats.org/officeDocument/2006/relationships" id="2147483651" r:id="R4e2b36eda53b45ef"/>
    <p:sldLayoutId xmlns:r="http://schemas.openxmlformats.org/officeDocument/2006/relationships" id="2147483652" r:id="Rebfdaef77b4d4610"/>
    <p:sldLayoutId xmlns:r="http://schemas.openxmlformats.org/officeDocument/2006/relationships" id="2147483653" r:id="Ra0c61726623a4490"/>
    <p:sldLayoutId xmlns:r="http://schemas.openxmlformats.org/officeDocument/2006/relationships" id="2147483654" r:id="Rab23f5313dd2408f"/>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168f0a8338f34111" Type="http://schemas.openxmlformats.org/officeDocument/2006/relationships/slideLayout" Target="../slideLayouts/slideLayout6.xml"/><Relationship Id="Rf3515b82ccba409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ae206f491d564b3c" Type="http://schemas.openxmlformats.org/officeDocument/2006/relationships/slideLayout" Target="../slideLayouts/slideLayout6.xml"/><Relationship Id="Rb263e4aeec13400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57c0317d484f43cd" Type="http://schemas.openxmlformats.org/officeDocument/2006/relationships/notesSlide" Target="../notesSlides/notesSlide3.xml"/><Relationship Id="R7fa6bf086a8f40d9"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23c090b4e2eb48f3" Type="http://schemas.openxmlformats.org/officeDocument/2006/relationships/slideLayout" Target="../slideLayouts/slideLayout6.xml"/><Relationship Id="Rada07d5e66a8409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04365b4c4fda49a2" Type="http://schemas.openxmlformats.org/officeDocument/2006/relationships/slideLayout" Target="../slideLayouts/slideLayout6.xml"/><Relationship Id="Rf9abb877b0974ce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2c6e6d4d94b74a7e" Type="http://schemas.openxmlformats.org/officeDocument/2006/relationships/image" Target="../media/image.png"/><Relationship Id="R59dacd9fb33e4a7e" Type="http://schemas.openxmlformats.org/officeDocument/2006/relationships/notesSlide" Target="../notesSlides/notesSlide6.xml"/><Relationship Id="Re89d4031dfb24a75"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8534122b2f2a4ccb" Type="http://schemas.openxmlformats.org/officeDocument/2006/relationships/notesSlide" Target="../notesSlides/notesSlide7.xml"/><Relationship Id="Re5bb9a5e1dc647af"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058237eeb5b1479a" Type="http://schemas.openxmlformats.org/officeDocument/2006/relationships/slideLayout" Target="../slideLayouts/slideLayout6.xml"/><Relationship Id="R1c99c63a70a845b2" Type="http://schemas.openxmlformats.org/officeDocument/2006/relationships/notesSlide" Target="../notesSlides/notesSlide8.xml"/><Relationship Id="Rf851181da4d64104" Type="http://schemas.openxmlformats.org/officeDocument/2006/relationships/image" Target="../media/image2.png"/></Relationships>
</file>

<file path=ppt/slides/_rels/slide9.xml.rels><?xml version='1.0' encoding='UTF-8' standalone='yes'?>
<Relationships xmlns="http://schemas.openxmlformats.org/package/2006/relationships"><Relationship Id="R5de43095c7404f02" Type="http://schemas.openxmlformats.org/officeDocument/2006/relationships/slideLayout" Target="../slideLayouts/slideLayout6.xml"/><Relationship Id="Rb5bfc33040f34bea" Type="http://schemas.openxmlformats.org/officeDocument/2006/relationships/notesSlide" Target="../notesSlides/notesSlide9.xml"/><Relationship Id="Rd2467396149f437b" Type="http://schemas.openxmlformats.org/officeDocument/2006/relationships/image" Target="../media/image3.png"/></Relationships>
</file>

<file path=ppt/slides/_rels/slide10.xml.rels><?xml version='1.0' encoding='UTF-8' standalone='yes'?>
<Relationships xmlns="http://schemas.openxmlformats.org/package/2006/relationships"><Relationship Id="R04f867c2d3f24181" Type="http://schemas.openxmlformats.org/officeDocument/2006/relationships/notesSlide" Target="../notesSlides/notesSlide10.xml"/><Relationship Id="R4e3608c3624e4ef3" Type="http://schemas.openxmlformats.org/officeDocument/2006/relationships/image" Target="../media/image4.png"/><Relationship Id="Rf0065b1c637645f0"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83e4098a9ca643d6" Type="http://schemas.openxmlformats.org/officeDocument/2006/relationships/slideLayout" Target="../slideLayouts/slideLayout6.xml"/><Relationship Id="Rdd673b71f0324bf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0f4db793382a42da" Type="http://schemas.openxmlformats.org/officeDocument/2006/relationships/slideLayout" Target="../slideLayouts/slideLayout6.xml"/><Relationship Id="Rc331bab4d6b64b8e"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0a8abba85c964070" Type="http://schemas.openxmlformats.org/officeDocument/2006/relationships/image" Target="../media/image5.png"/><Relationship Id="R994db660587c43c1" Type="http://schemas.openxmlformats.org/officeDocument/2006/relationships/notesSlide" Target="../notesSlides/notesSlide13.xml"/><Relationship Id="Rd8b800c9f9b942fe"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aeb9b8facb0842b6" Type="http://schemas.openxmlformats.org/officeDocument/2006/relationships/notesSlide" Target="../notesSlides/notesSlide14.xml"/><Relationship Id="Rd561b1d8eddd4168" Type="http://schemas.openxmlformats.org/officeDocument/2006/relationships/slideLayout" Target="../slideLayouts/slideLayout6.xml"/></Relationships>
</file>

<file path=ppt/slides/slide1.xml><?xml version="1.0" encoding="utf-8"?>
<p:sld xmlns:p="http://schemas.openxmlformats.org/presentationml/2006/main">
  <p:cSld>
    <p:bg>
      <p:bgPr>
        <a:solidFill xmlns:a="http://schemas.openxmlformats.org/drawingml/2006/main">
          <a:srgbClr val="123A4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0FBF07D2-F3D7-4788-8AEF-329FB034D2D1}"/>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BD4CA"/>
                </a:solidFill>
                <a:latin typeface="Arial"/>
                <a:ea typeface="Arial"/>
                <a:cs typeface="Arial"/>
              </a:defRPr>
            </a:defPPr>
            <a:lvl1pPr>
              <a:defRPr sz="1350" b="0">
                <a:solidFill>
                  <a:srgbClr val="ABD4CA"/>
                </a:solidFill>
                <a:latin typeface="Arial"/>
                <a:ea typeface="Arial"/>
                <a:cs typeface="Arial"/>
              </a:defRPr>
            </a:lvl1pPr>
            <a:lvl2pPr>
              <a:defRPr sz="1350" b="0">
                <a:solidFill>
                  <a:srgbClr val="ABD4CA"/>
                </a:solidFill>
                <a:latin typeface="Arial"/>
                <a:ea typeface="Arial"/>
                <a:cs typeface="Arial"/>
              </a:defRPr>
            </a:lvl2pPr>
            <a:lvl3pPr>
              <a:defRPr sz="1350" b="0">
                <a:solidFill>
                  <a:srgbClr val="ABD4CA"/>
                </a:solidFill>
                <a:latin typeface="Arial"/>
                <a:ea typeface="Arial"/>
                <a:cs typeface="Arial"/>
              </a:defRPr>
            </a:lvl3pPr>
            <a:lvl4pPr>
              <a:defRPr sz="1350" b="0">
                <a:solidFill>
                  <a:srgbClr val="ABD4CA"/>
                </a:solidFill>
                <a:latin typeface="Arial"/>
                <a:ea typeface="Arial"/>
                <a:cs typeface="Arial"/>
              </a:defRPr>
            </a:lvl4pPr>
            <a:lvl5pPr>
              <a:defRPr sz="1350" b="0">
                <a:solidFill>
                  <a:srgbClr val="ABD4CA"/>
                </a:solidFill>
                <a:latin typeface="Arial"/>
                <a:ea typeface="Arial"/>
                <a:cs typeface="Arial"/>
              </a:defRPr>
            </a:lvl5pPr>
            <a:lvl6pPr>
              <a:defRPr sz="1350" b="0">
                <a:solidFill>
                  <a:srgbClr val="ABD4CA"/>
                </a:solidFill>
                <a:latin typeface="Arial"/>
                <a:ea typeface="Arial"/>
                <a:cs typeface="Arial"/>
              </a:defRPr>
            </a:lvl6pPr>
            <a:lvl7pPr>
              <a:defRPr sz="1350" b="0">
                <a:solidFill>
                  <a:srgbClr val="ABD4CA"/>
                </a:solidFill>
                <a:latin typeface="Arial"/>
                <a:ea typeface="Arial"/>
                <a:cs typeface="Arial"/>
              </a:defRPr>
            </a:lvl7pPr>
            <a:lvl8pPr>
              <a:defRPr sz="1350" b="0">
                <a:solidFill>
                  <a:srgbClr val="ABD4CA"/>
                </a:solidFill>
                <a:latin typeface="Arial"/>
                <a:ea typeface="Arial"/>
                <a:cs typeface="Arial"/>
              </a:defRPr>
            </a:lvl8pPr>
            <a:lvl9pPr>
              <a:defRPr sz="1350" b="0">
                <a:solidFill>
                  <a:srgbClr val="ABD4CA"/>
                </a:solidFill>
                <a:latin typeface="Arial"/>
                <a:ea typeface="Arial"/>
                <a:cs typeface="Arial"/>
              </a:defRPr>
            </a:lvl9pPr>
          </a:lstStyle>
          <a:p xmlns:a="http://schemas.openxmlformats.org/drawingml/2006/main">
            <a:pPr>
              <a:defRPr sz="1350" b="0">
                <a:solidFill>
                  <a:srgbClr val="ABD4CA"/>
                </a:solidFill>
                <a:latin typeface="Arial"/>
                <a:ea typeface="Arial"/>
                <a:cs typeface="Arial"/>
              </a:defRPr>
            </a:pPr>
            <a:r>
              <a:rPr sz="1350" b="0">
                <a:solidFill>
                  <a:srgbClr val="ABD4C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4E449CC5-FAAD-4813-AA01-B4D02C6DBD1B}"/>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4800" b="1">
                <a:solidFill>
                  <a:srgbClr val="F5F3EC"/>
                </a:solidFill>
                <a:latin typeface="Arial"/>
                <a:ea typeface="Arial"/>
                <a:cs typeface="Arial"/>
              </a:defRPr>
            </a:defPPr>
            <a:lvl1pPr>
              <a:defRPr sz="4800" b="1">
                <a:solidFill>
                  <a:srgbClr val="F5F3EC"/>
                </a:solidFill>
                <a:latin typeface="Arial"/>
                <a:ea typeface="Arial"/>
                <a:cs typeface="Arial"/>
              </a:defRPr>
            </a:lvl1pPr>
            <a:lvl2pPr>
              <a:defRPr sz="4800" b="1">
                <a:solidFill>
                  <a:srgbClr val="F5F3EC"/>
                </a:solidFill>
                <a:latin typeface="Arial"/>
                <a:ea typeface="Arial"/>
                <a:cs typeface="Arial"/>
              </a:defRPr>
            </a:lvl2pPr>
            <a:lvl3pPr>
              <a:defRPr sz="4800" b="1">
                <a:solidFill>
                  <a:srgbClr val="F5F3EC"/>
                </a:solidFill>
                <a:latin typeface="Arial"/>
                <a:ea typeface="Arial"/>
                <a:cs typeface="Arial"/>
              </a:defRPr>
            </a:lvl3pPr>
            <a:lvl4pPr>
              <a:defRPr sz="4800" b="1">
                <a:solidFill>
                  <a:srgbClr val="F5F3EC"/>
                </a:solidFill>
                <a:latin typeface="Arial"/>
                <a:ea typeface="Arial"/>
                <a:cs typeface="Arial"/>
              </a:defRPr>
            </a:lvl4pPr>
            <a:lvl5pPr>
              <a:defRPr sz="4800" b="1">
                <a:solidFill>
                  <a:srgbClr val="F5F3EC"/>
                </a:solidFill>
                <a:latin typeface="Arial"/>
                <a:ea typeface="Arial"/>
                <a:cs typeface="Arial"/>
              </a:defRPr>
            </a:lvl5pPr>
            <a:lvl6pPr>
              <a:defRPr sz="4800" b="1">
                <a:solidFill>
                  <a:srgbClr val="F5F3EC"/>
                </a:solidFill>
                <a:latin typeface="Arial"/>
                <a:ea typeface="Arial"/>
                <a:cs typeface="Arial"/>
              </a:defRPr>
            </a:lvl6pPr>
            <a:lvl7pPr>
              <a:defRPr sz="4800" b="1">
                <a:solidFill>
                  <a:srgbClr val="F5F3EC"/>
                </a:solidFill>
                <a:latin typeface="Arial"/>
                <a:ea typeface="Arial"/>
                <a:cs typeface="Arial"/>
              </a:defRPr>
            </a:lvl7pPr>
            <a:lvl8pPr>
              <a:defRPr sz="4800" b="1">
                <a:solidFill>
                  <a:srgbClr val="F5F3EC"/>
                </a:solidFill>
                <a:latin typeface="Arial"/>
                <a:ea typeface="Arial"/>
                <a:cs typeface="Arial"/>
              </a:defRPr>
            </a:lvl8pPr>
            <a:lvl9pPr>
              <a:defRPr sz="4800" b="1">
                <a:solidFill>
                  <a:srgbClr val="F5F3EC"/>
                </a:solidFill>
                <a:latin typeface="Arial"/>
                <a:ea typeface="Arial"/>
                <a:cs typeface="Arial"/>
              </a:defRPr>
            </a:lvl9pPr>
          </a:lstStyle>
          <a:p xmlns:a="http://schemas.openxmlformats.org/drawingml/2006/main">
            <a:pPr>
              <a:defRPr sz="4800" b="1">
                <a:solidFill>
                  <a:srgbClr val="F5F3EC"/>
                </a:solidFill>
                <a:latin typeface="Arial"/>
                <a:ea typeface="Arial"/>
                <a:cs typeface="Arial"/>
              </a:defRPr>
            </a:pPr>
            <a:r>
              <a:rPr sz="4800" b="1">
                <a:solidFill>
                  <a:srgbClr val="F5F3EC"/>
                </a:solidFill>
                <a:latin typeface="Arial"/>
                <a:ea typeface="Arial"/>
                <a:cs typeface="Arial"/>
              </a:rPr>
              <a:t>The next two hours</a:t>
            </a:r>
          </a:p>
        </p:txBody>
      </p:sp>
      <p:sp>
        <p:nvSpPr>
          <p:cNvPr id="3" name="">
            <a:extLst xmlns:a="http://schemas.openxmlformats.org/drawingml/2006/main">
              <a:ext uri="{FF2B5EF4-FFF2-40B4-BE49-F238E27FC236}">
                <a16:creationId xmlns:a16="http://schemas.microsoft.com/office/drawing/2014/main" id="{FF706DA0-808A-43BB-B8C0-76B104E767EF}"/>
              </a:ext>
            </a:extLst>
          </p:cNvPr>
          <p:cNvSpPr>
            <a:spLocks xmlns:a="http://schemas.openxmlformats.org/drawingml/2006/main" noGrp="1"/>
          </p:cNvSpPr>
          <p:nvPr/>
        </p:nvSpPr>
        <p:spPr>
          <a:xfrm xmlns:a="http://schemas.openxmlformats.org/drawingml/2006/main">
            <a:off x="647700" y="209550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2625" b="0">
                <a:solidFill>
                  <a:srgbClr val="F5F3EC"/>
                </a:solidFill>
                <a:latin typeface="Arial"/>
                <a:ea typeface="Arial"/>
                <a:cs typeface="Arial"/>
              </a:rPr>
              <a:t>T2D Glucose Digital Twin</a:t>
            </a:r>
          </a:p>
        </p:txBody>
      </p:sp>
      <p:sp>
        <p:nvSpPr>
          <p:cNvPr id="4" name="">
            <a:extLst xmlns:a="http://schemas.openxmlformats.org/drawingml/2006/main">
              <a:ext uri="{FF2B5EF4-FFF2-40B4-BE49-F238E27FC236}">
                <a16:creationId xmlns:a16="http://schemas.microsoft.com/office/drawing/2014/main" id="{1897E2FC-A720-495E-8E16-590112E66ED6}"/>
              </a:ext>
            </a:extLst>
          </p:cNvPr>
          <p:cNvSpPr>
            <a:spLocks xmlns:a="http://schemas.openxmlformats.org/drawingml/2006/main" noGrp="1"/>
          </p:cNvSpPr>
          <p:nvPr/>
        </p:nvSpPr>
        <p:spPr>
          <a:xfrm xmlns:a="http://schemas.openxmlformats.org/drawingml/2006/main">
            <a:off x="647700" y="2914650"/>
            <a:ext cx="104775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ABD4CA"/>
                </a:solidFill>
                <a:latin typeface="Arial"/>
                <a:ea typeface="Arial"/>
                <a:cs typeface="Arial"/>
              </a:defRPr>
            </a:defPPr>
            <a:lvl1pPr>
              <a:defRPr sz="2325" b="0">
                <a:solidFill>
                  <a:srgbClr val="ABD4CA"/>
                </a:solidFill>
                <a:latin typeface="Arial"/>
                <a:ea typeface="Arial"/>
                <a:cs typeface="Arial"/>
              </a:defRPr>
            </a:lvl1pPr>
            <a:lvl2pPr>
              <a:defRPr sz="2325" b="0">
                <a:solidFill>
                  <a:srgbClr val="ABD4CA"/>
                </a:solidFill>
                <a:latin typeface="Arial"/>
                <a:ea typeface="Arial"/>
                <a:cs typeface="Arial"/>
              </a:defRPr>
            </a:lvl2pPr>
            <a:lvl3pPr>
              <a:defRPr sz="2325" b="0">
                <a:solidFill>
                  <a:srgbClr val="ABD4CA"/>
                </a:solidFill>
                <a:latin typeface="Arial"/>
                <a:ea typeface="Arial"/>
                <a:cs typeface="Arial"/>
              </a:defRPr>
            </a:lvl3pPr>
            <a:lvl4pPr>
              <a:defRPr sz="2325" b="0">
                <a:solidFill>
                  <a:srgbClr val="ABD4CA"/>
                </a:solidFill>
                <a:latin typeface="Arial"/>
                <a:ea typeface="Arial"/>
                <a:cs typeface="Arial"/>
              </a:defRPr>
            </a:lvl4pPr>
            <a:lvl5pPr>
              <a:defRPr sz="2325" b="0">
                <a:solidFill>
                  <a:srgbClr val="ABD4CA"/>
                </a:solidFill>
                <a:latin typeface="Arial"/>
                <a:ea typeface="Arial"/>
                <a:cs typeface="Arial"/>
              </a:defRPr>
            </a:lvl5pPr>
            <a:lvl6pPr>
              <a:defRPr sz="2325" b="0">
                <a:solidFill>
                  <a:srgbClr val="ABD4CA"/>
                </a:solidFill>
                <a:latin typeface="Arial"/>
                <a:ea typeface="Arial"/>
                <a:cs typeface="Arial"/>
              </a:defRPr>
            </a:lvl6pPr>
            <a:lvl7pPr>
              <a:defRPr sz="2325" b="0">
                <a:solidFill>
                  <a:srgbClr val="ABD4CA"/>
                </a:solidFill>
                <a:latin typeface="Arial"/>
                <a:ea typeface="Arial"/>
                <a:cs typeface="Arial"/>
              </a:defRPr>
            </a:lvl7pPr>
            <a:lvl8pPr>
              <a:defRPr sz="2325" b="0">
                <a:solidFill>
                  <a:srgbClr val="ABD4CA"/>
                </a:solidFill>
                <a:latin typeface="Arial"/>
                <a:ea typeface="Arial"/>
                <a:cs typeface="Arial"/>
              </a:defRPr>
            </a:lvl8pPr>
            <a:lvl9pPr>
              <a:defRPr sz="2325" b="0">
                <a:solidFill>
                  <a:srgbClr val="ABD4CA"/>
                </a:solidFill>
                <a:latin typeface="Arial"/>
                <a:ea typeface="Arial"/>
                <a:cs typeface="Arial"/>
              </a:defRPr>
            </a:lvl9pPr>
          </a:lstStyle>
          <a:p xmlns:a="http://schemas.openxmlformats.org/drawingml/2006/main">
            <a:pPr>
              <a:defRPr sz="2325" b="0">
                <a:solidFill>
                  <a:srgbClr val="ABD4CA"/>
                </a:solidFill>
                <a:latin typeface="Arial"/>
                <a:ea typeface="Arial"/>
                <a:cs typeface="Arial"/>
              </a:defRPr>
            </a:pPr>
            <a:r>
              <a:rPr sz="2325" b="0">
                <a:solidFill>
                  <a:srgbClr val="ABD4CA"/>
                </a:solidFill>
                <a:latin typeface="Arial"/>
                <a:ea typeface="Arial"/>
                <a:cs typeface="Arial"/>
              </a:rPr>
              <a:t>A synthetic subject. A two-hour forecast. An explicit uncertainty.</a:t>
            </a:r>
          </a:p>
        </p:txBody>
      </p:sp>
      <p:sp>
        <p:nvSpPr>
          <p:cNvPr id="5" name="">
            <a:extLst xmlns:a="http://schemas.openxmlformats.org/drawingml/2006/main">
              <a:ext uri="{FF2B5EF4-FFF2-40B4-BE49-F238E27FC236}">
                <a16:creationId xmlns:a16="http://schemas.microsoft.com/office/drawing/2014/main" id="{A729DB87-EAC3-40A2-9970-86D81C690A8E}"/>
              </a:ext>
            </a:extLst>
          </p:cNvPr>
          <p:cNvSpPr>
            <a:spLocks xmlns:a="http://schemas.openxmlformats.org/drawingml/2006/main" noGrp="1"/>
          </p:cNvSpPr>
          <p:nvPr/>
        </p:nvSpPr>
        <p:spPr>
          <a:xfrm xmlns:a="http://schemas.openxmlformats.org/drawingml/2006/main">
            <a:off x="647700" y="4495800"/>
            <a:ext cx="514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5F3EC"/>
                </a:solidFill>
                <a:latin typeface="Arial"/>
                <a:ea typeface="Arial"/>
                <a:cs typeface="Arial"/>
              </a:defRPr>
            </a:defPPr>
            <a:lvl1pPr>
              <a:defRPr sz="1725" b="0">
                <a:solidFill>
                  <a:srgbClr val="F5F3EC"/>
                </a:solidFill>
                <a:latin typeface="Arial"/>
                <a:ea typeface="Arial"/>
                <a:cs typeface="Arial"/>
              </a:defRPr>
            </a:lvl1pPr>
            <a:lvl2pPr>
              <a:defRPr sz="1725" b="0">
                <a:solidFill>
                  <a:srgbClr val="F5F3EC"/>
                </a:solidFill>
                <a:latin typeface="Arial"/>
                <a:ea typeface="Arial"/>
                <a:cs typeface="Arial"/>
              </a:defRPr>
            </a:lvl2pPr>
            <a:lvl3pPr>
              <a:defRPr sz="1725" b="0">
                <a:solidFill>
                  <a:srgbClr val="F5F3EC"/>
                </a:solidFill>
                <a:latin typeface="Arial"/>
                <a:ea typeface="Arial"/>
                <a:cs typeface="Arial"/>
              </a:defRPr>
            </a:lvl3pPr>
            <a:lvl4pPr>
              <a:defRPr sz="1725" b="0">
                <a:solidFill>
                  <a:srgbClr val="F5F3EC"/>
                </a:solidFill>
                <a:latin typeface="Arial"/>
                <a:ea typeface="Arial"/>
                <a:cs typeface="Arial"/>
              </a:defRPr>
            </a:lvl4pPr>
            <a:lvl5pPr>
              <a:defRPr sz="1725" b="0">
                <a:solidFill>
                  <a:srgbClr val="F5F3EC"/>
                </a:solidFill>
                <a:latin typeface="Arial"/>
                <a:ea typeface="Arial"/>
                <a:cs typeface="Arial"/>
              </a:defRPr>
            </a:lvl5pPr>
            <a:lvl6pPr>
              <a:defRPr sz="1725" b="0">
                <a:solidFill>
                  <a:srgbClr val="F5F3EC"/>
                </a:solidFill>
                <a:latin typeface="Arial"/>
                <a:ea typeface="Arial"/>
                <a:cs typeface="Arial"/>
              </a:defRPr>
            </a:lvl6pPr>
            <a:lvl7pPr>
              <a:defRPr sz="1725" b="0">
                <a:solidFill>
                  <a:srgbClr val="F5F3EC"/>
                </a:solidFill>
                <a:latin typeface="Arial"/>
                <a:ea typeface="Arial"/>
                <a:cs typeface="Arial"/>
              </a:defRPr>
            </a:lvl7pPr>
            <a:lvl8pPr>
              <a:defRPr sz="1725" b="0">
                <a:solidFill>
                  <a:srgbClr val="F5F3EC"/>
                </a:solidFill>
                <a:latin typeface="Arial"/>
                <a:ea typeface="Arial"/>
                <a:cs typeface="Arial"/>
              </a:defRPr>
            </a:lvl8pPr>
            <a:lvl9pPr>
              <a:defRPr sz="1725" b="0">
                <a:solidFill>
                  <a:srgbClr val="F5F3EC"/>
                </a:solidFill>
                <a:latin typeface="Arial"/>
                <a:ea typeface="Arial"/>
                <a:cs typeface="Arial"/>
              </a:defRPr>
            </a:lvl9pPr>
          </a:lstStyle>
          <a:p xmlns:a="http://schemas.openxmlformats.org/drawingml/2006/main">
            <a:pPr>
              <a:defRPr sz="1725" b="0">
                <a:solidFill>
                  <a:srgbClr val="F5F3EC"/>
                </a:solidFill>
                <a:latin typeface="Arial"/>
                <a:ea typeface="Arial"/>
                <a:cs typeface="Arial"/>
              </a:defRPr>
            </a:pPr>
            <a:r>
              <a:rPr sz="1725" b="0">
                <a:solidFill>
                  <a:srgbClr val="F5F3EC"/>
                </a:solidFill>
                <a:latin typeface="Arial"/>
                <a:ea typeface="Arial"/>
                <a:cs typeface="Arial"/>
              </a:rPr>
              <a:t>Akshaya R</a:t>
            </a:r>
          </a:p>
          <a:p xmlns:a="http://schemas.openxmlformats.org/drawingml/2006/main">
            <a:pPr>
              <a:defRPr sz="1725" b="0">
                <a:solidFill>
                  <a:srgbClr val="F5F3EC"/>
                </a:solidFill>
                <a:latin typeface="Arial"/>
                <a:ea typeface="Arial"/>
                <a:cs typeface="Arial"/>
              </a:defRPr>
            </a:pPr>
            <a:r>
              <a:rPr sz="1725" b="0">
                <a:solidFill>
                  <a:srgbClr val="F5F3EC"/>
                </a:solidFill>
                <a:latin typeface="Arial"/>
                <a:ea typeface="Arial"/>
                <a:cs typeface="Arial"/>
              </a:rPr>
              <a:t>BGS College of Engineering and Technology</a:t>
            </a:r>
          </a:p>
        </p:txBody>
      </p:sp>
      <p:sp>
        <p:nvSpPr>
          <p:cNvPr id="6" name="">
            <a:extLst xmlns:a="http://schemas.openxmlformats.org/drawingml/2006/main">
              <a:ext uri="{FF2B5EF4-FFF2-40B4-BE49-F238E27FC236}">
                <a16:creationId xmlns:a16="http://schemas.microsoft.com/office/drawing/2014/main" id="{6FDA540D-2F2B-435B-A135-BF59F52C96C5}"/>
              </a:ext>
            </a:extLst>
          </p:cNvPr>
          <p:cNvSpPr>
            <a:spLocks xmlns:a="http://schemas.openxmlformats.org/drawingml/2006/main" noGrp="1"/>
          </p:cNvSpPr>
          <p:nvPr/>
        </p:nvSpPr>
        <p:spPr>
          <a:xfrm xmlns:a="http://schemas.openxmlformats.org/drawingml/2006/main">
            <a:off x="6381750" y="4495800"/>
            <a:ext cx="5143500" cy="857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725" b="0">
                <a:solidFill>
                  <a:srgbClr val="F5F3EC"/>
                </a:solidFill>
                <a:latin typeface="Arial"/>
                <a:ea typeface="Arial"/>
                <a:cs typeface="Arial"/>
              </a:defRPr>
            </a:defPPr>
            <a:lvl1pPr>
              <a:defRPr sz="1725" b="0">
                <a:solidFill>
                  <a:srgbClr val="F5F3EC"/>
                </a:solidFill>
                <a:latin typeface="Arial"/>
                <a:ea typeface="Arial"/>
                <a:cs typeface="Arial"/>
              </a:defRPr>
            </a:lvl1pPr>
            <a:lvl2pPr>
              <a:defRPr sz="1725" b="0">
                <a:solidFill>
                  <a:srgbClr val="F5F3EC"/>
                </a:solidFill>
                <a:latin typeface="Arial"/>
                <a:ea typeface="Arial"/>
                <a:cs typeface="Arial"/>
              </a:defRPr>
            </a:lvl2pPr>
            <a:lvl3pPr>
              <a:defRPr sz="1725" b="0">
                <a:solidFill>
                  <a:srgbClr val="F5F3EC"/>
                </a:solidFill>
                <a:latin typeface="Arial"/>
                <a:ea typeface="Arial"/>
                <a:cs typeface="Arial"/>
              </a:defRPr>
            </a:lvl3pPr>
            <a:lvl4pPr>
              <a:defRPr sz="1725" b="0">
                <a:solidFill>
                  <a:srgbClr val="F5F3EC"/>
                </a:solidFill>
                <a:latin typeface="Arial"/>
                <a:ea typeface="Arial"/>
                <a:cs typeface="Arial"/>
              </a:defRPr>
            </a:lvl4pPr>
            <a:lvl5pPr>
              <a:defRPr sz="1725" b="0">
                <a:solidFill>
                  <a:srgbClr val="F5F3EC"/>
                </a:solidFill>
                <a:latin typeface="Arial"/>
                <a:ea typeface="Arial"/>
                <a:cs typeface="Arial"/>
              </a:defRPr>
            </a:lvl5pPr>
            <a:lvl6pPr>
              <a:defRPr sz="1725" b="0">
                <a:solidFill>
                  <a:srgbClr val="F5F3EC"/>
                </a:solidFill>
                <a:latin typeface="Arial"/>
                <a:ea typeface="Arial"/>
                <a:cs typeface="Arial"/>
              </a:defRPr>
            </a:lvl6pPr>
            <a:lvl7pPr>
              <a:defRPr sz="1725" b="0">
                <a:solidFill>
                  <a:srgbClr val="F5F3EC"/>
                </a:solidFill>
                <a:latin typeface="Arial"/>
                <a:ea typeface="Arial"/>
                <a:cs typeface="Arial"/>
              </a:defRPr>
            </a:lvl7pPr>
            <a:lvl8pPr>
              <a:defRPr sz="1725" b="0">
                <a:solidFill>
                  <a:srgbClr val="F5F3EC"/>
                </a:solidFill>
                <a:latin typeface="Arial"/>
                <a:ea typeface="Arial"/>
                <a:cs typeface="Arial"/>
              </a:defRPr>
            </a:lvl8pPr>
            <a:lvl9pPr>
              <a:defRPr sz="1725" b="0">
                <a:solidFill>
                  <a:srgbClr val="F5F3EC"/>
                </a:solidFill>
                <a:latin typeface="Arial"/>
                <a:ea typeface="Arial"/>
                <a:cs typeface="Arial"/>
              </a:defRPr>
            </a:lvl9pPr>
          </a:lstStyle>
          <a:p xmlns:a="http://schemas.openxmlformats.org/drawingml/2006/main">
            <a:pPr>
              <a:defRPr sz="1725" b="0">
                <a:solidFill>
                  <a:srgbClr val="F5F3EC"/>
                </a:solidFill>
                <a:latin typeface="Arial"/>
                <a:ea typeface="Arial"/>
                <a:cs typeface="Arial"/>
              </a:defRPr>
            </a:pPr>
            <a:r>
              <a:rPr sz="1725" b="0">
                <a:solidFill>
                  <a:srgbClr val="F5F3EC"/>
                </a:solidFill>
                <a:latin typeface="Arial"/>
                <a:ea typeface="Arial"/>
                <a:cs typeface="Arial"/>
              </a:rPr>
              <a:t>Nikhil VS</a:t>
            </a:r>
          </a:p>
          <a:p xmlns:a="http://schemas.openxmlformats.org/drawingml/2006/main">
            <a:pPr>
              <a:defRPr sz="1725" b="0">
                <a:solidFill>
                  <a:srgbClr val="F5F3EC"/>
                </a:solidFill>
                <a:latin typeface="Arial"/>
                <a:ea typeface="Arial"/>
                <a:cs typeface="Arial"/>
              </a:defRPr>
            </a:pPr>
            <a:r>
              <a:rPr sz="1725" b="0">
                <a:solidFill>
                  <a:srgbClr val="F5F3EC"/>
                </a:solidFill>
                <a:latin typeface="Arial"/>
                <a:ea typeface="Arial"/>
                <a:cs typeface="Arial"/>
              </a:rPr>
              <a:t>East West Institute of Technology</a:t>
            </a:r>
          </a:p>
        </p:txBody>
      </p:sp>
      <p:sp>
        <p:nvSpPr>
          <p:cNvPr id="7" name="">
            <a:extLst xmlns:a="http://schemas.openxmlformats.org/drawingml/2006/main">
              <a:ext uri="{FF2B5EF4-FFF2-40B4-BE49-F238E27FC236}">
                <a16:creationId xmlns:a16="http://schemas.microsoft.com/office/drawing/2014/main" id="{BC0F65C7-6F2C-442F-A8A0-3B5DEBAEF46A}"/>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BD4CA"/>
                </a:solidFill>
                <a:latin typeface="Arial"/>
                <a:ea typeface="Arial"/>
                <a:cs typeface="Arial"/>
              </a:defRPr>
            </a:defPPr>
            <a:lvl1pPr>
              <a:defRPr sz="1125" b="0">
                <a:solidFill>
                  <a:srgbClr val="ABD4CA"/>
                </a:solidFill>
                <a:latin typeface="Arial"/>
                <a:ea typeface="Arial"/>
                <a:cs typeface="Arial"/>
              </a:defRPr>
            </a:lvl1pPr>
            <a:lvl2pPr>
              <a:defRPr sz="1125" b="0">
                <a:solidFill>
                  <a:srgbClr val="ABD4CA"/>
                </a:solidFill>
                <a:latin typeface="Arial"/>
                <a:ea typeface="Arial"/>
                <a:cs typeface="Arial"/>
              </a:defRPr>
            </a:lvl2pPr>
            <a:lvl3pPr>
              <a:defRPr sz="1125" b="0">
                <a:solidFill>
                  <a:srgbClr val="ABD4CA"/>
                </a:solidFill>
                <a:latin typeface="Arial"/>
                <a:ea typeface="Arial"/>
                <a:cs typeface="Arial"/>
              </a:defRPr>
            </a:lvl3pPr>
            <a:lvl4pPr>
              <a:defRPr sz="1125" b="0">
                <a:solidFill>
                  <a:srgbClr val="ABD4CA"/>
                </a:solidFill>
                <a:latin typeface="Arial"/>
                <a:ea typeface="Arial"/>
                <a:cs typeface="Arial"/>
              </a:defRPr>
            </a:lvl4pPr>
            <a:lvl5pPr>
              <a:defRPr sz="1125" b="0">
                <a:solidFill>
                  <a:srgbClr val="ABD4CA"/>
                </a:solidFill>
                <a:latin typeface="Arial"/>
                <a:ea typeface="Arial"/>
                <a:cs typeface="Arial"/>
              </a:defRPr>
            </a:lvl5pPr>
            <a:lvl6pPr>
              <a:defRPr sz="1125" b="0">
                <a:solidFill>
                  <a:srgbClr val="ABD4CA"/>
                </a:solidFill>
                <a:latin typeface="Arial"/>
                <a:ea typeface="Arial"/>
                <a:cs typeface="Arial"/>
              </a:defRPr>
            </a:lvl6pPr>
            <a:lvl7pPr>
              <a:defRPr sz="1125" b="0">
                <a:solidFill>
                  <a:srgbClr val="ABD4CA"/>
                </a:solidFill>
                <a:latin typeface="Arial"/>
                <a:ea typeface="Arial"/>
                <a:cs typeface="Arial"/>
              </a:defRPr>
            </a:lvl7pPr>
            <a:lvl8pPr>
              <a:defRPr sz="1125" b="0">
                <a:solidFill>
                  <a:srgbClr val="ABD4CA"/>
                </a:solidFill>
                <a:latin typeface="Arial"/>
                <a:ea typeface="Arial"/>
                <a:cs typeface="Arial"/>
              </a:defRPr>
            </a:lvl8pPr>
            <a:lvl9pPr>
              <a:defRPr sz="1125" b="0">
                <a:solidFill>
                  <a:srgbClr val="ABD4CA"/>
                </a:solidFill>
                <a:latin typeface="Arial"/>
                <a:ea typeface="Arial"/>
                <a:cs typeface="Arial"/>
              </a:defRPr>
            </a:lvl9pPr>
          </a:lstStyle>
          <a:p xmlns:a="http://schemas.openxmlformats.org/drawingml/2006/main">
            <a:pPr>
              <a:defRPr sz="1125" b="0">
                <a:solidFill>
                  <a:srgbClr val="ABD4CA"/>
                </a:solidFill>
                <a:latin typeface="Arial"/>
                <a:ea typeface="Arial"/>
                <a:cs typeface="Arial"/>
              </a:defRPr>
            </a:pPr>
            <a:r>
              <a:rPr sz="1125" b="0">
                <a:solidFill>
                  <a:srgbClr val="ABD4CA"/>
                </a:solidFill>
                <a:latin typeface="Arial"/>
                <a:ea typeface="Arial"/>
                <a:cs typeface="Arial"/>
              </a:rPr>
              <a:t>Synthetic research only. No clinical validation claimed.</a:t>
            </a:r>
          </a:p>
        </p:txBody>
      </p:sp>
      <p:sp>
        <p:nvSpPr>
          <p:cNvPr id="8" name="">
            <a:extLst xmlns:a="http://schemas.openxmlformats.org/drawingml/2006/main">
              <a:ext uri="{FF2B5EF4-FFF2-40B4-BE49-F238E27FC236}">
                <a16:creationId xmlns:a16="http://schemas.microsoft.com/office/drawing/2014/main" id="{3A20D2C0-E9E2-4AC5-AB2E-6CD926D0866B}"/>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BD4CA"/>
                </a:solidFill>
                <a:latin typeface="Arial"/>
                <a:ea typeface="Arial"/>
                <a:cs typeface="Arial"/>
              </a:defRPr>
            </a:defPPr>
            <a:lvl1pPr>
              <a:defRPr sz="1500" b="0">
                <a:solidFill>
                  <a:srgbClr val="ABD4CA"/>
                </a:solidFill>
                <a:latin typeface="Arial"/>
                <a:ea typeface="Arial"/>
                <a:cs typeface="Arial"/>
              </a:defRPr>
            </a:lvl1pPr>
            <a:lvl2pPr>
              <a:defRPr sz="1500" b="0">
                <a:solidFill>
                  <a:srgbClr val="ABD4CA"/>
                </a:solidFill>
                <a:latin typeface="Arial"/>
                <a:ea typeface="Arial"/>
                <a:cs typeface="Arial"/>
              </a:defRPr>
            </a:lvl2pPr>
            <a:lvl3pPr>
              <a:defRPr sz="1500" b="0">
                <a:solidFill>
                  <a:srgbClr val="ABD4CA"/>
                </a:solidFill>
                <a:latin typeface="Arial"/>
                <a:ea typeface="Arial"/>
                <a:cs typeface="Arial"/>
              </a:defRPr>
            </a:lvl3pPr>
            <a:lvl4pPr>
              <a:defRPr sz="1500" b="0">
                <a:solidFill>
                  <a:srgbClr val="ABD4CA"/>
                </a:solidFill>
                <a:latin typeface="Arial"/>
                <a:ea typeface="Arial"/>
                <a:cs typeface="Arial"/>
              </a:defRPr>
            </a:lvl4pPr>
            <a:lvl5pPr>
              <a:defRPr sz="1500" b="0">
                <a:solidFill>
                  <a:srgbClr val="ABD4CA"/>
                </a:solidFill>
                <a:latin typeface="Arial"/>
                <a:ea typeface="Arial"/>
                <a:cs typeface="Arial"/>
              </a:defRPr>
            </a:lvl5pPr>
            <a:lvl6pPr>
              <a:defRPr sz="1500" b="0">
                <a:solidFill>
                  <a:srgbClr val="ABD4CA"/>
                </a:solidFill>
                <a:latin typeface="Arial"/>
                <a:ea typeface="Arial"/>
                <a:cs typeface="Arial"/>
              </a:defRPr>
            </a:lvl6pPr>
            <a:lvl7pPr>
              <a:defRPr sz="1500" b="0">
                <a:solidFill>
                  <a:srgbClr val="ABD4CA"/>
                </a:solidFill>
                <a:latin typeface="Arial"/>
                <a:ea typeface="Arial"/>
                <a:cs typeface="Arial"/>
              </a:defRPr>
            </a:lvl7pPr>
            <a:lvl8pPr>
              <a:defRPr sz="1500" b="0">
                <a:solidFill>
                  <a:srgbClr val="ABD4CA"/>
                </a:solidFill>
                <a:latin typeface="Arial"/>
                <a:ea typeface="Arial"/>
                <a:cs typeface="Arial"/>
              </a:defRPr>
            </a:lvl8pPr>
            <a:lvl9pPr>
              <a:defRPr sz="1500" b="0">
                <a:solidFill>
                  <a:srgbClr val="ABD4CA"/>
                </a:solidFill>
                <a:latin typeface="Arial"/>
                <a:ea typeface="Arial"/>
                <a:cs typeface="Arial"/>
              </a:defRPr>
            </a:lvl9pPr>
          </a:lstStyle>
          <a:p xmlns:a="http://schemas.openxmlformats.org/drawingml/2006/main">
            <a:pPr>
              <a:defRPr sz="1500" b="0">
                <a:solidFill>
                  <a:srgbClr val="ABD4CA"/>
                </a:solidFill>
                <a:latin typeface="Arial"/>
                <a:ea typeface="Arial"/>
                <a:cs typeface="Arial"/>
              </a:defRPr>
            </a:pPr>
            <a:r>
              <a:rPr sz="1500" b="0">
                <a:solidFill>
                  <a:srgbClr val="ABD4CA"/>
                </a:solidFill>
                <a:latin typeface="Arial"/>
                <a:ea typeface="Arial"/>
                <a:cs typeface="Arial"/>
              </a:rPr>
              <a:t>01</a:t>
            </a:r>
          </a:p>
        </p:txBody>
      </p:sp>
    </p:spTree>
    <p:extLst>
      <p:ext uri="{BB962C8B-B14F-4D97-AF65-F5344CB8AC3E}">
        <p14:creationId xmlns:p14="http://schemas.microsoft.com/office/powerpoint/2010/main" val="1905918405"/>
      </p:ext>
    </p:extLst>
  </p:cSld>
</p:sld>
</file>

<file path=ppt/slides/slide2.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29128583-D3D8-4345-9CD4-6B90411A0D50}"/>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365A3981-092A-43EC-B86B-C28BD6A3782A}"/>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A reading needs context</a:t>
            </a:r>
          </a:p>
        </p:txBody>
      </p:sp>
      <p:sp>
        <p:nvSpPr>
          <p:cNvPr id="3" name="">
            <a:extLst xmlns:a="http://schemas.openxmlformats.org/drawingml/2006/main">
              <a:ext uri="{FF2B5EF4-FFF2-40B4-BE49-F238E27FC236}">
                <a16:creationId xmlns:a16="http://schemas.microsoft.com/office/drawing/2014/main" id="{19582542-C7F1-4441-9DDF-B46A1EA4CE76}"/>
              </a:ext>
            </a:extLst>
          </p:cNvPr>
          <p:cNvSpPr>
            <a:spLocks xmlns:a="http://schemas.openxmlformats.org/drawingml/2006/main" noGrp="1"/>
          </p:cNvSpPr>
          <p:nvPr/>
        </p:nvSpPr>
        <p:spPr>
          <a:xfrm xmlns:a="http://schemas.openxmlformats.org/drawingml/2006/main">
            <a:off x="647700" y="204787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183C42"/>
                </a:solidFill>
                <a:latin typeface="Arial"/>
                <a:ea typeface="Arial"/>
                <a:cs typeface="Arial"/>
              </a:defRPr>
            </a:defPPr>
            <a:lvl1pPr>
              <a:defRPr sz="2625" b="1">
                <a:solidFill>
                  <a:srgbClr val="183C42"/>
                </a:solidFill>
                <a:latin typeface="Arial"/>
                <a:ea typeface="Arial"/>
                <a:cs typeface="Arial"/>
              </a:defRPr>
            </a:lvl1pPr>
            <a:lvl2pPr>
              <a:defRPr sz="2625" b="1">
                <a:solidFill>
                  <a:srgbClr val="183C42"/>
                </a:solidFill>
                <a:latin typeface="Arial"/>
                <a:ea typeface="Arial"/>
                <a:cs typeface="Arial"/>
              </a:defRPr>
            </a:lvl2pPr>
            <a:lvl3pPr>
              <a:defRPr sz="2625" b="1">
                <a:solidFill>
                  <a:srgbClr val="183C42"/>
                </a:solidFill>
                <a:latin typeface="Arial"/>
                <a:ea typeface="Arial"/>
                <a:cs typeface="Arial"/>
              </a:defRPr>
            </a:lvl3pPr>
            <a:lvl4pPr>
              <a:defRPr sz="2625" b="1">
                <a:solidFill>
                  <a:srgbClr val="183C42"/>
                </a:solidFill>
                <a:latin typeface="Arial"/>
                <a:ea typeface="Arial"/>
                <a:cs typeface="Arial"/>
              </a:defRPr>
            </a:lvl4pPr>
            <a:lvl5pPr>
              <a:defRPr sz="2625" b="1">
                <a:solidFill>
                  <a:srgbClr val="183C42"/>
                </a:solidFill>
                <a:latin typeface="Arial"/>
                <a:ea typeface="Arial"/>
                <a:cs typeface="Arial"/>
              </a:defRPr>
            </a:lvl5pPr>
            <a:lvl6pPr>
              <a:defRPr sz="2625" b="1">
                <a:solidFill>
                  <a:srgbClr val="183C42"/>
                </a:solidFill>
                <a:latin typeface="Arial"/>
                <a:ea typeface="Arial"/>
                <a:cs typeface="Arial"/>
              </a:defRPr>
            </a:lvl6pPr>
            <a:lvl7pPr>
              <a:defRPr sz="2625" b="1">
                <a:solidFill>
                  <a:srgbClr val="183C42"/>
                </a:solidFill>
                <a:latin typeface="Arial"/>
                <a:ea typeface="Arial"/>
                <a:cs typeface="Arial"/>
              </a:defRPr>
            </a:lvl7pPr>
            <a:lvl8pPr>
              <a:defRPr sz="2625" b="1">
                <a:solidFill>
                  <a:srgbClr val="183C42"/>
                </a:solidFill>
                <a:latin typeface="Arial"/>
                <a:ea typeface="Arial"/>
                <a:cs typeface="Arial"/>
              </a:defRPr>
            </a:lvl8pPr>
            <a:lvl9pPr>
              <a:defRPr sz="2625" b="1">
                <a:solidFill>
                  <a:srgbClr val="183C42"/>
                </a:solidFill>
                <a:latin typeface="Arial"/>
                <a:ea typeface="Arial"/>
                <a:cs typeface="Arial"/>
              </a:defRPr>
            </a:lvl9pPr>
          </a:lstStyle>
          <a:p xmlns:a="http://schemas.openxmlformats.org/drawingml/2006/main">
            <a:pPr>
              <a:defRPr sz="2625" b="1">
                <a:solidFill>
                  <a:srgbClr val="183C42"/>
                </a:solidFill>
                <a:latin typeface="Arial"/>
                <a:ea typeface="Arial"/>
                <a:cs typeface="Arial"/>
              </a:defRPr>
            </a:pPr>
            <a:r>
              <a:rPr sz="2625" b="1">
                <a:solidFill>
                  <a:srgbClr val="183C42"/>
                </a:solidFill>
                <a:latin typeface="Arial"/>
                <a:ea typeface="Arial"/>
                <a:cs typeface="Arial"/>
              </a:rPr>
              <a:t>What may happen next?</a:t>
            </a:r>
          </a:p>
        </p:txBody>
      </p:sp>
      <p:sp>
        <p:nvSpPr>
          <p:cNvPr id="4" name="">
            <a:extLst xmlns:a="http://schemas.openxmlformats.org/drawingml/2006/main">
              <a:ext uri="{FF2B5EF4-FFF2-40B4-BE49-F238E27FC236}">
                <a16:creationId xmlns:a16="http://schemas.microsoft.com/office/drawing/2014/main" id="{36F883C5-2B8F-4D7A-B3CA-197A78533222}"/>
              </a:ext>
            </a:extLst>
          </p:cNvPr>
          <p:cNvSpPr>
            <a:spLocks xmlns:a="http://schemas.openxmlformats.org/drawingml/2006/main" noGrp="1"/>
          </p:cNvSpPr>
          <p:nvPr/>
        </p:nvSpPr>
        <p:spPr>
          <a:xfrm xmlns:a="http://schemas.openxmlformats.org/drawingml/2006/main">
            <a:off x="647700" y="304800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Which context shaped the estimate?</a:t>
            </a:r>
          </a:p>
        </p:txBody>
      </p:sp>
      <p:sp>
        <p:nvSpPr>
          <p:cNvPr id="5" name="">
            <a:extLst xmlns:a="http://schemas.openxmlformats.org/drawingml/2006/main">
              <a:ext uri="{FF2B5EF4-FFF2-40B4-BE49-F238E27FC236}">
                <a16:creationId xmlns:a16="http://schemas.microsoft.com/office/drawing/2014/main" id="{4E6DEBD4-25D5-4FD5-B9EA-A10E2BF6319F}"/>
              </a:ext>
            </a:extLst>
          </p:cNvPr>
          <p:cNvSpPr>
            <a:spLocks xmlns:a="http://schemas.openxmlformats.org/drawingml/2006/main" noGrp="1"/>
          </p:cNvSpPr>
          <p:nvPr/>
        </p:nvSpPr>
        <p:spPr>
          <a:xfrm xmlns:a="http://schemas.openxmlformats.org/drawingml/2006/main">
            <a:off x="647700" y="404812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When should the result be withheld?</a:t>
            </a:r>
          </a:p>
        </p:txBody>
      </p:sp>
      <p:sp>
        <p:nvSpPr>
          <p:cNvPr id="6" name="">
            <a:extLst xmlns:a="http://schemas.openxmlformats.org/drawingml/2006/main">
              <a:ext uri="{FF2B5EF4-FFF2-40B4-BE49-F238E27FC236}">
                <a16:creationId xmlns:a16="http://schemas.microsoft.com/office/drawing/2014/main" id="{8D851C02-FDE1-48BE-B0D2-D867B906CDEE}"/>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Synthetic research only. No clinical validation claimed.</a:t>
            </a:r>
          </a:p>
        </p:txBody>
      </p:sp>
      <p:sp>
        <p:nvSpPr>
          <p:cNvPr id="7" name="">
            <a:extLst xmlns:a="http://schemas.openxmlformats.org/drawingml/2006/main">
              <a:ext uri="{FF2B5EF4-FFF2-40B4-BE49-F238E27FC236}">
                <a16:creationId xmlns:a16="http://schemas.microsoft.com/office/drawing/2014/main" id="{C7F11194-646C-46C2-A443-E15D745C22F9}"/>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02</a:t>
            </a:r>
          </a:p>
        </p:txBody>
      </p:sp>
    </p:spTree>
    <p:extLst>
      <p:ext uri="{BB962C8B-B14F-4D97-AF65-F5344CB8AC3E}">
        <p14:creationId xmlns:p14="http://schemas.microsoft.com/office/powerpoint/2010/main" val="1314987840"/>
      </p:ext>
    </p:extLst>
  </p:cSld>
</p:sld>
</file>

<file path=ppt/slides/slide3.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87BE484-A39E-4D7E-B63E-617C8DD61BAB}"/>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64533B4E-A2A9-4F6E-BB0A-5AD3D856EF05}"/>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Our subject is synthetic</a:t>
            </a:r>
          </a:p>
        </p:txBody>
      </p:sp>
      <p:sp>
        <p:nvSpPr>
          <p:cNvPr id="3" name="">
            <a:extLst xmlns:a="http://schemas.openxmlformats.org/drawingml/2006/main">
              <a:ext uri="{FF2B5EF4-FFF2-40B4-BE49-F238E27FC236}">
                <a16:creationId xmlns:a16="http://schemas.microsoft.com/office/drawing/2014/main" id="{AE1B37CD-77F7-4BF6-8824-1EB8C33DEADA}"/>
              </a:ext>
            </a:extLst>
          </p:cNvPr>
          <p:cNvSpPr>
            <a:spLocks xmlns:a="http://schemas.openxmlformats.org/drawingml/2006/main" noGrp="1"/>
          </p:cNvSpPr>
          <p:nvPr/>
        </p:nvSpPr>
        <p:spPr>
          <a:xfrm xmlns:a="http://schemas.openxmlformats.org/drawingml/2006/main">
            <a:off x="647700" y="204787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183C42"/>
                </a:solidFill>
                <a:latin typeface="Arial"/>
                <a:ea typeface="Arial"/>
                <a:cs typeface="Arial"/>
              </a:defRPr>
            </a:defPPr>
            <a:lvl1pPr>
              <a:defRPr sz="2625" b="1">
                <a:solidFill>
                  <a:srgbClr val="183C42"/>
                </a:solidFill>
                <a:latin typeface="Arial"/>
                <a:ea typeface="Arial"/>
                <a:cs typeface="Arial"/>
              </a:defRPr>
            </a:lvl1pPr>
            <a:lvl2pPr>
              <a:defRPr sz="2625" b="1">
                <a:solidFill>
                  <a:srgbClr val="183C42"/>
                </a:solidFill>
                <a:latin typeface="Arial"/>
                <a:ea typeface="Arial"/>
                <a:cs typeface="Arial"/>
              </a:defRPr>
            </a:lvl2pPr>
            <a:lvl3pPr>
              <a:defRPr sz="2625" b="1">
                <a:solidFill>
                  <a:srgbClr val="183C42"/>
                </a:solidFill>
                <a:latin typeface="Arial"/>
                <a:ea typeface="Arial"/>
                <a:cs typeface="Arial"/>
              </a:defRPr>
            </a:lvl3pPr>
            <a:lvl4pPr>
              <a:defRPr sz="2625" b="1">
                <a:solidFill>
                  <a:srgbClr val="183C42"/>
                </a:solidFill>
                <a:latin typeface="Arial"/>
                <a:ea typeface="Arial"/>
                <a:cs typeface="Arial"/>
              </a:defRPr>
            </a:lvl4pPr>
            <a:lvl5pPr>
              <a:defRPr sz="2625" b="1">
                <a:solidFill>
                  <a:srgbClr val="183C42"/>
                </a:solidFill>
                <a:latin typeface="Arial"/>
                <a:ea typeface="Arial"/>
                <a:cs typeface="Arial"/>
              </a:defRPr>
            </a:lvl5pPr>
            <a:lvl6pPr>
              <a:defRPr sz="2625" b="1">
                <a:solidFill>
                  <a:srgbClr val="183C42"/>
                </a:solidFill>
                <a:latin typeface="Arial"/>
                <a:ea typeface="Arial"/>
                <a:cs typeface="Arial"/>
              </a:defRPr>
            </a:lvl6pPr>
            <a:lvl7pPr>
              <a:defRPr sz="2625" b="1">
                <a:solidFill>
                  <a:srgbClr val="183C42"/>
                </a:solidFill>
                <a:latin typeface="Arial"/>
                <a:ea typeface="Arial"/>
                <a:cs typeface="Arial"/>
              </a:defRPr>
            </a:lvl7pPr>
            <a:lvl8pPr>
              <a:defRPr sz="2625" b="1">
                <a:solidFill>
                  <a:srgbClr val="183C42"/>
                </a:solidFill>
                <a:latin typeface="Arial"/>
                <a:ea typeface="Arial"/>
                <a:cs typeface="Arial"/>
              </a:defRPr>
            </a:lvl8pPr>
            <a:lvl9pPr>
              <a:defRPr sz="2625" b="1">
                <a:solidFill>
                  <a:srgbClr val="183C42"/>
                </a:solidFill>
                <a:latin typeface="Arial"/>
                <a:ea typeface="Arial"/>
                <a:cs typeface="Arial"/>
              </a:defRPr>
            </a:lvl9pPr>
          </a:lstStyle>
          <a:p xmlns:a="http://schemas.openxmlformats.org/drawingml/2006/main">
            <a:pPr>
              <a:defRPr sz="2625" b="1">
                <a:solidFill>
                  <a:srgbClr val="183C42"/>
                </a:solidFill>
                <a:latin typeface="Arial"/>
                <a:ea typeface="Arial"/>
                <a:cs typeface="Arial"/>
              </a:defRPr>
            </a:pPr>
            <a:r>
              <a:rPr sz="2625" b="1">
                <a:solidFill>
                  <a:srgbClr val="183C42"/>
                </a:solidFill>
                <a:latin typeface="Arial"/>
                <a:ea typeface="Arial"/>
                <a:cs typeface="Arial"/>
              </a:rPr>
              <a:t>293 active synthetic subjects</a:t>
            </a:r>
          </a:p>
        </p:txBody>
      </p:sp>
      <p:sp>
        <p:nvSpPr>
          <p:cNvPr id="4" name="">
            <a:extLst xmlns:a="http://schemas.openxmlformats.org/drawingml/2006/main">
              <a:ext uri="{FF2B5EF4-FFF2-40B4-BE49-F238E27FC236}">
                <a16:creationId xmlns:a16="http://schemas.microsoft.com/office/drawing/2014/main" id="{700046F6-D726-4573-928F-539B6BB1D4BE}"/>
              </a:ext>
            </a:extLst>
          </p:cNvPr>
          <p:cNvSpPr>
            <a:spLocks xmlns:a="http://schemas.openxmlformats.org/drawingml/2006/main" noGrp="1"/>
          </p:cNvSpPr>
          <p:nvPr/>
        </p:nvSpPr>
        <p:spPr>
          <a:xfrm xmlns:a="http://schemas.openxmlformats.org/drawingml/2006/main">
            <a:off x="647700" y="304800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205 training / 44 validation / 44 test</a:t>
            </a:r>
          </a:p>
        </p:txBody>
      </p:sp>
      <p:sp>
        <p:nvSpPr>
          <p:cNvPr id="5" name="">
            <a:extLst xmlns:a="http://schemas.openxmlformats.org/drawingml/2006/main">
              <a:ext uri="{FF2B5EF4-FFF2-40B4-BE49-F238E27FC236}">
                <a16:creationId xmlns:a16="http://schemas.microsoft.com/office/drawing/2014/main" id="{6E2187C7-1032-4B3E-A1FA-27912605EC2B}"/>
              </a:ext>
            </a:extLst>
          </p:cNvPr>
          <p:cNvSpPr>
            <a:spLocks xmlns:a="http://schemas.openxmlformats.org/drawingml/2006/main" noGrp="1"/>
          </p:cNvSpPr>
          <p:nvPr/>
        </p:nvSpPr>
        <p:spPr>
          <a:xfrm xmlns:a="http://schemas.openxmlformats.org/drawingml/2006/main">
            <a:off x="647700" y="404812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Demonstration: training-split subjects only</a:t>
            </a:r>
          </a:p>
        </p:txBody>
      </p:sp>
      <p:sp>
        <p:nvSpPr>
          <p:cNvPr id="6" name="">
            <a:extLst xmlns:a="http://schemas.openxmlformats.org/drawingml/2006/main">
              <a:ext uri="{FF2B5EF4-FFF2-40B4-BE49-F238E27FC236}">
                <a16:creationId xmlns:a16="http://schemas.microsoft.com/office/drawing/2014/main" id="{4E2BDD30-F0DF-4851-A2C7-AB83904A26F5}"/>
              </a:ext>
            </a:extLst>
          </p:cNvPr>
          <p:cNvSpPr>
            <a:spLocks xmlns:a="http://schemas.openxmlformats.org/drawingml/2006/main" noGrp="1"/>
          </p:cNvSpPr>
          <p:nvPr/>
        </p:nvSpPr>
        <p:spPr>
          <a:xfrm xmlns:a="http://schemas.openxmlformats.org/drawingml/2006/main">
            <a:off x="647700" y="504825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Replay is not a live wearable feed</a:t>
            </a:r>
          </a:p>
        </p:txBody>
      </p:sp>
      <p:sp>
        <p:nvSpPr>
          <p:cNvPr id="7" name="">
            <a:extLst xmlns:a="http://schemas.openxmlformats.org/drawingml/2006/main">
              <a:ext uri="{FF2B5EF4-FFF2-40B4-BE49-F238E27FC236}">
                <a16:creationId xmlns:a16="http://schemas.microsoft.com/office/drawing/2014/main" id="{161165D2-F389-462B-8BE0-11256324B65A}"/>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Synthetic research only. No clinical validation claimed.</a:t>
            </a:r>
          </a:p>
        </p:txBody>
      </p:sp>
      <p:sp>
        <p:nvSpPr>
          <p:cNvPr id="8" name="">
            <a:extLst xmlns:a="http://schemas.openxmlformats.org/drawingml/2006/main">
              <a:ext uri="{FF2B5EF4-FFF2-40B4-BE49-F238E27FC236}">
                <a16:creationId xmlns:a16="http://schemas.microsoft.com/office/drawing/2014/main" id="{E4ED62D3-8A59-47D0-A120-C0F847AB8F28}"/>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03</a:t>
            </a:r>
          </a:p>
        </p:txBody>
      </p:sp>
    </p:spTree>
    <p:extLst>
      <p:ext uri="{BB962C8B-B14F-4D97-AF65-F5344CB8AC3E}">
        <p14:creationId xmlns:p14="http://schemas.microsoft.com/office/powerpoint/2010/main" val="11052158"/>
      </p:ext>
    </p:extLst>
  </p:cSld>
</p:sld>
</file>

<file path=ppt/slides/slide4.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9AF4C7BC-E670-45C5-A035-88DD8A90E5ED}"/>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64E8B192-9E94-46A9-B61E-309B5ABFE5A0}"/>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The forecasting path</a:t>
            </a:r>
          </a:p>
        </p:txBody>
      </p:sp>
      <p:sp>
        <p:nvSpPr>
          <p:cNvPr id="3" name="">
            <a:extLst xmlns:a="http://schemas.openxmlformats.org/drawingml/2006/main">
              <a:ext uri="{FF2B5EF4-FFF2-40B4-BE49-F238E27FC236}">
                <a16:creationId xmlns:a16="http://schemas.microsoft.com/office/drawing/2014/main" id="{FCC21DEE-0BBB-4D2C-82A7-6AFB923898E1}"/>
              </a:ext>
            </a:extLst>
          </p:cNvPr>
          <p:cNvSpPr>
            <a:spLocks xmlns:a="http://schemas.openxmlformats.org/drawingml/2006/main" noGrp="1"/>
          </p:cNvSpPr>
          <p:nvPr/>
        </p:nvSpPr>
        <p:spPr>
          <a:xfrm xmlns:a="http://schemas.openxmlformats.org/drawingml/2006/main">
            <a:off x="647700" y="2047875"/>
            <a:ext cx="1076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1">
                <a:solidFill>
                  <a:srgbClr val="183C42"/>
                </a:solidFill>
                <a:latin typeface="Arial"/>
                <a:ea typeface="Arial"/>
                <a:cs typeface="Arial"/>
              </a:defRPr>
            </a:defPPr>
            <a:lvl1pPr>
              <a:defRPr sz="2325" b="1">
                <a:solidFill>
                  <a:srgbClr val="183C42"/>
                </a:solidFill>
                <a:latin typeface="Arial"/>
                <a:ea typeface="Arial"/>
                <a:cs typeface="Arial"/>
              </a:defRPr>
            </a:lvl1pPr>
            <a:lvl2pPr>
              <a:defRPr sz="2325" b="1">
                <a:solidFill>
                  <a:srgbClr val="183C42"/>
                </a:solidFill>
                <a:latin typeface="Arial"/>
                <a:ea typeface="Arial"/>
                <a:cs typeface="Arial"/>
              </a:defRPr>
            </a:lvl2pPr>
            <a:lvl3pPr>
              <a:defRPr sz="2325" b="1">
                <a:solidFill>
                  <a:srgbClr val="183C42"/>
                </a:solidFill>
                <a:latin typeface="Arial"/>
                <a:ea typeface="Arial"/>
                <a:cs typeface="Arial"/>
              </a:defRPr>
            </a:lvl3pPr>
            <a:lvl4pPr>
              <a:defRPr sz="2325" b="1">
                <a:solidFill>
                  <a:srgbClr val="183C42"/>
                </a:solidFill>
                <a:latin typeface="Arial"/>
                <a:ea typeface="Arial"/>
                <a:cs typeface="Arial"/>
              </a:defRPr>
            </a:lvl4pPr>
            <a:lvl5pPr>
              <a:defRPr sz="2325" b="1">
                <a:solidFill>
                  <a:srgbClr val="183C42"/>
                </a:solidFill>
                <a:latin typeface="Arial"/>
                <a:ea typeface="Arial"/>
                <a:cs typeface="Arial"/>
              </a:defRPr>
            </a:lvl5pPr>
            <a:lvl6pPr>
              <a:defRPr sz="2325" b="1">
                <a:solidFill>
                  <a:srgbClr val="183C42"/>
                </a:solidFill>
                <a:latin typeface="Arial"/>
                <a:ea typeface="Arial"/>
                <a:cs typeface="Arial"/>
              </a:defRPr>
            </a:lvl6pPr>
            <a:lvl7pPr>
              <a:defRPr sz="2325" b="1">
                <a:solidFill>
                  <a:srgbClr val="183C42"/>
                </a:solidFill>
                <a:latin typeface="Arial"/>
                <a:ea typeface="Arial"/>
                <a:cs typeface="Arial"/>
              </a:defRPr>
            </a:lvl7pPr>
            <a:lvl8pPr>
              <a:defRPr sz="2325" b="1">
                <a:solidFill>
                  <a:srgbClr val="183C42"/>
                </a:solidFill>
                <a:latin typeface="Arial"/>
                <a:ea typeface="Arial"/>
                <a:cs typeface="Arial"/>
              </a:defRPr>
            </a:lvl8pPr>
            <a:lvl9pPr>
              <a:defRPr sz="2325" b="1">
                <a:solidFill>
                  <a:srgbClr val="183C42"/>
                </a:solidFill>
                <a:latin typeface="Arial"/>
                <a:ea typeface="Arial"/>
                <a:cs typeface="Arial"/>
              </a:defRPr>
            </a:lvl9pPr>
          </a:lstStyle>
          <a:p xmlns:a="http://schemas.openxmlformats.org/drawingml/2006/main">
            <a:pPr>
              <a:defRPr sz="2325" b="1">
                <a:solidFill>
                  <a:srgbClr val="183C42"/>
                </a:solidFill>
                <a:latin typeface="Arial"/>
                <a:ea typeface="Arial"/>
                <a:cs typeface="Arial"/>
              </a:defRPr>
            </a:pPr>
            <a:r>
              <a:rPr sz="2325" b="1">
                <a:solidFill>
                  <a:srgbClr val="183C42"/>
                </a:solidFill>
                <a:latin typeface="Arial"/>
                <a:ea typeface="Arial"/>
                <a:cs typeface="Arial"/>
              </a:rPr>
              <a:t>01  Existing synthetic CGM and EHR</a:t>
            </a:r>
          </a:p>
        </p:txBody>
      </p:sp>
      <p:sp>
        <p:nvSpPr>
          <p:cNvPr id="4" name="">
            <a:extLst xmlns:a="http://schemas.openxmlformats.org/drawingml/2006/main">
              <a:ext uri="{FF2B5EF4-FFF2-40B4-BE49-F238E27FC236}">
                <a16:creationId xmlns:a16="http://schemas.microsoft.com/office/drawing/2014/main" id="{655B7732-FEEC-49E1-9435-748EBB182CCD}"/>
              </a:ext>
            </a:extLst>
          </p:cNvPr>
          <p:cNvSpPr>
            <a:spLocks xmlns:a="http://schemas.openxmlformats.org/drawingml/2006/main" noGrp="1"/>
          </p:cNvSpPr>
          <p:nvPr/>
        </p:nvSpPr>
        <p:spPr>
          <a:xfrm xmlns:a="http://schemas.openxmlformats.org/drawingml/2006/main">
            <a:off x="647700" y="2800350"/>
            <a:ext cx="1076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325" b="0">
                <a:solidFill>
                  <a:srgbClr val="183C42"/>
                </a:solidFill>
                <a:latin typeface="Arial"/>
                <a:ea typeface="Arial"/>
                <a:cs typeface="Arial"/>
              </a:rPr>
              <a:t>02  UKF physiological prior</a:t>
            </a:r>
          </a:p>
        </p:txBody>
      </p:sp>
      <p:sp>
        <p:nvSpPr>
          <p:cNvPr id="5" name="">
            <a:extLst xmlns:a="http://schemas.openxmlformats.org/drawingml/2006/main">
              <a:ext uri="{FF2B5EF4-FFF2-40B4-BE49-F238E27FC236}">
                <a16:creationId xmlns:a16="http://schemas.microsoft.com/office/drawing/2014/main" id="{62BC2EC9-F8E7-4F3E-AEEB-2DF313A10B9C}"/>
              </a:ext>
            </a:extLst>
          </p:cNvPr>
          <p:cNvSpPr>
            <a:spLocks xmlns:a="http://schemas.openxmlformats.org/drawingml/2006/main" noGrp="1"/>
          </p:cNvSpPr>
          <p:nvPr/>
        </p:nvSpPr>
        <p:spPr>
          <a:xfrm xmlns:a="http://schemas.openxmlformats.org/drawingml/2006/main">
            <a:off x="647700" y="3552825"/>
            <a:ext cx="1076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325" b="0">
                <a:solidFill>
                  <a:srgbClr val="183C42"/>
                </a:solidFill>
                <a:latin typeface="Arial"/>
                <a:ea typeface="Arial"/>
                <a:cs typeface="Arial"/>
              </a:rPr>
              <a:t>03  PR-TFT forecast and risk</a:t>
            </a:r>
          </a:p>
        </p:txBody>
      </p:sp>
      <p:sp>
        <p:nvSpPr>
          <p:cNvPr id="6" name="">
            <a:extLst xmlns:a="http://schemas.openxmlformats.org/drawingml/2006/main">
              <a:ext uri="{FF2B5EF4-FFF2-40B4-BE49-F238E27FC236}">
                <a16:creationId xmlns:a16="http://schemas.microsoft.com/office/drawing/2014/main" id="{6F41856B-E9F4-42C4-86A7-6912D61F926A}"/>
              </a:ext>
            </a:extLst>
          </p:cNvPr>
          <p:cNvSpPr>
            <a:spLocks xmlns:a="http://schemas.openxmlformats.org/drawingml/2006/main" noGrp="1"/>
          </p:cNvSpPr>
          <p:nvPr/>
        </p:nvSpPr>
        <p:spPr>
          <a:xfrm xmlns:a="http://schemas.openxmlformats.org/drawingml/2006/main">
            <a:off x="647700" y="4305300"/>
            <a:ext cx="1076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325" b="0">
                <a:solidFill>
                  <a:srgbClr val="183C42"/>
                </a:solidFill>
                <a:latin typeface="Arial"/>
                <a:ea typeface="Arial"/>
                <a:cs typeface="Arial"/>
              </a:rPr>
              <a:t>04  FastAPI versioned contract</a:t>
            </a:r>
          </a:p>
        </p:txBody>
      </p:sp>
      <p:sp>
        <p:nvSpPr>
          <p:cNvPr id="7" name="">
            <a:extLst xmlns:a="http://schemas.openxmlformats.org/drawingml/2006/main">
              <a:ext uri="{FF2B5EF4-FFF2-40B4-BE49-F238E27FC236}">
                <a16:creationId xmlns:a16="http://schemas.microsoft.com/office/drawing/2014/main" id="{D45CA087-70AA-4F1E-AE55-6CE4FB185460}"/>
              </a:ext>
            </a:extLst>
          </p:cNvPr>
          <p:cNvSpPr>
            <a:spLocks xmlns:a="http://schemas.openxmlformats.org/drawingml/2006/main" noGrp="1"/>
          </p:cNvSpPr>
          <p:nvPr/>
        </p:nvSpPr>
        <p:spPr>
          <a:xfrm xmlns:a="http://schemas.openxmlformats.org/drawingml/2006/main">
            <a:off x="647700" y="5057775"/>
            <a:ext cx="10763250" cy="638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325" b="0">
                <a:solidFill>
                  <a:srgbClr val="183C42"/>
                </a:solidFill>
                <a:latin typeface="Arial"/>
                <a:ea typeface="Arial"/>
                <a:cs typeface="Arial"/>
              </a:rPr>
              <a:t>05  Next.js validation and workspace</a:t>
            </a:r>
          </a:p>
        </p:txBody>
      </p:sp>
      <p:sp>
        <p:nvSpPr>
          <p:cNvPr id="8" name="">
            <a:extLst xmlns:a="http://schemas.openxmlformats.org/drawingml/2006/main">
              <a:ext uri="{FF2B5EF4-FFF2-40B4-BE49-F238E27FC236}">
                <a16:creationId xmlns:a16="http://schemas.microsoft.com/office/drawing/2014/main" id="{EF4F2A23-4EFE-4DCC-9028-49BAAA4B1B8D}"/>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Synthetic research only. No clinical validation claimed.</a:t>
            </a:r>
          </a:p>
        </p:txBody>
      </p:sp>
      <p:sp>
        <p:nvSpPr>
          <p:cNvPr id="9" name="">
            <a:extLst xmlns:a="http://schemas.openxmlformats.org/drawingml/2006/main">
              <a:ext uri="{FF2B5EF4-FFF2-40B4-BE49-F238E27FC236}">
                <a16:creationId xmlns:a16="http://schemas.microsoft.com/office/drawing/2014/main" id="{A6616C8F-DE9B-42B0-B2A4-8251DFD72B1C}"/>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04</a:t>
            </a:r>
          </a:p>
        </p:txBody>
      </p:sp>
    </p:spTree>
    <p:extLst>
      <p:ext uri="{BB962C8B-B14F-4D97-AF65-F5344CB8AC3E}">
        <p14:creationId xmlns:p14="http://schemas.microsoft.com/office/powerpoint/2010/main" val="435837614"/>
      </p:ext>
    </p:extLst>
  </p:cSld>
</p:sld>
</file>

<file path=ppt/slides/slide5.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9715EA3-F1B6-405F-B5EE-A64F13F91B3B}"/>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42F307BE-7743-486D-8ADC-5521BCE9EBD3}"/>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A prior and a learned correction</a:t>
            </a:r>
          </a:p>
        </p:txBody>
      </p:sp>
      <p:sp>
        <p:nvSpPr>
          <p:cNvPr id="3" name="">
            <a:extLst xmlns:a="http://schemas.openxmlformats.org/drawingml/2006/main">
              <a:ext uri="{FF2B5EF4-FFF2-40B4-BE49-F238E27FC236}">
                <a16:creationId xmlns:a16="http://schemas.microsoft.com/office/drawing/2014/main" id="{84719E17-E8E9-4A58-87B4-DECEB169A069}"/>
              </a:ext>
            </a:extLst>
          </p:cNvPr>
          <p:cNvSpPr>
            <a:spLocks xmlns:a="http://schemas.openxmlformats.org/drawingml/2006/main" noGrp="1"/>
          </p:cNvSpPr>
          <p:nvPr/>
        </p:nvSpPr>
        <p:spPr>
          <a:xfrm xmlns:a="http://schemas.openxmlformats.org/drawingml/2006/main">
            <a:off x="647700" y="204787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183C42"/>
                </a:solidFill>
                <a:latin typeface="Arial"/>
                <a:ea typeface="Arial"/>
                <a:cs typeface="Arial"/>
              </a:defRPr>
            </a:defPPr>
            <a:lvl1pPr>
              <a:defRPr sz="2625" b="1">
                <a:solidFill>
                  <a:srgbClr val="183C42"/>
                </a:solidFill>
                <a:latin typeface="Arial"/>
                <a:ea typeface="Arial"/>
                <a:cs typeface="Arial"/>
              </a:defRPr>
            </a:lvl1pPr>
            <a:lvl2pPr>
              <a:defRPr sz="2625" b="1">
                <a:solidFill>
                  <a:srgbClr val="183C42"/>
                </a:solidFill>
                <a:latin typeface="Arial"/>
                <a:ea typeface="Arial"/>
                <a:cs typeface="Arial"/>
              </a:defRPr>
            </a:lvl2pPr>
            <a:lvl3pPr>
              <a:defRPr sz="2625" b="1">
                <a:solidFill>
                  <a:srgbClr val="183C42"/>
                </a:solidFill>
                <a:latin typeface="Arial"/>
                <a:ea typeface="Arial"/>
                <a:cs typeface="Arial"/>
              </a:defRPr>
            </a:lvl3pPr>
            <a:lvl4pPr>
              <a:defRPr sz="2625" b="1">
                <a:solidFill>
                  <a:srgbClr val="183C42"/>
                </a:solidFill>
                <a:latin typeface="Arial"/>
                <a:ea typeface="Arial"/>
                <a:cs typeface="Arial"/>
              </a:defRPr>
            </a:lvl4pPr>
            <a:lvl5pPr>
              <a:defRPr sz="2625" b="1">
                <a:solidFill>
                  <a:srgbClr val="183C42"/>
                </a:solidFill>
                <a:latin typeface="Arial"/>
                <a:ea typeface="Arial"/>
                <a:cs typeface="Arial"/>
              </a:defRPr>
            </a:lvl5pPr>
            <a:lvl6pPr>
              <a:defRPr sz="2625" b="1">
                <a:solidFill>
                  <a:srgbClr val="183C42"/>
                </a:solidFill>
                <a:latin typeface="Arial"/>
                <a:ea typeface="Arial"/>
                <a:cs typeface="Arial"/>
              </a:defRPr>
            </a:lvl6pPr>
            <a:lvl7pPr>
              <a:defRPr sz="2625" b="1">
                <a:solidFill>
                  <a:srgbClr val="183C42"/>
                </a:solidFill>
                <a:latin typeface="Arial"/>
                <a:ea typeface="Arial"/>
                <a:cs typeface="Arial"/>
              </a:defRPr>
            </a:lvl7pPr>
            <a:lvl8pPr>
              <a:defRPr sz="2625" b="1">
                <a:solidFill>
                  <a:srgbClr val="183C42"/>
                </a:solidFill>
                <a:latin typeface="Arial"/>
                <a:ea typeface="Arial"/>
                <a:cs typeface="Arial"/>
              </a:defRPr>
            </a:lvl8pPr>
            <a:lvl9pPr>
              <a:defRPr sz="2625" b="1">
                <a:solidFill>
                  <a:srgbClr val="183C42"/>
                </a:solidFill>
                <a:latin typeface="Arial"/>
                <a:ea typeface="Arial"/>
                <a:cs typeface="Arial"/>
              </a:defRPr>
            </a:lvl9pPr>
          </a:lstStyle>
          <a:p xmlns:a="http://schemas.openxmlformats.org/drawingml/2006/main">
            <a:pPr>
              <a:defRPr sz="2625" b="1">
                <a:solidFill>
                  <a:srgbClr val="183C42"/>
                </a:solidFill>
                <a:latin typeface="Arial"/>
                <a:ea typeface="Arial"/>
                <a:cs typeface="Arial"/>
              </a:defRPr>
            </a:pPr>
            <a:r>
              <a:rPr sz="2625" b="1">
                <a:solidFill>
                  <a:srgbClr val="183C42"/>
                </a:solidFill>
                <a:latin typeface="Arial"/>
                <a:ea typeface="Arial"/>
                <a:cs typeface="Arial"/>
              </a:rPr>
              <a:t>UKF prior: a simplified physiological trajectory</a:t>
            </a:r>
          </a:p>
        </p:txBody>
      </p:sp>
      <p:sp>
        <p:nvSpPr>
          <p:cNvPr id="4" name="">
            <a:extLst xmlns:a="http://schemas.openxmlformats.org/drawingml/2006/main">
              <a:ext uri="{FF2B5EF4-FFF2-40B4-BE49-F238E27FC236}">
                <a16:creationId xmlns:a16="http://schemas.microsoft.com/office/drawing/2014/main" id="{99BC0268-3990-4912-883A-E36D4261E0CA}"/>
              </a:ext>
            </a:extLst>
          </p:cNvPr>
          <p:cNvSpPr>
            <a:spLocks xmlns:a="http://schemas.openxmlformats.org/drawingml/2006/main" noGrp="1"/>
          </p:cNvSpPr>
          <p:nvPr/>
        </p:nvSpPr>
        <p:spPr>
          <a:xfrm xmlns:a="http://schemas.openxmlformats.org/drawingml/2006/main">
            <a:off x="647700" y="304800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PR-TFT: learned forecasting from observable context</a:t>
            </a:r>
          </a:p>
        </p:txBody>
      </p:sp>
      <p:sp>
        <p:nvSpPr>
          <p:cNvPr id="5" name="">
            <a:extLst xmlns:a="http://schemas.openxmlformats.org/drawingml/2006/main">
              <a:ext uri="{FF2B5EF4-FFF2-40B4-BE49-F238E27FC236}">
                <a16:creationId xmlns:a16="http://schemas.microsoft.com/office/drawing/2014/main" id="{045D3781-BF4D-4DAE-B3F6-02195C2E4622}"/>
              </a:ext>
            </a:extLst>
          </p:cNvPr>
          <p:cNvSpPr>
            <a:spLocks xmlns:a="http://schemas.openxmlformats.org/drawingml/2006/main" noGrp="1"/>
          </p:cNvSpPr>
          <p:nvPr/>
        </p:nvSpPr>
        <p:spPr>
          <a:xfrm xmlns:a="http://schemas.openxmlformats.org/drawingml/2006/main">
            <a:off x="647700" y="404812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Checkpoint identity does not prove clinical validity</a:t>
            </a:r>
          </a:p>
        </p:txBody>
      </p:sp>
      <p:sp>
        <p:nvSpPr>
          <p:cNvPr id="6" name="">
            <a:extLst xmlns:a="http://schemas.openxmlformats.org/drawingml/2006/main">
              <a:ext uri="{FF2B5EF4-FFF2-40B4-BE49-F238E27FC236}">
                <a16:creationId xmlns:a16="http://schemas.microsoft.com/office/drawing/2014/main" id="{D045967E-05DA-44B1-86B5-84FD731D235F}"/>
              </a:ext>
            </a:extLst>
          </p:cNvPr>
          <p:cNvSpPr>
            <a:spLocks xmlns:a="http://schemas.openxmlformats.org/drawingml/2006/main" noGrp="1"/>
          </p:cNvSpPr>
          <p:nvPr/>
        </p:nvSpPr>
        <p:spPr>
          <a:xfrm xmlns:a="http://schemas.openxmlformats.org/drawingml/2006/main">
            <a:off x="647700" y="504825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183C42"/>
                </a:solidFill>
                <a:latin typeface="Arial"/>
                <a:ea typeface="Arial"/>
                <a:cs typeface="Arial"/>
              </a:defRPr>
            </a:defPPr>
            <a:lvl1pPr>
              <a:defRPr sz="2625" b="0">
                <a:solidFill>
                  <a:srgbClr val="183C42"/>
                </a:solidFill>
                <a:latin typeface="Arial"/>
                <a:ea typeface="Arial"/>
                <a:cs typeface="Arial"/>
              </a:defRPr>
            </a:lvl1pPr>
            <a:lvl2pPr>
              <a:defRPr sz="2625" b="0">
                <a:solidFill>
                  <a:srgbClr val="183C42"/>
                </a:solidFill>
                <a:latin typeface="Arial"/>
                <a:ea typeface="Arial"/>
                <a:cs typeface="Arial"/>
              </a:defRPr>
            </a:lvl2pPr>
            <a:lvl3pPr>
              <a:defRPr sz="2625" b="0">
                <a:solidFill>
                  <a:srgbClr val="183C42"/>
                </a:solidFill>
                <a:latin typeface="Arial"/>
                <a:ea typeface="Arial"/>
                <a:cs typeface="Arial"/>
              </a:defRPr>
            </a:lvl3pPr>
            <a:lvl4pPr>
              <a:defRPr sz="2625" b="0">
                <a:solidFill>
                  <a:srgbClr val="183C42"/>
                </a:solidFill>
                <a:latin typeface="Arial"/>
                <a:ea typeface="Arial"/>
                <a:cs typeface="Arial"/>
              </a:defRPr>
            </a:lvl4pPr>
            <a:lvl5pPr>
              <a:defRPr sz="2625" b="0">
                <a:solidFill>
                  <a:srgbClr val="183C42"/>
                </a:solidFill>
                <a:latin typeface="Arial"/>
                <a:ea typeface="Arial"/>
                <a:cs typeface="Arial"/>
              </a:defRPr>
            </a:lvl5pPr>
            <a:lvl6pPr>
              <a:defRPr sz="2625" b="0">
                <a:solidFill>
                  <a:srgbClr val="183C42"/>
                </a:solidFill>
                <a:latin typeface="Arial"/>
                <a:ea typeface="Arial"/>
                <a:cs typeface="Arial"/>
              </a:defRPr>
            </a:lvl6pPr>
            <a:lvl7pPr>
              <a:defRPr sz="2625" b="0">
                <a:solidFill>
                  <a:srgbClr val="183C42"/>
                </a:solidFill>
                <a:latin typeface="Arial"/>
                <a:ea typeface="Arial"/>
                <a:cs typeface="Arial"/>
              </a:defRPr>
            </a:lvl7pPr>
            <a:lvl8pPr>
              <a:defRPr sz="2625" b="0">
                <a:solidFill>
                  <a:srgbClr val="183C42"/>
                </a:solidFill>
                <a:latin typeface="Arial"/>
                <a:ea typeface="Arial"/>
                <a:cs typeface="Arial"/>
              </a:defRPr>
            </a:lvl8pPr>
            <a:lvl9pPr>
              <a:defRPr sz="2625" b="0">
                <a:solidFill>
                  <a:srgbClr val="183C42"/>
                </a:solidFill>
                <a:latin typeface="Arial"/>
                <a:ea typeface="Arial"/>
                <a:cs typeface="Arial"/>
              </a:defRPr>
            </a:lvl9pPr>
          </a:lstStyle>
          <a:p xmlns:a="http://schemas.openxmlformats.org/drawingml/2006/main">
            <a:pPr>
              <a:defRPr sz="2625" b="0">
                <a:solidFill>
                  <a:srgbClr val="183C42"/>
                </a:solidFill>
                <a:latin typeface="Arial"/>
                <a:ea typeface="Arial"/>
                <a:cs typeface="Arial"/>
              </a:defRPr>
            </a:pPr>
            <a:r>
              <a:rPr sz="2625" b="0">
                <a:solidFill>
                  <a:srgbClr val="183C42"/>
                </a:solidFill>
                <a:latin typeface="Arial"/>
                <a:ea typeface="Arial"/>
                <a:cs typeface="Arial"/>
              </a:rPr>
              <a:t>Training manifest records a dirty working tree</a:t>
            </a:r>
          </a:p>
        </p:txBody>
      </p:sp>
      <p:sp>
        <p:nvSpPr>
          <p:cNvPr id="7" name="">
            <a:extLst xmlns:a="http://schemas.openxmlformats.org/drawingml/2006/main">
              <a:ext uri="{FF2B5EF4-FFF2-40B4-BE49-F238E27FC236}">
                <a16:creationId xmlns:a16="http://schemas.microsoft.com/office/drawing/2014/main" id="{63B42D57-8D1F-4594-85C5-FA7DAB108807}"/>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Synthetic research only. No clinical validation claimed.</a:t>
            </a:r>
          </a:p>
        </p:txBody>
      </p:sp>
      <p:sp>
        <p:nvSpPr>
          <p:cNvPr id="8" name="">
            <a:extLst xmlns:a="http://schemas.openxmlformats.org/drawingml/2006/main">
              <a:ext uri="{FF2B5EF4-FFF2-40B4-BE49-F238E27FC236}">
                <a16:creationId xmlns:a16="http://schemas.microsoft.com/office/drawing/2014/main" id="{E85329E5-40B8-4653-8BBE-AA9B1297D2B3}"/>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05</a:t>
            </a:r>
          </a:p>
        </p:txBody>
      </p:sp>
    </p:spTree>
    <p:extLst>
      <p:ext uri="{BB962C8B-B14F-4D97-AF65-F5344CB8AC3E}">
        <p14:creationId xmlns:p14="http://schemas.microsoft.com/office/powerpoint/2010/main" val="98706745"/>
      </p:ext>
    </p:extLst>
  </p:cSld>
</p:sld>
</file>

<file path=ppt/slides/slide6.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98B7FDD9-C946-405C-AC6F-031212DACB87}"/>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BCE89EB3-A5C3-44A3-BB4C-337615C34B23}"/>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Reading a forecast</a:t>
            </a:r>
          </a:p>
        </p:txBody>
      </p:sp>
      <p:pic>
        <p:nvPicPr>
          <p:cNvPr id="3" name="">
            <a:extLst xmlns:a="http://schemas.openxmlformats.org/drawingml/2006/main">
              <a:ext uri="{FF2B5EF4-FFF2-40B4-BE49-F238E27FC236}">
                <a16:creationId xmlns:a16="http://schemas.microsoft.com/office/drawing/2014/main" id="{D5607E3D-F1F7-45E4-8C80-09DCE52AF459}"/>
              </a:ext>
            </a:extLst>
          </p:cNvPr>
          <p:cNvPicPr>
            <a:picLocks xmlns:a="http://schemas.openxmlformats.org/drawingml/2006/main" noChangeAspect="1"/>
          </p:cNvPicPr>
          <p:nvPr/>
        </p:nvPicPr>
        <p:blipFill>
          <a:blip xmlns:r="http://schemas.openxmlformats.org/officeDocument/2006/relationships" xmlns:a="http://schemas.openxmlformats.org/drawingml/2006/main" r:embed="R2c6e6d4d94b74a7e"/>
          <a:stretch xmlns:a="http://schemas.openxmlformats.org/drawingml/2006/main"/>
        </p:blipFill>
        <p:spPr>
          <a:xfrm xmlns:a="http://schemas.openxmlformats.org/drawingml/2006/main">
            <a:off x="609600" y="1819275"/>
            <a:ext cx="7277100" cy="454818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7F2BA2A8-BAEE-433B-97A2-7BE60C2791DF}"/>
              </a:ext>
            </a:extLst>
          </p:cNvPr>
          <p:cNvSpPr>
            <a:spLocks xmlns:a="http://schemas.openxmlformats.org/drawingml/2006/main" noGrp="1"/>
          </p:cNvSpPr>
          <p:nvPr/>
        </p:nvSpPr>
        <p:spPr>
          <a:xfrm xmlns:a="http://schemas.openxmlformats.org/drawingml/2006/main">
            <a:off x="8286750" y="20002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83C42"/>
                </a:solidFill>
                <a:latin typeface="Arial"/>
                <a:ea typeface="Arial"/>
                <a:cs typeface="Arial"/>
              </a:defRPr>
            </a:defPPr>
            <a:lvl1pPr>
              <a:defRPr sz="2025" b="1">
                <a:solidFill>
                  <a:srgbClr val="183C42"/>
                </a:solidFill>
                <a:latin typeface="Arial"/>
                <a:ea typeface="Arial"/>
                <a:cs typeface="Arial"/>
              </a:defRPr>
            </a:lvl1pPr>
            <a:lvl2pPr>
              <a:defRPr sz="2025" b="1">
                <a:solidFill>
                  <a:srgbClr val="183C42"/>
                </a:solidFill>
                <a:latin typeface="Arial"/>
                <a:ea typeface="Arial"/>
                <a:cs typeface="Arial"/>
              </a:defRPr>
            </a:lvl2pPr>
            <a:lvl3pPr>
              <a:defRPr sz="2025" b="1">
                <a:solidFill>
                  <a:srgbClr val="183C42"/>
                </a:solidFill>
                <a:latin typeface="Arial"/>
                <a:ea typeface="Arial"/>
                <a:cs typeface="Arial"/>
              </a:defRPr>
            </a:lvl3pPr>
            <a:lvl4pPr>
              <a:defRPr sz="2025" b="1">
                <a:solidFill>
                  <a:srgbClr val="183C42"/>
                </a:solidFill>
                <a:latin typeface="Arial"/>
                <a:ea typeface="Arial"/>
                <a:cs typeface="Arial"/>
              </a:defRPr>
            </a:lvl4pPr>
            <a:lvl5pPr>
              <a:defRPr sz="2025" b="1">
                <a:solidFill>
                  <a:srgbClr val="183C42"/>
                </a:solidFill>
                <a:latin typeface="Arial"/>
                <a:ea typeface="Arial"/>
                <a:cs typeface="Arial"/>
              </a:defRPr>
            </a:lvl5pPr>
            <a:lvl6pPr>
              <a:defRPr sz="2025" b="1">
                <a:solidFill>
                  <a:srgbClr val="183C42"/>
                </a:solidFill>
                <a:latin typeface="Arial"/>
                <a:ea typeface="Arial"/>
                <a:cs typeface="Arial"/>
              </a:defRPr>
            </a:lvl6pPr>
            <a:lvl7pPr>
              <a:defRPr sz="2025" b="1">
                <a:solidFill>
                  <a:srgbClr val="183C42"/>
                </a:solidFill>
                <a:latin typeface="Arial"/>
                <a:ea typeface="Arial"/>
                <a:cs typeface="Arial"/>
              </a:defRPr>
            </a:lvl7pPr>
            <a:lvl8pPr>
              <a:defRPr sz="2025" b="1">
                <a:solidFill>
                  <a:srgbClr val="183C42"/>
                </a:solidFill>
                <a:latin typeface="Arial"/>
                <a:ea typeface="Arial"/>
                <a:cs typeface="Arial"/>
              </a:defRPr>
            </a:lvl8pPr>
            <a:lvl9pPr>
              <a:defRPr sz="2025" b="1">
                <a:solidFill>
                  <a:srgbClr val="183C42"/>
                </a:solidFill>
                <a:latin typeface="Arial"/>
                <a:ea typeface="Arial"/>
                <a:cs typeface="Arial"/>
              </a:defRPr>
            </a:lvl9pPr>
          </a:lstStyle>
          <a:p xmlns:a="http://schemas.openxmlformats.org/drawingml/2006/main">
            <a:pPr>
              <a:defRPr sz="2025" b="1">
                <a:solidFill>
                  <a:srgbClr val="183C42"/>
                </a:solidFill>
                <a:latin typeface="Arial"/>
                <a:ea typeface="Arial"/>
                <a:cs typeface="Arial"/>
              </a:defRPr>
            </a:pPr>
            <a:r>
              <a:rPr sz="2025" b="1">
                <a:solidFill>
                  <a:srgbClr val="183C42"/>
                </a:solidFill>
                <a:latin typeface="Arial"/>
                <a:ea typeface="Arial"/>
                <a:cs typeface="Arial"/>
              </a:rPr>
              <a:t>120-minute horizon, five-minute steps</a:t>
            </a:r>
          </a:p>
        </p:txBody>
      </p:sp>
      <p:sp>
        <p:nvSpPr>
          <p:cNvPr id="5" name="">
            <a:extLst xmlns:a="http://schemas.openxmlformats.org/drawingml/2006/main">
              <a:ext uri="{FF2B5EF4-FFF2-40B4-BE49-F238E27FC236}">
                <a16:creationId xmlns:a16="http://schemas.microsoft.com/office/drawing/2014/main" id="{8D05D846-02D9-48BF-8817-C62C19F43A1C}"/>
              </a:ext>
            </a:extLst>
          </p:cNvPr>
          <p:cNvSpPr>
            <a:spLocks xmlns:a="http://schemas.openxmlformats.org/drawingml/2006/main" noGrp="1"/>
          </p:cNvSpPr>
          <p:nvPr/>
        </p:nvSpPr>
        <p:spPr>
          <a:xfrm xmlns:a="http://schemas.openxmlformats.org/drawingml/2006/main">
            <a:off x="8286750" y="30670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Median and uncertainty answer different questions</a:t>
            </a:r>
          </a:p>
        </p:txBody>
      </p:sp>
      <p:sp>
        <p:nvSpPr>
          <p:cNvPr id="6" name="">
            <a:extLst xmlns:a="http://schemas.openxmlformats.org/drawingml/2006/main">
              <a:ext uri="{FF2B5EF4-FFF2-40B4-BE49-F238E27FC236}">
                <a16:creationId xmlns:a16="http://schemas.microsoft.com/office/drawing/2014/main" id="{A6FA3959-CDE2-4739-940A-6054FBEFC5B4}"/>
              </a:ext>
            </a:extLst>
          </p:cNvPr>
          <p:cNvSpPr>
            <a:spLocks xmlns:a="http://schemas.openxmlformats.org/drawingml/2006/main" noGrp="1"/>
          </p:cNvSpPr>
          <p:nvPr/>
        </p:nvSpPr>
        <p:spPr>
          <a:xfrm xmlns:a="http://schemas.openxmlformats.org/drawingml/2006/main">
            <a:off x="8286750" y="41338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Recorded synthetic replay</a:t>
            </a:r>
          </a:p>
        </p:txBody>
      </p:sp>
      <p:sp>
        <p:nvSpPr>
          <p:cNvPr id="7" name="">
            <a:extLst xmlns:a="http://schemas.openxmlformats.org/drawingml/2006/main">
              <a:ext uri="{FF2B5EF4-FFF2-40B4-BE49-F238E27FC236}">
                <a16:creationId xmlns:a16="http://schemas.microsoft.com/office/drawing/2014/main" id="{EE0495EA-BC2D-4AAB-9E25-685B05232FF3}"/>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Recorded screenshot: synthetic subject P0001 (training split); provenance in notes.  Synthetic research only. No clinical validation claimed.</a:t>
            </a:r>
          </a:p>
        </p:txBody>
      </p:sp>
      <p:sp>
        <p:nvSpPr>
          <p:cNvPr id="8" name="">
            <a:extLst xmlns:a="http://schemas.openxmlformats.org/drawingml/2006/main">
              <a:ext uri="{FF2B5EF4-FFF2-40B4-BE49-F238E27FC236}">
                <a16:creationId xmlns:a16="http://schemas.microsoft.com/office/drawing/2014/main" id="{BE970F16-42D4-4283-BBE4-B3D637BD7BF9}"/>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06</a:t>
            </a:r>
          </a:p>
        </p:txBody>
      </p:sp>
    </p:spTree>
    <p:extLst>
      <p:ext uri="{BB962C8B-B14F-4D97-AF65-F5344CB8AC3E}">
        <p14:creationId xmlns:p14="http://schemas.microsoft.com/office/powerpoint/2010/main" val="331252255"/>
      </p:ext>
    </p:extLst>
  </p:cSld>
</p:sld>
</file>

<file path=ppt/slides/slide7.xml><?xml version="1.0" encoding="utf-8"?>
<p:sld xmlns:p="http://schemas.openxmlformats.org/presentationml/2006/main">
  <p:cSld>
    <p:bg>
      <p:bgPr>
        <a:solidFill xmlns:a="http://schemas.openxmlformats.org/drawingml/2006/main">
          <a:srgbClr val="123A4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E50D66B-8BE9-4D47-8784-E935A7738E14}"/>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BD4CA"/>
                </a:solidFill>
                <a:latin typeface="Arial"/>
                <a:ea typeface="Arial"/>
                <a:cs typeface="Arial"/>
              </a:defRPr>
            </a:defPPr>
            <a:lvl1pPr>
              <a:defRPr sz="1350" b="0">
                <a:solidFill>
                  <a:srgbClr val="ABD4CA"/>
                </a:solidFill>
                <a:latin typeface="Arial"/>
                <a:ea typeface="Arial"/>
                <a:cs typeface="Arial"/>
              </a:defRPr>
            </a:lvl1pPr>
            <a:lvl2pPr>
              <a:defRPr sz="1350" b="0">
                <a:solidFill>
                  <a:srgbClr val="ABD4CA"/>
                </a:solidFill>
                <a:latin typeface="Arial"/>
                <a:ea typeface="Arial"/>
                <a:cs typeface="Arial"/>
              </a:defRPr>
            </a:lvl2pPr>
            <a:lvl3pPr>
              <a:defRPr sz="1350" b="0">
                <a:solidFill>
                  <a:srgbClr val="ABD4CA"/>
                </a:solidFill>
                <a:latin typeface="Arial"/>
                <a:ea typeface="Arial"/>
                <a:cs typeface="Arial"/>
              </a:defRPr>
            </a:lvl3pPr>
            <a:lvl4pPr>
              <a:defRPr sz="1350" b="0">
                <a:solidFill>
                  <a:srgbClr val="ABD4CA"/>
                </a:solidFill>
                <a:latin typeface="Arial"/>
                <a:ea typeface="Arial"/>
                <a:cs typeface="Arial"/>
              </a:defRPr>
            </a:lvl4pPr>
            <a:lvl5pPr>
              <a:defRPr sz="1350" b="0">
                <a:solidFill>
                  <a:srgbClr val="ABD4CA"/>
                </a:solidFill>
                <a:latin typeface="Arial"/>
                <a:ea typeface="Arial"/>
                <a:cs typeface="Arial"/>
              </a:defRPr>
            </a:lvl5pPr>
            <a:lvl6pPr>
              <a:defRPr sz="1350" b="0">
                <a:solidFill>
                  <a:srgbClr val="ABD4CA"/>
                </a:solidFill>
                <a:latin typeface="Arial"/>
                <a:ea typeface="Arial"/>
                <a:cs typeface="Arial"/>
              </a:defRPr>
            </a:lvl6pPr>
            <a:lvl7pPr>
              <a:defRPr sz="1350" b="0">
                <a:solidFill>
                  <a:srgbClr val="ABD4CA"/>
                </a:solidFill>
                <a:latin typeface="Arial"/>
                <a:ea typeface="Arial"/>
                <a:cs typeface="Arial"/>
              </a:defRPr>
            </a:lvl7pPr>
            <a:lvl8pPr>
              <a:defRPr sz="1350" b="0">
                <a:solidFill>
                  <a:srgbClr val="ABD4CA"/>
                </a:solidFill>
                <a:latin typeface="Arial"/>
                <a:ea typeface="Arial"/>
                <a:cs typeface="Arial"/>
              </a:defRPr>
            </a:lvl8pPr>
            <a:lvl9pPr>
              <a:defRPr sz="1350" b="0">
                <a:solidFill>
                  <a:srgbClr val="ABD4CA"/>
                </a:solidFill>
                <a:latin typeface="Arial"/>
                <a:ea typeface="Arial"/>
                <a:cs typeface="Arial"/>
              </a:defRPr>
            </a:lvl9pPr>
          </a:lstStyle>
          <a:p xmlns:a="http://schemas.openxmlformats.org/drawingml/2006/main">
            <a:pPr>
              <a:defRPr sz="1350" b="0">
                <a:solidFill>
                  <a:srgbClr val="ABD4CA"/>
                </a:solidFill>
                <a:latin typeface="Arial"/>
                <a:ea typeface="Arial"/>
                <a:cs typeface="Arial"/>
              </a:defRPr>
            </a:pPr>
            <a:r>
              <a:rPr sz="1350" b="0">
                <a:solidFill>
                  <a:srgbClr val="ABD4CA"/>
                </a:solidFill>
                <a:latin typeface="Arial"/>
                <a:ea typeface="Arial"/>
                <a:cs typeface="Arial"/>
              </a:rPr>
              <a:t>Nikhil + Akshaya</a:t>
            </a:r>
          </a:p>
        </p:txBody>
      </p:sp>
      <p:sp>
        <p:nvSpPr>
          <p:cNvPr id="2" name="">
            <a:extLst xmlns:a="http://schemas.openxmlformats.org/drawingml/2006/main">
              <a:ext uri="{FF2B5EF4-FFF2-40B4-BE49-F238E27FC236}">
                <a16:creationId xmlns:a16="http://schemas.microsoft.com/office/drawing/2014/main" id="{31ADCD2E-D3DD-496B-9D31-0E146C5BA7A5}"/>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F5F3EC"/>
                </a:solidFill>
                <a:latin typeface="Arial"/>
                <a:ea typeface="Arial"/>
                <a:cs typeface="Arial"/>
              </a:defRPr>
            </a:defPPr>
            <a:lvl1pPr>
              <a:defRPr sz="3600" b="1">
                <a:solidFill>
                  <a:srgbClr val="F5F3EC"/>
                </a:solidFill>
                <a:latin typeface="Arial"/>
                <a:ea typeface="Arial"/>
                <a:cs typeface="Arial"/>
              </a:defRPr>
            </a:lvl1pPr>
            <a:lvl2pPr>
              <a:defRPr sz="3600" b="1">
                <a:solidFill>
                  <a:srgbClr val="F5F3EC"/>
                </a:solidFill>
                <a:latin typeface="Arial"/>
                <a:ea typeface="Arial"/>
                <a:cs typeface="Arial"/>
              </a:defRPr>
            </a:lvl2pPr>
            <a:lvl3pPr>
              <a:defRPr sz="3600" b="1">
                <a:solidFill>
                  <a:srgbClr val="F5F3EC"/>
                </a:solidFill>
                <a:latin typeface="Arial"/>
                <a:ea typeface="Arial"/>
                <a:cs typeface="Arial"/>
              </a:defRPr>
            </a:lvl3pPr>
            <a:lvl4pPr>
              <a:defRPr sz="3600" b="1">
                <a:solidFill>
                  <a:srgbClr val="F5F3EC"/>
                </a:solidFill>
                <a:latin typeface="Arial"/>
                <a:ea typeface="Arial"/>
                <a:cs typeface="Arial"/>
              </a:defRPr>
            </a:lvl4pPr>
            <a:lvl5pPr>
              <a:defRPr sz="3600" b="1">
                <a:solidFill>
                  <a:srgbClr val="F5F3EC"/>
                </a:solidFill>
                <a:latin typeface="Arial"/>
                <a:ea typeface="Arial"/>
                <a:cs typeface="Arial"/>
              </a:defRPr>
            </a:lvl5pPr>
            <a:lvl6pPr>
              <a:defRPr sz="3600" b="1">
                <a:solidFill>
                  <a:srgbClr val="F5F3EC"/>
                </a:solidFill>
                <a:latin typeface="Arial"/>
                <a:ea typeface="Arial"/>
                <a:cs typeface="Arial"/>
              </a:defRPr>
            </a:lvl6pPr>
            <a:lvl7pPr>
              <a:defRPr sz="3600" b="1">
                <a:solidFill>
                  <a:srgbClr val="F5F3EC"/>
                </a:solidFill>
                <a:latin typeface="Arial"/>
                <a:ea typeface="Arial"/>
                <a:cs typeface="Arial"/>
              </a:defRPr>
            </a:lvl7pPr>
            <a:lvl8pPr>
              <a:defRPr sz="3600" b="1">
                <a:solidFill>
                  <a:srgbClr val="F5F3EC"/>
                </a:solidFill>
                <a:latin typeface="Arial"/>
                <a:ea typeface="Arial"/>
                <a:cs typeface="Arial"/>
              </a:defRPr>
            </a:lvl8pPr>
            <a:lvl9pPr>
              <a:defRPr sz="3600" b="1">
                <a:solidFill>
                  <a:srgbClr val="F5F3EC"/>
                </a:solidFill>
                <a:latin typeface="Arial"/>
                <a:ea typeface="Arial"/>
                <a:cs typeface="Arial"/>
              </a:defRPr>
            </a:lvl9pPr>
          </a:lstStyle>
          <a:p xmlns:a="http://schemas.openxmlformats.org/drawingml/2006/main">
            <a:pPr>
              <a:defRPr sz="3600" b="1">
                <a:solidFill>
                  <a:srgbClr val="F5F3EC"/>
                </a:solidFill>
                <a:latin typeface="Arial"/>
                <a:ea typeface="Arial"/>
                <a:cs typeface="Arial"/>
              </a:defRPr>
            </a:pPr>
            <a:r>
              <a:rPr sz="3600" b="1">
                <a:solidFill>
                  <a:srgbClr val="F5F3EC"/>
                </a:solidFill>
                <a:latin typeface="Arial"/>
                <a:ea typeface="Arial"/>
                <a:cs typeface="Arial"/>
              </a:rPr>
              <a:t>One subject, successive updates</a:t>
            </a:r>
          </a:p>
        </p:txBody>
      </p:sp>
      <p:sp>
        <p:nvSpPr>
          <p:cNvPr id="3" name="">
            <a:extLst xmlns:a="http://schemas.openxmlformats.org/drawingml/2006/main">
              <a:ext uri="{FF2B5EF4-FFF2-40B4-BE49-F238E27FC236}">
                <a16:creationId xmlns:a16="http://schemas.microsoft.com/office/drawing/2014/main" id="{8E35A0D7-B5E1-4627-A3A7-1DF4F5398E65}"/>
              </a:ext>
            </a:extLst>
          </p:cNvPr>
          <p:cNvSpPr>
            <a:spLocks xmlns:a="http://schemas.openxmlformats.org/drawingml/2006/main" noGrp="1"/>
          </p:cNvSpPr>
          <p:nvPr/>
        </p:nvSpPr>
        <p:spPr>
          <a:xfrm xmlns:a="http://schemas.openxmlformats.org/drawingml/2006/main">
            <a:off x="647700" y="204787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1">
                <a:solidFill>
                  <a:srgbClr val="F5F3EC"/>
                </a:solidFill>
                <a:latin typeface="Arial"/>
                <a:ea typeface="Arial"/>
                <a:cs typeface="Arial"/>
              </a:defRPr>
            </a:defPPr>
            <a:lvl1pPr>
              <a:defRPr sz="2625" b="1">
                <a:solidFill>
                  <a:srgbClr val="F5F3EC"/>
                </a:solidFill>
                <a:latin typeface="Arial"/>
                <a:ea typeface="Arial"/>
                <a:cs typeface="Arial"/>
              </a:defRPr>
            </a:lvl1pPr>
            <a:lvl2pPr>
              <a:defRPr sz="2625" b="1">
                <a:solidFill>
                  <a:srgbClr val="F5F3EC"/>
                </a:solidFill>
                <a:latin typeface="Arial"/>
                <a:ea typeface="Arial"/>
                <a:cs typeface="Arial"/>
              </a:defRPr>
            </a:lvl2pPr>
            <a:lvl3pPr>
              <a:defRPr sz="2625" b="1">
                <a:solidFill>
                  <a:srgbClr val="F5F3EC"/>
                </a:solidFill>
                <a:latin typeface="Arial"/>
                <a:ea typeface="Arial"/>
                <a:cs typeface="Arial"/>
              </a:defRPr>
            </a:lvl3pPr>
            <a:lvl4pPr>
              <a:defRPr sz="2625" b="1">
                <a:solidFill>
                  <a:srgbClr val="F5F3EC"/>
                </a:solidFill>
                <a:latin typeface="Arial"/>
                <a:ea typeface="Arial"/>
                <a:cs typeface="Arial"/>
              </a:defRPr>
            </a:lvl4pPr>
            <a:lvl5pPr>
              <a:defRPr sz="2625" b="1">
                <a:solidFill>
                  <a:srgbClr val="F5F3EC"/>
                </a:solidFill>
                <a:latin typeface="Arial"/>
                <a:ea typeface="Arial"/>
                <a:cs typeface="Arial"/>
              </a:defRPr>
            </a:lvl5pPr>
            <a:lvl6pPr>
              <a:defRPr sz="2625" b="1">
                <a:solidFill>
                  <a:srgbClr val="F5F3EC"/>
                </a:solidFill>
                <a:latin typeface="Arial"/>
                <a:ea typeface="Arial"/>
                <a:cs typeface="Arial"/>
              </a:defRPr>
            </a:lvl6pPr>
            <a:lvl7pPr>
              <a:defRPr sz="2625" b="1">
                <a:solidFill>
                  <a:srgbClr val="F5F3EC"/>
                </a:solidFill>
                <a:latin typeface="Arial"/>
                <a:ea typeface="Arial"/>
                <a:cs typeface="Arial"/>
              </a:defRPr>
            </a:lvl7pPr>
            <a:lvl8pPr>
              <a:defRPr sz="2625" b="1">
                <a:solidFill>
                  <a:srgbClr val="F5F3EC"/>
                </a:solidFill>
                <a:latin typeface="Arial"/>
                <a:ea typeface="Arial"/>
                <a:cs typeface="Arial"/>
              </a:defRPr>
            </a:lvl8pPr>
            <a:lvl9pPr>
              <a:defRPr sz="2625" b="1">
                <a:solidFill>
                  <a:srgbClr val="F5F3EC"/>
                </a:solidFill>
                <a:latin typeface="Arial"/>
                <a:ea typeface="Arial"/>
                <a:cs typeface="Arial"/>
              </a:defRPr>
            </a:lvl9pPr>
          </a:lstStyle>
          <a:p xmlns:a="http://schemas.openxmlformats.org/drawingml/2006/main">
            <a:pPr>
              <a:defRPr sz="2625" b="1">
                <a:solidFill>
                  <a:srgbClr val="F5F3EC"/>
                </a:solidFill>
                <a:latin typeface="Arial"/>
                <a:ea typeface="Arial"/>
                <a:cs typeface="Arial"/>
              </a:defRPr>
            </a:pPr>
            <a:r>
              <a:rPr sz="2625" b="1">
                <a:solidFill>
                  <a:srgbClr val="F5F3EC"/>
                </a:solidFill>
                <a:latin typeface="Arial"/>
                <a:ea typeface="Arial"/>
                <a:cs typeface="Arial"/>
              </a:rPr>
              <a:t>Connected synthetic application</a:t>
            </a:r>
          </a:p>
        </p:txBody>
      </p:sp>
      <p:sp>
        <p:nvSpPr>
          <p:cNvPr id="4" name="">
            <a:extLst xmlns:a="http://schemas.openxmlformats.org/drawingml/2006/main">
              <a:ext uri="{FF2B5EF4-FFF2-40B4-BE49-F238E27FC236}">
                <a16:creationId xmlns:a16="http://schemas.microsoft.com/office/drawing/2014/main" id="{311416CD-5CE9-4C05-96E5-20D4B4BCABBB}"/>
              </a:ext>
            </a:extLst>
          </p:cNvPr>
          <p:cNvSpPr>
            <a:spLocks xmlns:a="http://schemas.openxmlformats.org/drawingml/2006/main" noGrp="1"/>
          </p:cNvSpPr>
          <p:nvPr/>
        </p:nvSpPr>
        <p:spPr>
          <a:xfrm xmlns:a="http://schemas.openxmlformats.org/drawingml/2006/main">
            <a:off x="647700" y="304800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2625" b="0">
                <a:solidFill>
                  <a:srgbClr val="F5F3EC"/>
                </a:solidFill>
                <a:latin typeface="Arial"/>
                <a:ea typeface="Arial"/>
                <a:cs typeface="Arial"/>
              </a:rPr>
              <a:t>Identity  /  timestamp  /  quality  /  forecast</a:t>
            </a:r>
          </a:p>
        </p:txBody>
      </p:sp>
      <p:sp>
        <p:nvSpPr>
          <p:cNvPr id="5" name="">
            <a:extLst xmlns:a="http://schemas.openxmlformats.org/drawingml/2006/main">
              <a:ext uri="{FF2B5EF4-FFF2-40B4-BE49-F238E27FC236}">
                <a16:creationId xmlns:a16="http://schemas.microsoft.com/office/drawing/2014/main" id="{2C9008C5-28C9-41AA-A031-5616ADE25683}"/>
              </a:ext>
            </a:extLst>
          </p:cNvPr>
          <p:cNvSpPr>
            <a:spLocks xmlns:a="http://schemas.openxmlformats.org/drawingml/2006/main" noGrp="1"/>
          </p:cNvSpPr>
          <p:nvPr/>
        </p:nvSpPr>
        <p:spPr>
          <a:xfrm xmlns:a="http://schemas.openxmlformats.org/drawingml/2006/main">
            <a:off x="647700" y="4048125"/>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2625" b="0">
                <a:solidFill>
                  <a:srgbClr val="F5F3EC"/>
                </a:solidFill>
                <a:latin typeface="Arial"/>
                <a:ea typeface="Arial"/>
                <a:cs typeface="Arial"/>
              </a:rPr>
              <a:t>Forecast updates at recorded timestamps</a:t>
            </a:r>
          </a:p>
        </p:txBody>
      </p:sp>
      <p:sp>
        <p:nvSpPr>
          <p:cNvPr id="6" name="">
            <a:extLst xmlns:a="http://schemas.openxmlformats.org/drawingml/2006/main">
              <a:ext uri="{FF2B5EF4-FFF2-40B4-BE49-F238E27FC236}">
                <a16:creationId xmlns:a16="http://schemas.microsoft.com/office/drawing/2014/main" id="{9EE8E7E5-01EC-47B6-9BCE-B36FDB328997}"/>
              </a:ext>
            </a:extLst>
          </p:cNvPr>
          <p:cNvSpPr>
            <a:spLocks xmlns:a="http://schemas.openxmlformats.org/drawingml/2006/main" noGrp="1"/>
          </p:cNvSpPr>
          <p:nvPr/>
        </p:nvSpPr>
        <p:spPr>
          <a:xfrm xmlns:a="http://schemas.openxmlformats.org/drawingml/2006/main">
            <a:off x="647700" y="5048250"/>
            <a:ext cx="10763250" cy="885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2625" b="0">
                <a:solidFill>
                  <a:srgbClr val="F5F3EC"/>
                </a:solidFill>
                <a:latin typeface="Arial"/>
                <a:ea typeface="Arial"/>
                <a:cs typeface="Arial"/>
              </a:rPr>
              <a:t>Training-split subjects only; never the sealed test split</a:t>
            </a:r>
          </a:p>
        </p:txBody>
      </p:sp>
      <p:sp>
        <p:nvSpPr>
          <p:cNvPr id="7" name="">
            <a:extLst xmlns:a="http://schemas.openxmlformats.org/drawingml/2006/main">
              <a:ext uri="{FF2B5EF4-FFF2-40B4-BE49-F238E27FC236}">
                <a16:creationId xmlns:a16="http://schemas.microsoft.com/office/drawing/2014/main" id="{25AF0720-8355-468A-94C6-48643721FA73}"/>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BD4CA"/>
                </a:solidFill>
                <a:latin typeface="Arial"/>
                <a:ea typeface="Arial"/>
                <a:cs typeface="Arial"/>
              </a:defRPr>
            </a:defPPr>
            <a:lvl1pPr>
              <a:defRPr sz="1125" b="0">
                <a:solidFill>
                  <a:srgbClr val="ABD4CA"/>
                </a:solidFill>
                <a:latin typeface="Arial"/>
                <a:ea typeface="Arial"/>
                <a:cs typeface="Arial"/>
              </a:defRPr>
            </a:lvl1pPr>
            <a:lvl2pPr>
              <a:defRPr sz="1125" b="0">
                <a:solidFill>
                  <a:srgbClr val="ABD4CA"/>
                </a:solidFill>
                <a:latin typeface="Arial"/>
                <a:ea typeface="Arial"/>
                <a:cs typeface="Arial"/>
              </a:defRPr>
            </a:lvl2pPr>
            <a:lvl3pPr>
              <a:defRPr sz="1125" b="0">
                <a:solidFill>
                  <a:srgbClr val="ABD4CA"/>
                </a:solidFill>
                <a:latin typeface="Arial"/>
                <a:ea typeface="Arial"/>
                <a:cs typeface="Arial"/>
              </a:defRPr>
            </a:lvl3pPr>
            <a:lvl4pPr>
              <a:defRPr sz="1125" b="0">
                <a:solidFill>
                  <a:srgbClr val="ABD4CA"/>
                </a:solidFill>
                <a:latin typeface="Arial"/>
                <a:ea typeface="Arial"/>
                <a:cs typeface="Arial"/>
              </a:defRPr>
            </a:lvl4pPr>
            <a:lvl5pPr>
              <a:defRPr sz="1125" b="0">
                <a:solidFill>
                  <a:srgbClr val="ABD4CA"/>
                </a:solidFill>
                <a:latin typeface="Arial"/>
                <a:ea typeface="Arial"/>
                <a:cs typeface="Arial"/>
              </a:defRPr>
            </a:lvl5pPr>
            <a:lvl6pPr>
              <a:defRPr sz="1125" b="0">
                <a:solidFill>
                  <a:srgbClr val="ABD4CA"/>
                </a:solidFill>
                <a:latin typeface="Arial"/>
                <a:ea typeface="Arial"/>
                <a:cs typeface="Arial"/>
              </a:defRPr>
            </a:lvl6pPr>
            <a:lvl7pPr>
              <a:defRPr sz="1125" b="0">
                <a:solidFill>
                  <a:srgbClr val="ABD4CA"/>
                </a:solidFill>
                <a:latin typeface="Arial"/>
                <a:ea typeface="Arial"/>
                <a:cs typeface="Arial"/>
              </a:defRPr>
            </a:lvl7pPr>
            <a:lvl8pPr>
              <a:defRPr sz="1125" b="0">
                <a:solidFill>
                  <a:srgbClr val="ABD4CA"/>
                </a:solidFill>
                <a:latin typeface="Arial"/>
                <a:ea typeface="Arial"/>
                <a:cs typeface="Arial"/>
              </a:defRPr>
            </a:lvl8pPr>
            <a:lvl9pPr>
              <a:defRPr sz="1125" b="0">
                <a:solidFill>
                  <a:srgbClr val="ABD4CA"/>
                </a:solidFill>
                <a:latin typeface="Arial"/>
                <a:ea typeface="Arial"/>
                <a:cs typeface="Arial"/>
              </a:defRPr>
            </a:lvl9pPr>
          </a:lstStyle>
          <a:p xmlns:a="http://schemas.openxmlformats.org/drawingml/2006/main">
            <a:pPr>
              <a:defRPr sz="1125" b="0">
                <a:solidFill>
                  <a:srgbClr val="ABD4CA"/>
                </a:solidFill>
                <a:latin typeface="Arial"/>
                <a:ea typeface="Arial"/>
                <a:cs typeface="Arial"/>
              </a:defRPr>
            </a:pPr>
            <a:r>
              <a:rPr sz="1125" b="0">
                <a:solidFill>
                  <a:srgbClr val="ABD4CA"/>
                </a:solidFill>
                <a:latin typeface="Arial"/>
                <a:ea typeface="Arial"/>
                <a:cs typeface="Arial"/>
              </a:rPr>
              <a:t>Synthetic research only. No clinical validation claimed.</a:t>
            </a:r>
          </a:p>
        </p:txBody>
      </p:sp>
      <p:sp>
        <p:nvSpPr>
          <p:cNvPr id="8" name="">
            <a:extLst xmlns:a="http://schemas.openxmlformats.org/drawingml/2006/main">
              <a:ext uri="{FF2B5EF4-FFF2-40B4-BE49-F238E27FC236}">
                <a16:creationId xmlns:a16="http://schemas.microsoft.com/office/drawing/2014/main" id="{877ACFB8-0C8F-4D0C-ACFA-DE4D83A6C9C3}"/>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BD4CA"/>
                </a:solidFill>
                <a:latin typeface="Arial"/>
                <a:ea typeface="Arial"/>
                <a:cs typeface="Arial"/>
              </a:defRPr>
            </a:defPPr>
            <a:lvl1pPr>
              <a:defRPr sz="1500" b="0">
                <a:solidFill>
                  <a:srgbClr val="ABD4CA"/>
                </a:solidFill>
                <a:latin typeface="Arial"/>
                <a:ea typeface="Arial"/>
                <a:cs typeface="Arial"/>
              </a:defRPr>
            </a:lvl1pPr>
            <a:lvl2pPr>
              <a:defRPr sz="1500" b="0">
                <a:solidFill>
                  <a:srgbClr val="ABD4CA"/>
                </a:solidFill>
                <a:latin typeface="Arial"/>
                <a:ea typeface="Arial"/>
                <a:cs typeface="Arial"/>
              </a:defRPr>
            </a:lvl2pPr>
            <a:lvl3pPr>
              <a:defRPr sz="1500" b="0">
                <a:solidFill>
                  <a:srgbClr val="ABD4CA"/>
                </a:solidFill>
                <a:latin typeface="Arial"/>
                <a:ea typeface="Arial"/>
                <a:cs typeface="Arial"/>
              </a:defRPr>
            </a:lvl3pPr>
            <a:lvl4pPr>
              <a:defRPr sz="1500" b="0">
                <a:solidFill>
                  <a:srgbClr val="ABD4CA"/>
                </a:solidFill>
                <a:latin typeface="Arial"/>
                <a:ea typeface="Arial"/>
                <a:cs typeface="Arial"/>
              </a:defRPr>
            </a:lvl4pPr>
            <a:lvl5pPr>
              <a:defRPr sz="1500" b="0">
                <a:solidFill>
                  <a:srgbClr val="ABD4CA"/>
                </a:solidFill>
                <a:latin typeface="Arial"/>
                <a:ea typeface="Arial"/>
                <a:cs typeface="Arial"/>
              </a:defRPr>
            </a:lvl5pPr>
            <a:lvl6pPr>
              <a:defRPr sz="1500" b="0">
                <a:solidFill>
                  <a:srgbClr val="ABD4CA"/>
                </a:solidFill>
                <a:latin typeface="Arial"/>
                <a:ea typeface="Arial"/>
                <a:cs typeface="Arial"/>
              </a:defRPr>
            </a:lvl6pPr>
            <a:lvl7pPr>
              <a:defRPr sz="1500" b="0">
                <a:solidFill>
                  <a:srgbClr val="ABD4CA"/>
                </a:solidFill>
                <a:latin typeface="Arial"/>
                <a:ea typeface="Arial"/>
                <a:cs typeface="Arial"/>
              </a:defRPr>
            </a:lvl7pPr>
            <a:lvl8pPr>
              <a:defRPr sz="1500" b="0">
                <a:solidFill>
                  <a:srgbClr val="ABD4CA"/>
                </a:solidFill>
                <a:latin typeface="Arial"/>
                <a:ea typeface="Arial"/>
                <a:cs typeface="Arial"/>
              </a:defRPr>
            </a:lvl8pPr>
            <a:lvl9pPr>
              <a:defRPr sz="1500" b="0">
                <a:solidFill>
                  <a:srgbClr val="ABD4CA"/>
                </a:solidFill>
                <a:latin typeface="Arial"/>
                <a:ea typeface="Arial"/>
                <a:cs typeface="Arial"/>
              </a:defRPr>
            </a:lvl9pPr>
          </a:lstStyle>
          <a:p xmlns:a="http://schemas.openxmlformats.org/drawingml/2006/main">
            <a:pPr>
              <a:defRPr sz="1500" b="0">
                <a:solidFill>
                  <a:srgbClr val="ABD4CA"/>
                </a:solidFill>
                <a:latin typeface="Arial"/>
                <a:ea typeface="Arial"/>
                <a:cs typeface="Arial"/>
              </a:defRPr>
            </a:pPr>
            <a:r>
              <a:rPr sz="1500" b="0">
                <a:solidFill>
                  <a:srgbClr val="ABD4CA"/>
                </a:solidFill>
                <a:latin typeface="Arial"/>
                <a:ea typeface="Arial"/>
                <a:cs typeface="Arial"/>
              </a:rPr>
              <a:t>07</a:t>
            </a:r>
          </a:p>
        </p:txBody>
      </p:sp>
    </p:spTree>
    <p:extLst>
      <p:ext uri="{BB962C8B-B14F-4D97-AF65-F5344CB8AC3E}">
        <p14:creationId xmlns:p14="http://schemas.microsoft.com/office/powerpoint/2010/main" val="1116330921"/>
      </p:ext>
    </p:extLst>
  </p:cSld>
</p:sld>
</file>

<file path=ppt/slides/slide8.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4514CF5-D80E-499C-A499-963DC77AB7FC}"/>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FFB04F0D-C1DF-48B5-B554-9207078F9FB0}"/>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Holding a moment in time</a:t>
            </a:r>
          </a:p>
        </p:txBody>
      </p:sp>
      <p:pic>
        <p:nvPicPr>
          <p:cNvPr id="3" name="">
            <a:extLst xmlns:a="http://schemas.openxmlformats.org/drawingml/2006/main">
              <a:ext uri="{FF2B5EF4-FFF2-40B4-BE49-F238E27FC236}">
                <a16:creationId xmlns:a16="http://schemas.microsoft.com/office/drawing/2014/main" id="{F9A06558-85E8-4D79-B0D0-287894CA4A9A}"/>
              </a:ext>
            </a:extLst>
          </p:cNvPr>
          <p:cNvPicPr>
            <a:picLocks xmlns:a="http://schemas.openxmlformats.org/drawingml/2006/main" noChangeAspect="1"/>
          </p:cNvPicPr>
          <p:nvPr/>
        </p:nvPicPr>
        <p:blipFill>
          <a:blip xmlns:r="http://schemas.openxmlformats.org/officeDocument/2006/relationships" xmlns:a="http://schemas.openxmlformats.org/drawingml/2006/main" r:embed="Rf851181da4d64104"/>
          <a:stretch xmlns:a="http://schemas.openxmlformats.org/drawingml/2006/main"/>
        </p:blipFill>
        <p:spPr>
          <a:xfrm xmlns:a="http://schemas.openxmlformats.org/drawingml/2006/main">
            <a:off x="609600" y="1819275"/>
            <a:ext cx="7277100" cy="454818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1BFD23C-7F72-4E00-A7E1-05AD061F9FF8}"/>
              </a:ext>
            </a:extLst>
          </p:cNvPr>
          <p:cNvSpPr>
            <a:spLocks xmlns:a="http://schemas.openxmlformats.org/drawingml/2006/main" noGrp="1"/>
          </p:cNvSpPr>
          <p:nvPr/>
        </p:nvSpPr>
        <p:spPr>
          <a:xfrm xmlns:a="http://schemas.openxmlformats.org/drawingml/2006/main">
            <a:off x="8286750" y="20002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83C42"/>
                </a:solidFill>
                <a:latin typeface="Arial"/>
                <a:ea typeface="Arial"/>
                <a:cs typeface="Arial"/>
              </a:defRPr>
            </a:defPPr>
            <a:lvl1pPr>
              <a:defRPr sz="2025" b="1">
                <a:solidFill>
                  <a:srgbClr val="183C42"/>
                </a:solidFill>
                <a:latin typeface="Arial"/>
                <a:ea typeface="Arial"/>
                <a:cs typeface="Arial"/>
              </a:defRPr>
            </a:lvl1pPr>
            <a:lvl2pPr>
              <a:defRPr sz="2025" b="1">
                <a:solidFill>
                  <a:srgbClr val="183C42"/>
                </a:solidFill>
                <a:latin typeface="Arial"/>
                <a:ea typeface="Arial"/>
                <a:cs typeface="Arial"/>
              </a:defRPr>
            </a:lvl2pPr>
            <a:lvl3pPr>
              <a:defRPr sz="2025" b="1">
                <a:solidFill>
                  <a:srgbClr val="183C42"/>
                </a:solidFill>
                <a:latin typeface="Arial"/>
                <a:ea typeface="Arial"/>
                <a:cs typeface="Arial"/>
              </a:defRPr>
            </a:lvl3pPr>
            <a:lvl4pPr>
              <a:defRPr sz="2025" b="1">
                <a:solidFill>
                  <a:srgbClr val="183C42"/>
                </a:solidFill>
                <a:latin typeface="Arial"/>
                <a:ea typeface="Arial"/>
                <a:cs typeface="Arial"/>
              </a:defRPr>
            </a:lvl4pPr>
            <a:lvl5pPr>
              <a:defRPr sz="2025" b="1">
                <a:solidFill>
                  <a:srgbClr val="183C42"/>
                </a:solidFill>
                <a:latin typeface="Arial"/>
                <a:ea typeface="Arial"/>
                <a:cs typeface="Arial"/>
              </a:defRPr>
            </a:lvl5pPr>
            <a:lvl6pPr>
              <a:defRPr sz="2025" b="1">
                <a:solidFill>
                  <a:srgbClr val="183C42"/>
                </a:solidFill>
                <a:latin typeface="Arial"/>
                <a:ea typeface="Arial"/>
                <a:cs typeface="Arial"/>
              </a:defRPr>
            </a:lvl6pPr>
            <a:lvl7pPr>
              <a:defRPr sz="2025" b="1">
                <a:solidFill>
                  <a:srgbClr val="183C42"/>
                </a:solidFill>
                <a:latin typeface="Arial"/>
                <a:ea typeface="Arial"/>
                <a:cs typeface="Arial"/>
              </a:defRPr>
            </a:lvl7pPr>
            <a:lvl8pPr>
              <a:defRPr sz="2025" b="1">
                <a:solidFill>
                  <a:srgbClr val="183C42"/>
                </a:solidFill>
                <a:latin typeface="Arial"/>
                <a:ea typeface="Arial"/>
                <a:cs typeface="Arial"/>
              </a:defRPr>
            </a:lvl8pPr>
            <a:lvl9pPr>
              <a:defRPr sz="2025" b="1">
                <a:solidFill>
                  <a:srgbClr val="183C42"/>
                </a:solidFill>
                <a:latin typeface="Arial"/>
                <a:ea typeface="Arial"/>
                <a:cs typeface="Arial"/>
              </a:defRPr>
            </a:lvl9pPr>
          </a:lstStyle>
          <a:p xmlns:a="http://schemas.openxmlformats.org/drawingml/2006/main">
            <a:pPr>
              <a:defRPr sz="2025" b="1">
                <a:solidFill>
                  <a:srgbClr val="183C42"/>
                </a:solidFill>
                <a:latin typeface="Arial"/>
                <a:ea typeface="Arial"/>
                <a:cs typeface="Arial"/>
              </a:defRPr>
            </a:pPr>
            <a:r>
              <a:rPr sz="2025" b="1">
                <a:solidFill>
                  <a:srgbClr val="183C42"/>
                </a:solidFill>
                <a:latin typeface="Arial"/>
                <a:ea typeface="Arial"/>
                <a:cs typeface="Arial"/>
              </a:rPr>
              <a:t>A pinned view keeps the forecast anchor explicit</a:t>
            </a:r>
          </a:p>
        </p:txBody>
      </p:sp>
      <p:sp>
        <p:nvSpPr>
          <p:cNvPr id="5" name="">
            <a:extLst xmlns:a="http://schemas.openxmlformats.org/drawingml/2006/main">
              <a:ext uri="{FF2B5EF4-FFF2-40B4-BE49-F238E27FC236}">
                <a16:creationId xmlns:a16="http://schemas.microsoft.com/office/drawing/2014/main" id="{72090B05-8F4B-4CDF-B9F8-35A5102CF3AC}"/>
              </a:ext>
            </a:extLst>
          </p:cNvPr>
          <p:cNvSpPr>
            <a:spLocks xmlns:a="http://schemas.openxmlformats.org/drawingml/2006/main" noGrp="1"/>
          </p:cNvSpPr>
          <p:nvPr/>
        </p:nvSpPr>
        <p:spPr>
          <a:xfrm xmlns:a="http://schemas.openxmlformats.org/drawingml/2006/main">
            <a:off x="8286750" y="30670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Timeline navigation uses received history</a:t>
            </a:r>
          </a:p>
        </p:txBody>
      </p:sp>
      <p:sp>
        <p:nvSpPr>
          <p:cNvPr id="6" name="">
            <a:extLst xmlns:a="http://schemas.openxmlformats.org/drawingml/2006/main">
              <a:ext uri="{FF2B5EF4-FFF2-40B4-BE49-F238E27FC236}">
                <a16:creationId xmlns:a16="http://schemas.microsoft.com/office/drawing/2014/main" id="{3F3DC379-F778-49D1-A7FA-880A935EA981}"/>
              </a:ext>
            </a:extLst>
          </p:cNvPr>
          <p:cNvSpPr>
            <a:spLocks xmlns:a="http://schemas.openxmlformats.org/drawingml/2006/main" noGrp="1"/>
          </p:cNvSpPr>
          <p:nvPr/>
        </p:nvSpPr>
        <p:spPr>
          <a:xfrm xmlns:a="http://schemas.openxmlformats.org/drawingml/2006/main">
            <a:off x="8286750" y="41338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Recorded repository state, not a new execution</a:t>
            </a:r>
          </a:p>
        </p:txBody>
      </p:sp>
      <p:sp>
        <p:nvSpPr>
          <p:cNvPr id="7" name="">
            <a:extLst xmlns:a="http://schemas.openxmlformats.org/drawingml/2006/main">
              <a:ext uri="{FF2B5EF4-FFF2-40B4-BE49-F238E27FC236}">
                <a16:creationId xmlns:a16="http://schemas.microsoft.com/office/drawing/2014/main" id="{BD96C0CC-670B-4B2A-BEBD-8E5C59D0FDBA}"/>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Recorded screenshot: synthetic subject P0001 (training split); provenance in notes.  Synthetic research only. No clinical validation claimed.</a:t>
            </a:r>
          </a:p>
        </p:txBody>
      </p:sp>
      <p:sp>
        <p:nvSpPr>
          <p:cNvPr id="8" name="">
            <a:extLst xmlns:a="http://schemas.openxmlformats.org/drawingml/2006/main">
              <a:ext uri="{FF2B5EF4-FFF2-40B4-BE49-F238E27FC236}">
                <a16:creationId xmlns:a16="http://schemas.microsoft.com/office/drawing/2014/main" id="{181B31CA-D9E7-4B97-82F6-EC97C7E42511}"/>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08</a:t>
            </a:r>
          </a:p>
        </p:txBody>
      </p:sp>
    </p:spTree>
    <p:extLst>
      <p:ext uri="{BB962C8B-B14F-4D97-AF65-F5344CB8AC3E}">
        <p14:creationId xmlns:p14="http://schemas.microsoft.com/office/powerpoint/2010/main" val="1526030614"/>
      </p:ext>
    </p:extLst>
  </p:cSld>
</p:sld>
</file>

<file path=ppt/slides/slide9.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E21C069E-799F-4829-9C2E-286D6F200BF6}"/>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F9521B94-FA9F-4519-952D-AECF43E0E29C}"/>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Scenario projections</a:t>
            </a:r>
          </a:p>
        </p:txBody>
      </p:sp>
      <p:pic>
        <p:nvPicPr>
          <p:cNvPr id="3" name="">
            <a:extLst xmlns:a="http://schemas.openxmlformats.org/drawingml/2006/main">
              <a:ext uri="{FF2B5EF4-FFF2-40B4-BE49-F238E27FC236}">
                <a16:creationId xmlns:a16="http://schemas.microsoft.com/office/drawing/2014/main" id="{DFFEFA1B-6095-4725-9972-C85A85044FDD}"/>
              </a:ext>
            </a:extLst>
          </p:cNvPr>
          <p:cNvPicPr>
            <a:picLocks xmlns:a="http://schemas.openxmlformats.org/drawingml/2006/main" noChangeAspect="1"/>
          </p:cNvPicPr>
          <p:nvPr/>
        </p:nvPicPr>
        <p:blipFill>
          <a:blip xmlns:r="http://schemas.openxmlformats.org/officeDocument/2006/relationships" xmlns:a="http://schemas.openxmlformats.org/drawingml/2006/main" r:embed="Rd2467396149f437b"/>
          <a:stretch xmlns:a="http://schemas.openxmlformats.org/drawingml/2006/main"/>
        </p:blipFill>
        <p:spPr>
          <a:xfrm xmlns:a="http://schemas.openxmlformats.org/drawingml/2006/main">
            <a:off x="609600" y="1819275"/>
            <a:ext cx="7277100" cy="454818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C4112340-8C23-405C-A36B-310B075A68A8}"/>
              </a:ext>
            </a:extLst>
          </p:cNvPr>
          <p:cNvSpPr>
            <a:spLocks xmlns:a="http://schemas.openxmlformats.org/drawingml/2006/main" noGrp="1"/>
          </p:cNvSpPr>
          <p:nvPr/>
        </p:nvSpPr>
        <p:spPr>
          <a:xfrm xmlns:a="http://schemas.openxmlformats.org/drawingml/2006/main">
            <a:off x="8286750" y="20002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83C42"/>
                </a:solidFill>
                <a:latin typeface="Arial"/>
                <a:ea typeface="Arial"/>
                <a:cs typeface="Arial"/>
              </a:defRPr>
            </a:defPPr>
            <a:lvl1pPr>
              <a:defRPr sz="2025" b="1">
                <a:solidFill>
                  <a:srgbClr val="183C42"/>
                </a:solidFill>
                <a:latin typeface="Arial"/>
                <a:ea typeface="Arial"/>
                <a:cs typeface="Arial"/>
              </a:defRPr>
            </a:lvl1pPr>
            <a:lvl2pPr>
              <a:defRPr sz="2025" b="1">
                <a:solidFill>
                  <a:srgbClr val="183C42"/>
                </a:solidFill>
                <a:latin typeface="Arial"/>
                <a:ea typeface="Arial"/>
                <a:cs typeface="Arial"/>
              </a:defRPr>
            </a:lvl2pPr>
            <a:lvl3pPr>
              <a:defRPr sz="2025" b="1">
                <a:solidFill>
                  <a:srgbClr val="183C42"/>
                </a:solidFill>
                <a:latin typeface="Arial"/>
                <a:ea typeface="Arial"/>
                <a:cs typeface="Arial"/>
              </a:defRPr>
            </a:lvl3pPr>
            <a:lvl4pPr>
              <a:defRPr sz="2025" b="1">
                <a:solidFill>
                  <a:srgbClr val="183C42"/>
                </a:solidFill>
                <a:latin typeface="Arial"/>
                <a:ea typeface="Arial"/>
                <a:cs typeface="Arial"/>
              </a:defRPr>
            </a:lvl4pPr>
            <a:lvl5pPr>
              <a:defRPr sz="2025" b="1">
                <a:solidFill>
                  <a:srgbClr val="183C42"/>
                </a:solidFill>
                <a:latin typeface="Arial"/>
                <a:ea typeface="Arial"/>
                <a:cs typeface="Arial"/>
              </a:defRPr>
            </a:lvl5pPr>
            <a:lvl6pPr>
              <a:defRPr sz="2025" b="1">
                <a:solidFill>
                  <a:srgbClr val="183C42"/>
                </a:solidFill>
                <a:latin typeface="Arial"/>
                <a:ea typeface="Arial"/>
                <a:cs typeface="Arial"/>
              </a:defRPr>
            </a:lvl6pPr>
            <a:lvl7pPr>
              <a:defRPr sz="2025" b="1">
                <a:solidFill>
                  <a:srgbClr val="183C42"/>
                </a:solidFill>
                <a:latin typeface="Arial"/>
                <a:ea typeface="Arial"/>
                <a:cs typeface="Arial"/>
              </a:defRPr>
            </a:lvl7pPr>
            <a:lvl8pPr>
              <a:defRPr sz="2025" b="1">
                <a:solidFill>
                  <a:srgbClr val="183C42"/>
                </a:solidFill>
                <a:latin typeface="Arial"/>
                <a:ea typeface="Arial"/>
                <a:cs typeface="Arial"/>
              </a:defRPr>
            </a:lvl8pPr>
            <a:lvl9pPr>
              <a:defRPr sz="2025" b="1">
                <a:solidFill>
                  <a:srgbClr val="183C42"/>
                </a:solidFill>
                <a:latin typeface="Arial"/>
                <a:ea typeface="Arial"/>
                <a:cs typeface="Arial"/>
              </a:defRPr>
            </a:lvl9pPr>
          </a:lstStyle>
          <a:p xmlns:a="http://schemas.openxmlformats.org/drawingml/2006/main">
            <a:pPr>
              <a:defRPr sz="2025" b="1">
                <a:solidFill>
                  <a:srgbClr val="183C42"/>
                </a:solidFill>
                <a:latin typeface="Arial"/>
                <a:ea typeface="Arial"/>
                <a:cs typeface="Arial"/>
              </a:defRPr>
            </a:pPr>
            <a:r>
              <a:rPr sz="2025" b="1">
                <a:solidFill>
                  <a:srgbClr val="183C42"/>
                </a:solidFill>
                <a:latin typeface="Arial"/>
                <a:ea typeface="Arial"/>
                <a:cs typeface="Arial"/>
              </a:rPr>
              <a:t>Meal and activity projections exist in source</a:t>
            </a:r>
          </a:p>
        </p:txBody>
      </p:sp>
      <p:sp>
        <p:nvSpPr>
          <p:cNvPr id="5" name="">
            <a:extLst xmlns:a="http://schemas.openxmlformats.org/drawingml/2006/main">
              <a:ext uri="{FF2B5EF4-FFF2-40B4-BE49-F238E27FC236}">
                <a16:creationId xmlns:a16="http://schemas.microsoft.com/office/drawing/2014/main" id="{0938848C-1409-4DF4-AFFE-1F47CD1CCE44}"/>
              </a:ext>
            </a:extLst>
          </p:cNvPr>
          <p:cNvSpPr>
            <a:spLocks xmlns:a="http://schemas.openxmlformats.org/drawingml/2006/main" noGrp="1"/>
          </p:cNvSpPr>
          <p:nvPr/>
        </p:nvSpPr>
        <p:spPr>
          <a:xfrm xmlns:a="http://schemas.openxmlformats.org/drawingml/2006/main">
            <a:off x="8286750" y="30670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Medication is not modelled</a:t>
            </a:r>
          </a:p>
        </p:txBody>
      </p:sp>
      <p:sp>
        <p:nvSpPr>
          <p:cNvPr id="6" name="">
            <a:extLst xmlns:a="http://schemas.openxmlformats.org/drawingml/2006/main">
              <a:ext uri="{FF2B5EF4-FFF2-40B4-BE49-F238E27FC236}">
                <a16:creationId xmlns:a16="http://schemas.microsoft.com/office/drawing/2014/main" id="{654FAB73-36FD-413F-90E4-4FA3213176E6}"/>
              </a:ext>
            </a:extLst>
          </p:cNvPr>
          <p:cNvSpPr>
            <a:spLocks xmlns:a="http://schemas.openxmlformats.org/drawingml/2006/main" noGrp="1"/>
          </p:cNvSpPr>
          <p:nvPr/>
        </p:nvSpPr>
        <p:spPr>
          <a:xfrm xmlns:a="http://schemas.openxmlformats.org/drawingml/2006/main">
            <a:off x="8286750" y="41338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Effect size is not clinically validated</a:t>
            </a:r>
          </a:p>
        </p:txBody>
      </p:sp>
      <p:sp>
        <p:nvSpPr>
          <p:cNvPr id="7" name="">
            <a:extLst xmlns:a="http://schemas.openxmlformats.org/drawingml/2006/main">
              <a:ext uri="{FF2B5EF4-FFF2-40B4-BE49-F238E27FC236}">
                <a16:creationId xmlns:a16="http://schemas.microsoft.com/office/drawing/2014/main" id="{3EED9794-C500-44C0-A5D4-FE93CA1118BA}"/>
              </a:ext>
            </a:extLst>
          </p:cNvPr>
          <p:cNvSpPr>
            <a:spLocks xmlns:a="http://schemas.openxmlformats.org/drawingml/2006/main" noGrp="1"/>
          </p:cNvSpPr>
          <p:nvPr/>
        </p:nvSpPr>
        <p:spPr>
          <a:xfrm xmlns:a="http://schemas.openxmlformats.org/drawingml/2006/main">
            <a:off x="8286750" y="52006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Recorded 60 g example; not treatment advice</a:t>
            </a:r>
          </a:p>
        </p:txBody>
      </p:sp>
      <p:sp>
        <p:nvSpPr>
          <p:cNvPr id="8" name="">
            <a:extLst xmlns:a="http://schemas.openxmlformats.org/drawingml/2006/main">
              <a:ext uri="{FF2B5EF4-FFF2-40B4-BE49-F238E27FC236}">
                <a16:creationId xmlns:a16="http://schemas.microsoft.com/office/drawing/2014/main" id="{672FCAEB-F65A-4BEF-8055-2E2F88FBB64F}"/>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Recorded screenshot: synthetic subject P0001 (training split); provenance in notes.  Synthetic research only. No clinical validation claimed.</a:t>
            </a:r>
          </a:p>
        </p:txBody>
      </p:sp>
      <p:sp>
        <p:nvSpPr>
          <p:cNvPr id="9" name="">
            <a:extLst xmlns:a="http://schemas.openxmlformats.org/drawingml/2006/main">
              <a:ext uri="{FF2B5EF4-FFF2-40B4-BE49-F238E27FC236}">
                <a16:creationId xmlns:a16="http://schemas.microsoft.com/office/drawing/2014/main" id="{95CFC090-537D-411B-88CB-40615E97758F}"/>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09</a:t>
            </a:r>
          </a:p>
        </p:txBody>
      </p:sp>
    </p:spTree>
    <p:extLst>
      <p:ext uri="{BB962C8B-B14F-4D97-AF65-F5344CB8AC3E}">
        <p14:creationId xmlns:p14="http://schemas.microsoft.com/office/powerpoint/2010/main" val="1557690504"/>
      </p:ext>
    </p:extLst>
  </p:cSld>
</p:sld>
</file>

<file path=ppt/slides/slide10.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76BB1CD0-B3BD-4BB4-B7E5-41B0AA9EC840}"/>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15DB0D9D-8937-4824-A83A-BCF5AD69ACB2}"/>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When the answer is unavailable</a:t>
            </a:r>
          </a:p>
        </p:txBody>
      </p:sp>
      <p:pic>
        <p:nvPicPr>
          <p:cNvPr id="3" name="">
            <a:extLst xmlns:a="http://schemas.openxmlformats.org/drawingml/2006/main">
              <a:ext uri="{FF2B5EF4-FFF2-40B4-BE49-F238E27FC236}">
                <a16:creationId xmlns:a16="http://schemas.microsoft.com/office/drawing/2014/main" id="{B8228A26-9362-4CC5-B30D-F0D19EA15AD9}"/>
              </a:ext>
            </a:extLst>
          </p:cNvPr>
          <p:cNvPicPr>
            <a:picLocks xmlns:a="http://schemas.openxmlformats.org/drawingml/2006/main" noChangeAspect="1"/>
          </p:cNvPicPr>
          <p:nvPr/>
        </p:nvPicPr>
        <p:blipFill>
          <a:blip xmlns:r="http://schemas.openxmlformats.org/officeDocument/2006/relationships" xmlns:a="http://schemas.openxmlformats.org/drawingml/2006/main" r:embed="R4e3608c3624e4ef3"/>
          <a:stretch xmlns:a="http://schemas.openxmlformats.org/drawingml/2006/main"/>
        </p:blipFill>
        <p:spPr>
          <a:xfrm xmlns:a="http://schemas.openxmlformats.org/drawingml/2006/main">
            <a:off x="609600" y="1819275"/>
            <a:ext cx="7277100" cy="454818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6B6C24E9-8E8E-496C-B19F-5E41B15324DB}"/>
              </a:ext>
            </a:extLst>
          </p:cNvPr>
          <p:cNvSpPr>
            <a:spLocks xmlns:a="http://schemas.openxmlformats.org/drawingml/2006/main" noGrp="1"/>
          </p:cNvSpPr>
          <p:nvPr/>
        </p:nvSpPr>
        <p:spPr>
          <a:xfrm xmlns:a="http://schemas.openxmlformats.org/drawingml/2006/main">
            <a:off x="8286750" y="20002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83C42"/>
                </a:solidFill>
                <a:latin typeface="Arial"/>
                <a:ea typeface="Arial"/>
                <a:cs typeface="Arial"/>
              </a:defRPr>
            </a:defPPr>
            <a:lvl1pPr>
              <a:defRPr sz="2025" b="1">
                <a:solidFill>
                  <a:srgbClr val="183C42"/>
                </a:solidFill>
                <a:latin typeface="Arial"/>
                <a:ea typeface="Arial"/>
                <a:cs typeface="Arial"/>
              </a:defRPr>
            </a:lvl1pPr>
            <a:lvl2pPr>
              <a:defRPr sz="2025" b="1">
                <a:solidFill>
                  <a:srgbClr val="183C42"/>
                </a:solidFill>
                <a:latin typeface="Arial"/>
                <a:ea typeface="Arial"/>
                <a:cs typeface="Arial"/>
              </a:defRPr>
            </a:lvl2pPr>
            <a:lvl3pPr>
              <a:defRPr sz="2025" b="1">
                <a:solidFill>
                  <a:srgbClr val="183C42"/>
                </a:solidFill>
                <a:latin typeface="Arial"/>
                <a:ea typeface="Arial"/>
                <a:cs typeface="Arial"/>
              </a:defRPr>
            </a:lvl3pPr>
            <a:lvl4pPr>
              <a:defRPr sz="2025" b="1">
                <a:solidFill>
                  <a:srgbClr val="183C42"/>
                </a:solidFill>
                <a:latin typeface="Arial"/>
                <a:ea typeface="Arial"/>
                <a:cs typeface="Arial"/>
              </a:defRPr>
            </a:lvl4pPr>
            <a:lvl5pPr>
              <a:defRPr sz="2025" b="1">
                <a:solidFill>
                  <a:srgbClr val="183C42"/>
                </a:solidFill>
                <a:latin typeface="Arial"/>
                <a:ea typeface="Arial"/>
                <a:cs typeface="Arial"/>
              </a:defRPr>
            </a:lvl5pPr>
            <a:lvl6pPr>
              <a:defRPr sz="2025" b="1">
                <a:solidFill>
                  <a:srgbClr val="183C42"/>
                </a:solidFill>
                <a:latin typeface="Arial"/>
                <a:ea typeface="Arial"/>
                <a:cs typeface="Arial"/>
              </a:defRPr>
            </a:lvl6pPr>
            <a:lvl7pPr>
              <a:defRPr sz="2025" b="1">
                <a:solidFill>
                  <a:srgbClr val="183C42"/>
                </a:solidFill>
                <a:latin typeface="Arial"/>
                <a:ea typeface="Arial"/>
                <a:cs typeface="Arial"/>
              </a:defRPr>
            </a:lvl7pPr>
            <a:lvl8pPr>
              <a:defRPr sz="2025" b="1">
                <a:solidFill>
                  <a:srgbClr val="183C42"/>
                </a:solidFill>
                <a:latin typeface="Arial"/>
                <a:ea typeface="Arial"/>
                <a:cs typeface="Arial"/>
              </a:defRPr>
            </a:lvl8pPr>
            <a:lvl9pPr>
              <a:defRPr sz="2025" b="1">
                <a:solidFill>
                  <a:srgbClr val="183C42"/>
                </a:solidFill>
                <a:latin typeface="Arial"/>
                <a:ea typeface="Arial"/>
                <a:cs typeface="Arial"/>
              </a:defRPr>
            </a:lvl9pPr>
          </a:lstStyle>
          <a:p xmlns:a="http://schemas.openxmlformats.org/drawingml/2006/main">
            <a:pPr>
              <a:defRPr sz="2025" b="1">
                <a:solidFill>
                  <a:srgbClr val="183C42"/>
                </a:solidFill>
                <a:latin typeface="Arial"/>
                <a:ea typeface="Arial"/>
                <a:cs typeface="Arial"/>
              </a:defRPr>
            </a:pPr>
            <a:r>
              <a:rPr sz="2025" b="1">
                <a:solidFill>
                  <a:srgbClr val="183C42"/>
                </a:solidFill>
                <a:latin typeface="Arial"/>
                <a:ea typeface="Arial"/>
                <a:cs typeface="Arial"/>
              </a:rPr>
              <a:t>Insufficient history can mean no forecast</a:t>
            </a:r>
          </a:p>
        </p:txBody>
      </p:sp>
      <p:sp>
        <p:nvSpPr>
          <p:cNvPr id="5" name="">
            <a:extLst xmlns:a="http://schemas.openxmlformats.org/drawingml/2006/main">
              <a:ext uri="{FF2B5EF4-FFF2-40B4-BE49-F238E27FC236}">
                <a16:creationId xmlns:a16="http://schemas.microsoft.com/office/drawing/2014/main" id="{E9FF4D6D-6996-4449-ABF3-9235611063CA}"/>
              </a:ext>
            </a:extLst>
          </p:cNvPr>
          <p:cNvSpPr>
            <a:spLocks xmlns:a="http://schemas.openxmlformats.org/drawingml/2006/main" noGrp="1"/>
          </p:cNvSpPr>
          <p:nvPr/>
        </p:nvSpPr>
        <p:spPr>
          <a:xfrm xmlns:a="http://schemas.openxmlformats.org/drawingml/2006/main">
            <a:off x="8286750" y="30670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Stale, disconnected and invalid are distinct states</a:t>
            </a:r>
          </a:p>
        </p:txBody>
      </p:sp>
      <p:sp>
        <p:nvSpPr>
          <p:cNvPr id="6" name="">
            <a:extLst xmlns:a="http://schemas.openxmlformats.org/drawingml/2006/main">
              <a:ext uri="{FF2B5EF4-FFF2-40B4-BE49-F238E27FC236}">
                <a16:creationId xmlns:a16="http://schemas.microsoft.com/office/drawing/2014/main" id="{84AAFC92-A421-4458-8D61-834BDCAD96F7}"/>
              </a:ext>
            </a:extLst>
          </p:cNvPr>
          <p:cNvSpPr>
            <a:spLocks xmlns:a="http://schemas.openxmlformats.org/drawingml/2006/main" noGrp="1"/>
          </p:cNvSpPr>
          <p:nvPr/>
        </p:nvSpPr>
        <p:spPr>
          <a:xfrm xmlns:a="http://schemas.openxmlformats.org/drawingml/2006/main">
            <a:off x="8286750" y="41338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Reconnect and fallback need further verification</a:t>
            </a:r>
          </a:p>
        </p:txBody>
      </p:sp>
      <p:sp>
        <p:nvSpPr>
          <p:cNvPr id="7" name="">
            <a:extLst xmlns:a="http://schemas.openxmlformats.org/drawingml/2006/main">
              <a:ext uri="{FF2B5EF4-FFF2-40B4-BE49-F238E27FC236}">
                <a16:creationId xmlns:a16="http://schemas.microsoft.com/office/drawing/2014/main" id="{8760C275-80D6-46A9-BBBE-D7FB42AE50F3}"/>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Recorded screenshot: synthetic subject P0095 (training split); provenance in notes.  Synthetic research only. No clinical validation claimed.</a:t>
            </a:r>
          </a:p>
        </p:txBody>
      </p:sp>
      <p:sp>
        <p:nvSpPr>
          <p:cNvPr id="8" name="">
            <a:extLst xmlns:a="http://schemas.openxmlformats.org/drawingml/2006/main">
              <a:ext uri="{FF2B5EF4-FFF2-40B4-BE49-F238E27FC236}">
                <a16:creationId xmlns:a16="http://schemas.microsoft.com/office/drawing/2014/main" id="{6CF344C7-6342-437D-A907-12EC48F01AA8}"/>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10</a:t>
            </a:r>
          </a:p>
        </p:txBody>
      </p:sp>
    </p:spTree>
    <p:extLst>
      <p:ext uri="{BB962C8B-B14F-4D97-AF65-F5344CB8AC3E}">
        <p14:creationId xmlns:p14="http://schemas.microsoft.com/office/powerpoint/2010/main" val="891489381"/>
      </p:ext>
    </p:extLst>
  </p:cSld>
</p:sld>
</file>

<file path=ppt/slides/slide11.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10" name="">
            <a:extLst xmlns:a="http://schemas.openxmlformats.org/drawingml/2006/main">
              <a:ext uri="{FF2B5EF4-FFF2-40B4-BE49-F238E27FC236}">
                <a16:creationId xmlns:a16="http://schemas.microsoft.com/office/drawing/2014/main" id="{5283F9E4-F5FB-4CEC-81FC-A44C05B5FA5B}"/>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477CFFB3-A90A-4811-9FDD-065892C0AB10}"/>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What the recorded metrics say</a:t>
            </a:r>
          </a:p>
        </p:txBody>
      </p:sp>
      <p:sp>
        <p:nvSpPr>
          <p:cNvPr id="3" name="">
            <a:extLst xmlns:a="http://schemas.openxmlformats.org/drawingml/2006/main">
              <a:ext uri="{FF2B5EF4-FFF2-40B4-BE49-F238E27FC236}">
                <a16:creationId xmlns:a16="http://schemas.microsoft.com/office/drawing/2014/main" id="{DDB546B3-D7C3-4097-A8CE-3F1E75C08482}"/>
              </a:ext>
            </a:extLst>
          </p:cNvPr>
          <p:cNvSpPr>
            <a:spLocks xmlns:a="http://schemas.openxmlformats.org/drawingml/2006/main" noGrp="1"/>
          </p:cNvSpPr>
          <p:nvPr/>
        </p:nvSpPr>
        <p:spPr>
          <a:xfrm xmlns:a="http://schemas.openxmlformats.org/drawingml/2006/main">
            <a:off x="649224" y="1828800"/>
            <a:ext cx="10762488" cy="86868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325" b="1">
                <a:solidFill>
                  <a:srgbClr val="183C42"/>
                </a:solidFill>
                <a:latin typeface="Arial"/>
                <a:ea typeface="Arial"/>
                <a:cs typeface="Arial"/>
              </a:defRPr>
            </a:defPPr>
            <a:lvl1pPr>
              <a:defRPr sz="2325" b="1">
                <a:solidFill>
                  <a:srgbClr val="183C42"/>
                </a:solidFill>
                <a:latin typeface="Arial"/>
                <a:ea typeface="Arial"/>
                <a:cs typeface="Arial"/>
              </a:defRPr>
            </a:lvl1pPr>
            <a:lvl2pPr>
              <a:defRPr sz="2325" b="1">
                <a:solidFill>
                  <a:srgbClr val="183C42"/>
                </a:solidFill>
                <a:latin typeface="Arial"/>
                <a:ea typeface="Arial"/>
                <a:cs typeface="Arial"/>
              </a:defRPr>
            </a:lvl2pPr>
            <a:lvl3pPr>
              <a:defRPr sz="2325" b="1">
                <a:solidFill>
                  <a:srgbClr val="183C42"/>
                </a:solidFill>
                <a:latin typeface="Arial"/>
                <a:ea typeface="Arial"/>
                <a:cs typeface="Arial"/>
              </a:defRPr>
            </a:lvl3pPr>
            <a:lvl4pPr>
              <a:defRPr sz="2325" b="1">
                <a:solidFill>
                  <a:srgbClr val="183C42"/>
                </a:solidFill>
                <a:latin typeface="Arial"/>
                <a:ea typeface="Arial"/>
                <a:cs typeface="Arial"/>
              </a:defRPr>
            </a:lvl4pPr>
            <a:lvl5pPr>
              <a:defRPr sz="2325" b="1">
                <a:solidFill>
                  <a:srgbClr val="183C42"/>
                </a:solidFill>
                <a:latin typeface="Arial"/>
                <a:ea typeface="Arial"/>
                <a:cs typeface="Arial"/>
              </a:defRPr>
            </a:lvl5pPr>
            <a:lvl6pPr>
              <a:defRPr sz="2325" b="1">
                <a:solidFill>
                  <a:srgbClr val="183C42"/>
                </a:solidFill>
                <a:latin typeface="Arial"/>
                <a:ea typeface="Arial"/>
                <a:cs typeface="Arial"/>
              </a:defRPr>
            </a:lvl6pPr>
            <a:lvl7pPr>
              <a:defRPr sz="2325" b="1">
                <a:solidFill>
                  <a:srgbClr val="183C42"/>
                </a:solidFill>
                <a:latin typeface="Arial"/>
                <a:ea typeface="Arial"/>
                <a:cs typeface="Arial"/>
              </a:defRPr>
            </a:lvl7pPr>
            <a:lvl8pPr>
              <a:defRPr sz="2325" b="1">
                <a:solidFill>
                  <a:srgbClr val="183C42"/>
                </a:solidFill>
                <a:latin typeface="Arial"/>
                <a:ea typeface="Arial"/>
                <a:cs typeface="Arial"/>
              </a:defRPr>
            </a:lvl8pPr>
            <a:lvl9pPr>
              <a:defRPr sz="2325" b="1">
                <a:solidFill>
                  <a:srgbClr val="183C42"/>
                </a:solidFill>
                <a:latin typeface="Arial"/>
                <a:ea typeface="Arial"/>
                <a:cs typeface="Arial"/>
              </a:defRPr>
            </a:lvl9pPr>
          </a:lstStyle>
          <a:p xmlns:a="http://schemas.openxmlformats.org/drawingml/2006/main">
            <a:pPr>
              <a:defRPr sz="2325" b="1">
                <a:solidFill>
                  <a:srgbClr val="183C42"/>
                </a:solidFill>
                <a:latin typeface="Arial"/>
                <a:ea typeface="Arial"/>
                <a:cs typeface="Arial"/>
              </a:defRPr>
            </a:pPr>
            <a:r>
              <a:rPr sz="2200" b="1">
                <a:solidFill>
                  <a:srgbClr val="183C42"/>
                </a:solidFill>
                <a:latin typeface="Arial"/>
              </a:rPr>
              <a:t>Synthetic validation split (44 patients), also used for checkpoint selection and calibration: development evidence, not a held-out test</a:t>
            </a:r>
          </a:p>
        </p:txBody>
      </p:sp>
      <p:sp>
        <p:nvSpPr>
          <p:cNvPr id="4" name="">
            <a:extLst xmlns:a="http://schemas.openxmlformats.org/drawingml/2006/main">
              <a:ext uri="{FF2B5EF4-FFF2-40B4-BE49-F238E27FC236}">
                <a16:creationId xmlns:a16="http://schemas.microsoft.com/office/drawing/2014/main" id="{A94F4E3E-CCF6-441C-8A96-F59F87B8AA73}"/>
              </a:ext>
            </a:extLst>
          </p:cNvPr>
          <p:cNvSpPr>
            <a:spLocks xmlns:a="http://schemas.openxmlformats.org/drawingml/2006/main" noGrp="1"/>
          </p:cNvSpPr>
          <p:nvPr/>
        </p:nvSpPr>
        <p:spPr>
          <a:xfrm xmlns:a="http://schemas.openxmlformats.org/drawingml/2006/main">
            <a:off x="649224" y="2788920"/>
            <a:ext cx="10762488"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200" b="1">
                <a:solidFill>
                  <a:srgbClr val="183C42"/>
                </a:solidFill>
                <a:latin typeface="Arial"/>
              </a:rPr>
              <a:t>60-min RMSE:  </a:t>
            </a:r>
            <a:r>
              <a:rPr sz="2200" b="0">
                <a:solidFill>
                  <a:srgbClr val="183C42"/>
                </a:solidFill>
                <a:latin typeface="Arial"/>
              </a:rPr>
              <a:t>hybrid </a:t>
            </a:r>
            <a:r>
              <a:rPr sz="2200" b="1">
                <a:solidFill>
                  <a:srgbClr val="183C42"/>
                </a:solidFill>
                <a:latin typeface="Arial"/>
              </a:rPr>
              <a:t>19.53</a:t>
            </a:r>
            <a:r>
              <a:rPr sz="2200" b="0">
                <a:solidFill>
                  <a:srgbClr val="183C42"/>
                </a:solidFill>
                <a:latin typeface="Arial"/>
              </a:rPr>
              <a:t>  ·  twin only </a:t>
            </a:r>
            <a:r>
              <a:rPr sz="2200" b="1">
                <a:solidFill>
                  <a:srgbClr val="183C42"/>
                </a:solidFill>
                <a:latin typeface="Arial"/>
              </a:rPr>
              <a:t>23.23</a:t>
            </a:r>
            <a:r>
              <a:rPr sz="2200" b="0">
                <a:solidFill>
                  <a:srgbClr val="183C42"/>
                </a:solidFill>
                <a:latin typeface="Arial"/>
              </a:rPr>
              <a:t>  ·  persistence </a:t>
            </a:r>
            <a:r>
              <a:rPr sz="2200" b="1">
                <a:solidFill>
                  <a:srgbClr val="183C42"/>
                </a:solidFill>
                <a:latin typeface="Arial"/>
              </a:rPr>
              <a:t>36.05</a:t>
            </a:r>
            <a:r>
              <a:rPr sz="2200" b="0">
                <a:solidFill>
                  <a:srgbClr val="183C42"/>
                </a:solidFill>
                <a:latin typeface="Arial"/>
              </a:rPr>
              <a:t> mg/dL</a:t>
            </a:r>
          </a:p>
        </p:txBody>
      </p:sp>
      <p:sp>
        <p:nvSpPr>
          <p:cNvPr id="5" name="">
            <a:extLst xmlns:a="http://schemas.openxmlformats.org/drawingml/2006/main">
              <a:ext uri="{FF2B5EF4-FFF2-40B4-BE49-F238E27FC236}">
                <a16:creationId xmlns:a16="http://schemas.microsoft.com/office/drawing/2014/main" id="{E1982934-164F-4736-94B4-248993331C2D}"/>
              </a:ext>
            </a:extLst>
          </p:cNvPr>
          <p:cNvSpPr>
            <a:spLocks xmlns:a="http://schemas.openxmlformats.org/drawingml/2006/main" noGrp="1"/>
          </p:cNvSpPr>
          <p:nvPr/>
        </p:nvSpPr>
        <p:spPr>
          <a:xfrm xmlns:a="http://schemas.openxmlformats.org/drawingml/2006/main">
            <a:off x="649224" y="3310128"/>
            <a:ext cx="10762488"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200" b="1">
                <a:solidFill>
                  <a:srgbClr val="183C42"/>
                </a:solidFill>
                <a:latin typeface="Arial"/>
              </a:rPr>
              <a:t>Hybrid RMSE at 30 / 60 / 120 min:  </a:t>
            </a:r>
            <a:r>
              <a:rPr sz="2200" b="0">
                <a:solidFill>
                  <a:srgbClr val="183C42"/>
                </a:solidFill>
                <a:latin typeface="Arial"/>
              </a:rPr>
              <a:t>12.36 / 19.53 / 25.03 mg/dL</a:t>
            </a:r>
          </a:p>
        </p:txBody>
      </p:sp>
      <p:sp>
        <p:nvSpPr>
          <p:cNvPr id="6" name="">
            <a:extLst xmlns:a="http://schemas.openxmlformats.org/drawingml/2006/main">
              <a:ext uri="{FF2B5EF4-FFF2-40B4-BE49-F238E27FC236}">
                <a16:creationId xmlns:a16="http://schemas.microsoft.com/office/drawing/2014/main" id="{CECADB41-9285-43E6-88CC-AFD6913CCD03}"/>
              </a:ext>
            </a:extLst>
          </p:cNvPr>
          <p:cNvSpPr>
            <a:spLocks xmlns:a="http://schemas.openxmlformats.org/drawingml/2006/main" noGrp="1"/>
          </p:cNvSpPr>
          <p:nvPr/>
        </p:nvSpPr>
        <p:spPr>
          <a:xfrm xmlns:a="http://schemas.openxmlformats.org/drawingml/2006/main">
            <a:off x="649224" y="3831336"/>
            <a:ext cx="10762488" cy="4572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325" b="0">
                <a:solidFill>
                  <a:srgbClr val="183C42"/>
                </a:solidFill>
                <a:latin typeface="Arial"/>
                <a:ea typeface="Arial"/>
                <a:cs typeface="Arial"/>
              </a:defRPr>
            </a:defPPr>
            <a:lvl1pPr>
              <a:defRPr sz="2325" b="0">
                <a:solidFill>
                  <a:srgbClr val="183C42"/>
                </a:solidFill>
                <a:latin typeface="Arial"/>
                <a:ea typeface="Arial"/>
                <a:cs typeface="Arial"/>
              </a:defRPr>
            </a:lvl1pPr>
            <a:lvl2pPr>
              <a:defRPr sz="2325" b="0">
                <a:solidFill>
                  <a:srgbClr val="183C42"/>
                </a:solidFill>
                <a:latin typeface="Arial"/>
                <a:ea typeface="Arial"/>
                <a:cs typeface="Arial"/>
              </a:defRPr>
            </a:lvl2pPr>
            <a:lvl3pPr>
              <a:defRPr sz="2325" b="0">
                <a:solidFill>
                  <a:srgbClr val="183C42"/>
                </a:solidFill>
                <a:latin typeface="Arial"/>
                <a:ea typeface="Arial"/>
                <a:cs typeface="Arial"/>
              </a:defRPr>
            </a:lvl3pPr>
            <a:lvl4pPr>
              <a:defRPr sz="2325" b="0">
                <a:solidFill>
                  <a:srgbClr val="183C42"/>
                </a:solidFill>
                <a:latin typeface="Arial"/>
                <a:ea typeface="Arial"/>
                <a:cs typeface="Arial"/>
              </a:defRPr>
            </a:lvl4pPr>
            <a:lvl5pPr>
              <a:defRPr sz="2325" b="0">
                <a:solidFill>
                  <a:srgbClr val="183C42"/>
                </a:solidFill>
                <a:latin typeface="Arial"/>
                <a:ea typeface="Arial"/>
                <a:cs typeface="Arial"/>
              </a:defRPr>
            </a:lvl5pPr>
            <a:lvl6pPr>
              <a:defRPr sz="2325" b="0">
                <a:solidFill>
                  <a:srgbClr val="183C42"/>
                </a:solidFill>
                <a:latin typeface="Arial"/>
                <a:ea typeface="Arial"/>
                <a:cs typeface="Arial"/>
              </a:defRPr>
            </a:lvl6pPr>
            <a:lvl7pPr>
              <a:defRPr sz="2325" b="0">
                <a:solidFill>
                  <a:srgbClr val="183C42"/>
                </a:solidFill>
                <a:latin typeface="Arial"/>
                <a:ea typeface="Arial"/>
                <a:cs typeface="Arial"/>
              </a:defRPr>
            </a:lvl7pPr>
            <a:lvl8pPr>
              <a:defRPr sz="2325" b="0">
                <a:solidFill>
                  <a:srgbClr val="183C42"/>
                </a:solidFill>
                <a:latin typeface="Arial"/>
                <a:ea typeface="Arial"/>
                <a:cs typeface="Arial"/>
              </a:defRPr>
            </a:lvl8pPr>
            <a:lvl9pPr>
              <a:defRPr sz="2325" b="0">
                <a:solidFill>
                  <a:srgbClr val="183C42"/>
                </a:solidFill>
                <a:latin typeface="Arial"/>
                <a:ea typeface="Arial"/>
                <a:cs typeface="Arial"/>
              </a:defRPr>
            </a:lvl9pPr>
          </a:lstStyle>
          <a:p xmlns:a="http://schemas.openxmlformats.org/drawingml/2006/main">
            <a:pPr>
              <a:defRPr sz="2325" b="0">
                <a:solidFill>
                  <a:srgbClr val="183C42"/>
                </a:solidFill>
                <a:latin typeface="Arial"/>
                <a:ea typeface="Arial"/>
                <a:cs typeface="Arial"/>
              </a:defRPr>
            </a:pPr>
            <a:r>
              <a:rPr sz="2200" b="1">
                <a:solidFill>
                  <a:srgbClr val="183C42"/>
                </a:solidFill>
                <a:latin typeface="Arial"/>
              </a:rPr>
              <a:t>Spike-risk AUROC (raw model output):  </a:t>
            </a:r>
            <a:r>
              <a:rPr sz="2200" b="0">
                <a:solidFill>
                  <a:srgbClr val="183C42"/>
                </a:solidFill>
                <a:latin typeface="Arial"/>
              </a:rPr>
              <a:t>0.922</a:t>
            </a:r>
          </a:p>
        </p:txBody>
      </p:sp>
      <p:sp>
        <p:nvSpPr>
          <p:cNvPr id="8" name="">
            <a:extLst xmlns:a="http://schemas.openxmlformats.org/drawingml/2006/main">
              <a:ext uri="{FF2B5EF4-FFF2-40B4-BE49-F238E27FC236}">
                <a16:creationId xmlns:a16="http://schemas.microsoft.com/office/drawing/2014/main" id="{0A3F5946-E123-4883-B32D-C92365C3ADDC}"/>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Synthetic research only. No clinical validation claimed.</a:t>
            </a:r>
          </a:p>
        </p:txBody>
      </p:sp>
      <p:sp>
        <p:nvSpPr>
          <p:cNvPr id="9" name="">
            <a:extLst xmlns:a="http://schemas.openxmlformats.org/drawingml/2006/main">
              <a:ext uri="{FF2B5EF4-FFF2-40B4-BE49-F238E27FC236}">
                <a16:creationId xmlns:a16="http://schemas.microsoft.com/office/drawing/2014/main" id="{22FC2ADD-F790-4C8A-8DAA-3F7E7466CD4E}"/>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11</a:t>
            </a:r>
          </a:p>
        </p:txBody>
      </p:sp>
      <p:sp xmlns:a="http://schemas.openxmlformats.org/drawingml/2006/main">
        <p:nvSpPr>
          <p:cNvPr id="11" name="Rectangle 10"/>
          <p:cNvSpPr/>
          <p:nvPr/>
        </p:nvSpPr>
        <p:spPr>
          <a:xfrm>
            <a:off x="649224" y="4434840"/>
            <a:ext cx="10058400" cy="1280160"/>
          </a:xfrm>
          <a:prstGeom prst="rect">
            <a:avLst/>
          </a:prstGeom>
          <a:solidFill>
            <a:srgbClr val="F3E3C8"/>
          </a:solidFill>
          <a:ln w="19050">
            <a:solidFill>
              <a:srgbClr val="B5701E"/>
            </a:solidFill>
          </a:ln>
          <a:effectLst/>
        </p:spPr>
        <p:style>
          <a:lnRef idx="1">
            <a:schemeClr val="accent1"/>
          </a:lnRef>
          <a:fillRef idx="3">
            <a:schemeClr val="accent1"/>
          </a:fillRef>
          <a:effectRef idx="2">
            <a:schemeClr val="accent1"/>
          </a:effectRef>
          <a:fontRef idx="minor">
            <a:schemeClr val="lt1"/>
          </a:fontRef>
        </p:style>
        <p:txBody>
          <a:bodyPr rtlCol="0" anchor="ctr" lIns="228600" rIns="228600" tIns="109728" bIns="109728" wrap="square"/>
          <a:lstStyle/>
          <a:p>
            <a:pPr algn="l"/>
            <a:r>
              <a:rPr sz="2000" b="1">
                <a:solidFill>
                  <a:srgbClr val="183C42"/>
                </a:solidFill>
                <a:latin typeface="Arial"/>
              </a:rPr>
              <a:t>In-sample diagnostics: fitted and scored on these same validation patients</a:t>
            </a:r>
          </a:p>
          <a:p>
            <a:pPr algn="l"/>
            <a:r>
              <a:rPr sz="1900" b="0">
                <a:solidFill>
                  <a:srgbClr val="183C42"/>
                </a:solidFill>
                <a:latin typeface="Arial"/>
              </a:rPr>
              <a:t>80% interval coverage 80.00% (expected by construction) · width 37.30 mg/dL · calibrated Brier 0.0703. Not independent performance evidence.</a:t>
            </a:r>
          </a:p>
        </p:txBody>
      </p:sp>
    </p:spTree>
    <p:extLst>
      <p:ext uri="{BB962C8B-B14F-4D97-AF65-F5344CB8AC3E}">
        <p14:creationId xmlns:p14="http://schemas.microsoft.com/office/powerpoint/2010/main" val="614358682"/>
      </p:ext>
    </p:extLst>
  </p:cSld>
</p:sld>
</file>

<file path=ppt/slides/slide12.xml><?xml version="1.0" encoding="utf-8"?>
<p:sld xmlns:p="http://schemas.openxmlformats.org/presentationml/2006/main">
  <p:cSld>
    <p:bg>
      <p:bgPr>
        <a:solidFill xmlns:a="http://schemas.openxmlformats.org/drawingml/2006/main">
          <a:srgbClr val="123A4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367D0702-6BB7-4385-8573-F23C01257FF8}"/>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BD4CA"/>
                </a:solidFill>
                <a:latin typeface="Arial"/>
                <a:ea typeface="Arial"/>
                <a:cs typeface="Arial"/>
              </a:defRPr>
            </a:defPPr>
            <a:lvl1pPr>
              <a:defRPr sz="1350" b="0">
                <a:solidFill>
                  <a:srgbClr val="ABD4CA"/>
                </a:solidFill>
                <a:latin typeface="Arial"/>
                <a:ea typeface="Arial"/>
                <a:cs typeface="Arial"/>
              </a:defRPr>
            </a:lvl1pPr>
            <a:lvl2pPr>
              <a:defRPr sz="1350" b="0">
                <a:solidFill>
                  <a:srgbClr val="ABD4CA"/>
                </a:solidFill>
                <a:latin typeface="Arial"/>
                <a:ea typeface="Arial"/>
                <a:cs typeface="Arial"/>
              </a:defRPr>
            </a:lvl2pPr>
            <a:lvl3pPr>
              <a:defRPr sz="1350" b="0">
                <a:solidFill>
                  <a:srgbClr val="ABD4CA"/>
                </a:solidFill>
                <a:latin typeface="Arial"/>
                <a:ea typeface="Arial"/>
                <a:cs typeface="Arial"/>
              </a:defRPr>
            </a:lvl3pPr>
            <a:lvl4pPr>
              <a:defRPr sz="1350" b="0">
                <a:solidFill>
                  <a:srgbClr val="ABD4CA"/>
                </a:solidFill>
                <a:latin typeface="Arial"/>
                <a:ea typeface="Arial"/>
                <a:cs typeface="Arial"/>
              </a:defRPr>
            </a:lvl4pPr>
            <a:lvl5pPr>
              <a:defRPr sz="1350" b="0">
                <a:solidFill>
                  <a:srgbClr val="ABD4CA"/>
                </a:solidFill>
                <a:latin typeface="Arial"/>
                <a:ea typeface="Arial"/>
                <a:cs typeface="Arial"/>
              </a:defRPr>
            </a:lvl5pPr>
            <a:lvl6pPr>
              <a:defRPr sz="1350" b="0">
                <a:solidFill>
                  <a:srgbClr val="ABD4CA"/>
                </a:solidFill>
                <a:latin typeface="Arial"/>
                <a:ea typeface="Arial"/>
                <a:cs typeface="Arial"/>
              </a:defRPr>
            </a:lvl6pPr>
            <a:lvl7pPr>
              <a:defRPr sz="1350" b="0">
                <a:solidFill>
                  <a:srgbClr val="ABD4CA"/>
                </a:solidFill>
                <a:latin typeface="Arial"/>
                <a:ea typeface="Arial"/>
                <a:cs typeface="Arial"/>
              </a:defRPr>
            </a:lvl7pPr>
            <a:lvl8pPr>
              <a:defRPr sz="1350" b="0">
                <a:solidFill>
                  <a:srgbClr val="ABD4CA"/>
                </a:solidFill>
                <a:latin typeface="Arial"/>
                <a:ea typeface="Arial"/>
                <a:cs typeface="Arial"/>
              </a:defRPr>
            </a:lvl8pPr>
            <a:lvl9pPr>
              <a:defRPr sz="1350" b="0">
                <a:solidFill>
                  <a:srgbClr val="ABD4CA"/>
                </a:solidFill>
                <a:latin typeface="Arial"/>
                <a:ea typeface="Arial"/>
                <a:cs typeface="Arial"/>
              </a:defRPr>
            </a:lvl9pPr>
          </a:lstStyle>
          <a:p xmlns:a="http://schemas.openxmlformats.org/drawingml/2006/main">
            <a:pPr>
              <a:defRPr sz="1350" b="0">
                <a:solidFill>
                  <a:srgbClr val="ABD4CA"/>
                </a:solidFill>
                <a:latin typeface="Arial"/>
                <a:ea typeface="Arial"/>
                <a:cs typeface="Arial"/>
              </a:defRPr>
            </a:pPr>
            <a:r>
              <a:rPr sz="1350" b="0">
                <a:solidFill>
                  <a:srgbClr val="ABD4CA"/>
                </a:solidFill>
                <a:latin typeface="Arial"/>
                <a:ea typeface="Arial"/>
                <a:cs typeface="Arial"/>
              </a:rPr>
              <a:t>Akshaya</a:t>
            </a:r>
          </a:p>
        </p:txBody>
      </p:sp>
      <p:sp>
        <p:nvSpPr>
          <p:cNvPr id="2" name="">
            <a:extLst xmlns:a="http://schemas.openxmlformats.org/drawingml/2006/main">
              <a:ext uri="{FF2B5EF4-FFF2-40B4-BE49-F238E27FC236}">
                <a16:creationId xmlns:a16="http://schemas.microsoft.com/office/drawing/2014/main" id="{0EE260A9-3A1D-42A8-850B-8B52960E6D68}"/>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F5F3EC"/>
                </a:solidFill>
                <a:latin typeface="Arial"/>
                <a:ea typeface="Arial"/>
                <a:cs typeface="Arial"/>
              </a:defRPr>
            </a:defPPr>
            <a:lvl1pPr>
              <a:defRPr sz="3600" b="1">
                <a:solidFill>
                  <a:srgbClr val="F5F3EC"/>
                </a:solidFill>
                <a:latin typeface="Arial"/>
                <a:ea typeface="Arial"/>
                <a:cs typeface="Arial"/>
              </a:defRPr>
            </a:lvl1pPr>
            <a:lvl2pPr>
              <a:defRPr sz="3600" b="1">
                <a:solidFill>
                  <a:srgbClr val="F5F3EC"/>
                </a:solidFill>
                <a:latin typeface="Arial"/>
                <a:ea typeface="Arial"/>
                <a:cs typeface="Arial"/>
              </a:defRPr>
            </a:lvl2pPr>
            <a:lvl3pPr>
              <a:defRPr sz="3600" b="1">
                <a:solidFill>
                  <a:srgbClr val="F5F3EC"/>
                </a:solidFill>
                <a:latin typeface="Arial"/>
                <a:ea typeface="Arial"/>
                <a:cs typeface="Arial"/>
              </a:defRPr>
            </a:lvl3pPr>
            <a:lvl4pPr>
              <a:defRPr sz="3600" b="1">
                <a:solidFill>
                  <a:srgbClr val="F5F3EC"/>
                </a:solidFill>
                <a:latin typeface="Arial"/>
                <a:ea typeface="Arial"/>
                <a:cs typeface="Arial"/>
              </a:defRPr>
            </a:lvl4pPr>
            <a:lvl5pPr>
              <a:defRPr sz="3600" b="1">
                <a:solidFill>
                  <a:srgbClr val="F5F3EC"/>
                </a:solidFill>
                <a:latin typeface="Arial"/>
                <a:ea typeface="Arial"/>
                <a:cs typeface="Arial"/>
              </a:defRPr>
            </a:lvl5pPr>
            <a:lvl6pPr>
              <a:defRPr sz="3600" b="1">
                <a:solidFill>
                  <a:srgbClr val="F5F3EC"/>
                </a:solidFill>
                <a:latin typeface="Arial"/>
                <a:ea typeface="Arial"/>
                <a:cs typeface="Arial"/>
              </a:defRPr>
            </a:lvl6pPr>
            <a:lvl7pPr>
              <a:defRPr sz="3600" b="1">
                <a:solidFill>
                  <a:srgbClr val="F5F3EC"/>
                </a:solidFill>
                <a:latin typeface="Arial"/>
                <a:ea typeface="Arial"/>
                <a:cs typeface="Arial"/>
              </a:defRPr>
            </a:lvl7pPr>
            <a:lvl8pPr>
              <a:defRPr sz="3600" b="1">
                <a:solidFill>
                  <a:srgbClr val="F5F3EC"/>
                </a:solidFill>
                <a:latin typeface="Arial"/>
                <a:ea typeface="Arial"/>
                <a:cs typeface="Arial"/>
              </a:defRPr>
            </a:lvl8pPr>
            <a:lvl9pPr>
              <a:defRPr sz="3600" b="1">
                <a:solidFill>
                  <a:srgbClr val="F5F3EC"/>
                </a:solidFill>
                <a:latin typeface="Arial"/>
                <a:ea typeface="Arial"/>
                <a:cs typeface="Arial"/>
              </a:defRPr>
            </a:lvl9pPr>
          </a:lstStyle>
          <a:p xmlns:a="http://schemas.openxmlformats.org/drawingml/2006/main">
            <a:pPr>
              <a:defRPr sz="3600" b="1">
                <a:solidFill>
                  <a:srgbClr val="F5F3EC"/>
                </a:solidFill>
                <a:latin typeface="Arial"/>
                <a:ea typeface="Arial"/>
                <a:cs typeface="Arial"/>
              </a:defRPr>
            </a:pPr>
            <a:r>
              <a:rPr sz="3600" b="1">
                <a:solidFill>
                  <a:srgbClr val="F5F3EC"/>
                </a:solidFill>
                <a:latin typeface="Arial"/>
                <a:ea typeface="Arial"/>
                <a:cs typeface="Arial"/>
              </a:rPr>
              <a:t>The realism check failed</a:t>
            </a:r>
          </a:p>
        </p:txBody>
      </p:sp>
      <p:sp>
        <p:nvSpPr>
          <p:cNvPr id="3" name="">
            <a:extLst xmlns:a="http://schemas.openxmlformats.org/drawingml/2006/main">
              <a:ext uri="{FF2B5EF4-FFF2-40B4-BE49-F238E27FC236}">
                <a16:creationId xmlns:a16="http://schemas.microsoft.com/office/drawing/2014/main" id="{2EAEF6C1-985E-426B-9F6B-FB98ADB21063}"/>
              </a:ext>
            </a:extLst>
          </p:cNvPr>
          <p:cNvSpPr>
            <a:spLocks xmlns:a="http://schemas.openxmlformats.org/drawingml/2006/main" noGrp="1"/>
          </p:cNvSpPr>
          <p:nvPr/>
        </p:nvSpPr>
        <p:spPr>
          <a:xfrm xmlns:a="http://schemas.openxmlformats.org/drawingml/2006/main">
            <a:off x="609600" y="1981200"/>
            <a:ext cx="4572000" cy="1333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8400" b="1">
                <a:solidFill>
                  <a:srgbClr val="FFD0A8"/>
                </a:solidFill>
                <a:latin typeface="Arial"/>
                <a:ea typeface="Arial"/>
                <a:cs typeface="Arial"/>
              </a:defRPr>
            </a:defPPr>
            <a:lvl1pPr>
              <a:defRPr sz="8400" b="1">
                <a:solidFill>
                  <a:srgbClr val="FFD0A8"/>
                </a:solidFill>
                <a:latin typeface="Arial"/>
                <a:ea typeface="Arial"/>
                <a:cs typeface="Arial"/>
              </a:defRPr>
            </a:lvl1pPr>
            <a:lvl2pPr>
              <a:defRPr sz="8400" b="1">
                <a:solidFill>
                  <a:srgbClr val="FFD0A8"/>
                </a:solidFill>
                <a:latin typeface="Arial"/>
                <a:ea typeface="Arial"/>
                <a:cs typeface="Arial"/>
              </a:defRPr>
            </a:lvl2pPr>
            <a:lvl3pPr>
              <a:defRPr sz="8400" b="1">
                <a:solidFill>
                  <a:srgbClr val="FFD0A8"/>
                </a:solidFill>
                <a:latin typeface="Arial"/>
                <a:ea typeface="Arial"/>
                <a:cs typeface="Arial"/>
              </a:defRPr>
            </a:lvl3pPr>
            <a:lvl4pPr>
              <a:defRPr sz="8400" b="1">
                <a:solidFill>
                  <a:srgbClr val="FFD0A8"/>
                </a:solidFill>
                <a:latin typeface="Arial"/>
                <a:ea typeface="Arial"/>
                <a:cs typeface="Arial"/>
              </a:defRPr>
            </a:lvl4pPr>
            <a:lvl5pPr>
              <a:defRPr sz="8400" b="1">
                <a:solidFill>
                  <a:srgbClr val="FFD0A8"/>
                </a:solidFill>
                <a:latin typeface="Arial"/>
                <a:ea typeface="Arial"/>
                <a:cs typeface="Arial"/>
              </a:defRPr>
            </a:lvl5pPr>
            <a:lvl6pPr>
              <a:defRPr sz="8400" b="1">
                <a:solidFill>
                  <a:srgbClr val="FFD0A8"/>
                </a:solidFill>
                <a:latin typeface="Arial"/>
                <a:ea typeface="Arial"/>
                <a:cs typeface="Arial"/>
              </a:defRPr>
            </a:lvl6pPr>
            <a:lvl7pPr>
              <a:defRPr sz="8400" b="1">
                <a:solidFill>
                  <a:srgbClr val="FFD0A8"/>
                </a:solidFill>
                <a:latin typeface="Arial"/>
                <a:ea typeface="Arial"/>
                <a:cs typeface="Arial"/>
              </a:defRPr>
            </a:lvl7pPr>
            <a:lvl8pPr>
              <a:defRPr sz="8400" b="1">
                <a:solidFill>
                  <a:srgbClr val="FFD0A8"/>
                </a:solidFill>
                <a:latin typeface="Arial"/>
                <a:ea typeface="Arial"/>
                <a:cs typeface="Arial"/>
              </a:defRPr>
            </a:lvl8pPr>
            <a:lvl9pPr>
              <a:defRPr sz="8400" b="1">
                <a:solidFill>
                  <a:srgbClr val="FFD0A8"/>
                </a:solidFill>
                <a:latin typeface="Arial"/>
                <a:ea typeface="Arial"/>
                <a:cs typeface="Arial"/>
              </a:defRPr>
            </a:lvl9pPr>
          </a:lstStyle>
          <a:p xmlns:a="http://schemas.openxmlformats.org/drawingml/2006/main">
            <a:pPr>
              <a:defRPr sz="8400" b="1">
                <a:solidFill>
                  <a:srgbClr val="FFD0A8"/>
                </a:solidFill>
                <a:latin typeface="Arial"/>
                <a:ea typeface="Arial"/>
                <a:cs typeface="Arial"/>
              </a:defRPr>
            </a:pPr>
            <a:r>
              <a:rPr sz="8400" b="1">
                <a:solidFill>
                  <a:srgbClr val="FFD0A8"/>
                </a:solidFill>
                <a:latin typeface="Arial"/>
                <a:ea typeface="Arial"/>
                <a:cs typeface="Arial"/>
              </a:rPr>
              <a:t>FAIL</a:t>
            </a:r>
          </a:p>
        </p:txBody>
      </p:sp>
      <p:sp>
        <p:nvSpPr>
          <p:cNvPr id="4" name="">
            <a:extLst xmlns:a="http://schemas.openxmlformats.org/drawingml/2006/main">
              <a:ext uri="{FF2B5EF4-FFF2-40B4-BE49-F238E27FC236}">
                <a16:creationId xmlns:a16="http://schemas.microsoft.com/office/drawing/2014/main" id="{87A5EECB-C56B-4133-B750-FE01288BD30B}"/>
              </a:ext>
            </a:extLst>
          </p:cNvPr>
          <p:cNvSpPr>
            <a:spLocks xmlns:a="http://schemas.openxmlformats.org/drawingml/2006/main" noGrp="1"/>
          </p:cNvSpPr>
          <p:nvPr/>
        </p:nvSpPr>
        <p:spPr>
          <a:xfrm xmlns:a="http://schemas.openxmlformats.org/drawingml/2006/main">
            <a:off x="609600" y="3495675"/>
            <a:ext cx="542925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550" b="0">
                <a:solidFill>
                  <a:srgbClr val="F5F3EC"/>
                </a:solidFill>
                <a:latin typeface="Arial"/>
                <a:ea typeface="Arial"/>
                <a:cs typeface="Arial"/>
              </a:defRPr>
            </a:defPPr>
            <a:lvl1pPr>
              <a:defRPr sz="2550" b="0">
                <a:solidFill>
                  <a:srgbClr val="F5F3EC"/>
                </a:solidFill>
                <a:latin typeface="Arial"/>
                <a:ea typeface="Arial"/>
                <a:cs typeface="Arial"/>
              </a:defRPr>
            </a:lvl1pPr>
            <a:lvl2pPr>
              <a:defRPr sz="2550" b="0">
                <a:solidFill>
                  <a:srgbClr val="F5F3EC"/>
                </a:solidFill>
                <a:latin typeface="Arial"/>
                <a:ea typeface="Arial"/>
                <a:cs typeface="Arial"/>
              </a:defRPr>
            </a:lvl2pPr>
            <a:lvl3pPr>
              <a:defRPr sz="2550" b="0">
                <a:solidFill>
                  <a:srgbClr val="F5F3EC"/>
                </a:solidFill>
                <a:latin typeface="Arial"/>
                <a:ea typeface="Arial"/>
                <a:cs typeface="Arial"/>
              </a:defRPr>
            </a:lvl3pPr>
            <a:lvl4pPr>
              <a:defRPr sz="2550" b="0">
                <a:solidFill>
                  <a:srgbClr val="F5F3EC"/>
                </a:solidFill>
                <a:latin typeface="Arial"/>
                <a:ea typeface="Arial"/>
                <a:cs typeface="Arial"/>
              </a:defRPr>
            </a:lvl4pPr>
            <a:lvl5pPr>
              <a:defRPr sz="2550" b="0">
                <a:solidFill>
                  <a:srgbClr val="F5F3EC"/>
                </a:solidFill>
                <a:latin typeface="Arial"/>
                <a:ea typeface="Arial"/>
                <a:cs typeface="Arial"/>
              </a:defRPr>
            </a:lvl5pPr>
            <a:lvl6pPr>
              <a:defRPr sz="2550" b="0">
                <a:solidFill>
                  <a:srgbClr val="F5F3EC"/>
                </a:solidFill>
                <a:latin typeface="Arial"/>
                <a:ea typeface="Arial"/>
                <a:cs typeface="Arial"/>
              </a:defRPr>
            </a:lvl6pPr>
            <a:lvl7pPr>
              <a:defRPr sz="2550" b="0">
                <a:solidFill>
                  <a:srgbClr val="F5F3EC"/>
                </a:solidFill>
                <a:latin typeface="Arial"/>
                <a:ea typeface="Arial"/>
                <a:cs typeface="Arial"/>
              </a:defRPr>
            </a:lvl7pPr>
            <a:lvl8pPr>
              <a:defRPr sz="2550" b="0">
                <a:solidFill>
                  <a:srgbClr val="F5F3EC"/>
                </a:solidFill>
                <a:latin typeface="Arial"/>
                <a:ea typeface="Arial"/>
                <a:cs typeface="Arial"/>
              </a:defRPr>
            </a:lvl8pPr>
            <a:lvl9pPr>
              <a:defRPr sz="2550" b="0">
                <a:solidFill>
                  <a:srgbClr val="F5F3EC"/>
                </a:solidFill>
                <a:latin typeface="Arial"/>
                <a:ea typeface="Arial"/>
                <a:cs typeface="Arial"/>
              </a:defRPr>
            </a:lvl9pPr>
          </a:lstStyle>
          <a:p xmlns:a="http://schemas.openxmlformats.org/drawingml/2006/main">
            <a:pPr>
              <a:defRPr sz="2550" b="0">
                <a:solidFill>
                  <a:srgbClr val="F5F3EC"/>
                </a:solidFill>
                <a:latin typeface="Arial"/>
                <a:ea typeface="Arial"/>
                <a:cs typeface="Arial"/>
              </a:defRPr>
            </a:pPr>
            <a:r>
              <a:rPr sz="2550" b="0">
                <a:solidFill>
                  <a:srgbClr val="F5F3EC"/>
                </a:solidFill>
                <a:latin typeface="Arial"/>
                <a:ea typeface="Arial"/>
                <a:cs typeface="Arial"/>
              </a:rPr>
              <a:t>Gate 3 synthetic realism</a:t>
            </a:r>
          </a:p>
        </p:txBody>
      </p:sp>
      <p:sp>
        <p:nvSpPr>
          <p:cNvPr id="5" name="">
            <a:extLst xmlns:a="http://schemas.openxmlformats.org/drawingml/2006/main">
              <a:ext uri="{FF2B5EF4-FFF2-40B4-BE49-F238E27FC236}">
                <a16:creationId xmlns:a16="http://schemas.microsoft.com/office/drawing/2014/main" id="{2B36396A-6D35-4828-A35B-27AE8CB61E65}"/>
              </a:ext>
            </a:extLst>
          </p:cNvPr>
          <p:cNvSpPr>
            <a:spLocks xmlns:a="http://schemas.openxmlformats.org/drawingml/2006/main" noGrp="1"/>
          </p:cNvSpPr>
          <p:nvPr/>
        </p:nvSpPr>
        <p:spPr>
          <a:xfrm xmlns:a="http://schemas.openxmlformats.org/drawingml/2006/main">
            <a:off x="609600" y="4333875"/>
            <a:ext cx="514350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250" b="0">
                <a:solidFill>
                  <a:srgbClr val="ABD4CA"/>
                </a:solidFill>
                <a:latin typeface="Arial"/>
                <a:ea typeface="Arial"/>
                <a:cs typeface="Arial"/>
              </a:defRPr>
            </a:defPPr>
            <a:lvl1pPr>
              <a:defRPr sz="2250" b="0">
                <a:solidFill>
                  <a:srgbClr val="ABD4CA"/>
                </a:solidFill>
                <a:latin typeface="Arial"/>
                <a:ea typeface="Arial"/>
                <a:cs typeface="Arial"/>
              </a:defRPr>
            </a:lvl1pPr>
            <a:lvl2pPr>
              <a:defRPr sz="2250" b="0">
                <a:solidFill>
                  <a:srgbClr val="ABD4CA"/>
                </a:solidFill>
                <a:latin typeface="Arial"/>
                <a:ea typeface="Arial"/>
                <a:cs typeface="Arial"/>
              </a:defRPr>
            </a:lvl2pPr>
            <a:lvl3pPr>
              <a:defRPr sz="2250" b="0">
                <a:solidFill>
                  <a:srgbClr val="ABD4CA"/>
                </a:solidFill>
                <a:latin typeface="Arial"/>
                <a:ea typeface="Arial"/>
                <a:cs typeface="Arial"/>
              </a:defRPr>
            </a:lvl3pPr>
            <a:lvl4pPr>
              <a:defRPr sz="2250" b="0">
                <a:solidFill>
                  <a:srgbClr val="ABD4CA"/>
                </a:solidFill>
                <a:latin typeface="Arial"/>
                <a:ea typeface="Arial"/>
                <a:cs typeface="Arial"/>
              </a:defRPr>
            </a:lvl4pPr>
            <a:lvl5pPr>
              <a:defRPr sz="2250" b="0">
                <a:solidFill>
                  <a:srgbClr val="ABD4CA"/>
                </a:solidFill>
                <a:latin typeface="Arial"/>
                <a:ea typeface="Arial"/>
                <a:cs typeface="Arial"/>
              </a:defRPr>
            </a:lvl5pPr>
            <a:lvl6pPr>
              <a:defRPr sz="2250" b="0">
                <a:solidFill>
                  <a:srgbClr val="ABD4CA"/>
                </a:solidFill>
                <a:latin typeface="Arial"/>
                <a:ea typeface="Arial"/>
                <a:cs typeface="Arial"/>
              </a:defRPr>
            </a:lvl6pPr>
            <a:lvl7pPr>
              <a:defRPr sz="2250" b="0">
                <a:solidFill>
                  <a:srgbClr val="ABD4CA"/>
                </a:solidFill>
                <a:latin typeface="Arial"/>
                <a:ea typeface="Arial"/>
                <a:cs typeface="Arial"/>
              </a:defRPr>
            </a:lvl7pPr>
            <a:lvl8pPr>
              <a:defRPr sz="2250" b="0">
                <a:solidFill>
                  <a:srgbClr val="ABD4CA"/>
                </a:solidFill>
                <a:latin typeface="Arial"/>
                <a:ea typeface="Arial"/>
                <a:cs typeface="Arial"/>
              </a:defRPr>
            </a:lvl8pPr>
            <a:lvl9pPr>
              <a:defRPr sz="2250" b="0">
                <a:solidFill>
                  <a:srgbClr val="ABD4CA"/>
                </a:solidFill>
                <a:latin typeface="Arial"/>
                <a:ea typeface="Arial"/>
                <a:cs typeface="Arial"/>
              </a:defRPr>
            </a:lvl9pPr>
          </a:lstStyle>
          <a:p xmlns:a="http://schemas.openxmlformats.org/drawingml/2006/main">
            <a:pPr>
              <a:defRPr sz="2250" b="0">
                <a:solidFill>
                  <a:srgbClr val="ABD4CA"/>
                </a:solidFill>
                <a:latin typeface="Arial"/>
                <a:ea typeface="Arial"/>
                <a:cs typeface="Arial"/>
              </a:defRPr>
            </a:pPr>
            <a:r>
              <a:rPr sz="2100" b="0">
                <a:solidFill>
                  <a:srgbClr val="ABD4CA"/>
                </a:solidFill>
                <a:latin typeface="Arial"/>
              </a:rPr>
              <a:t>Mock-real comparator</a:t>
            </a:r>
          </a:p>
          <a:p xmlns:a="http://schemas.openxmlformats.org/drawingml/2006/main">
            <a:r>
              <a:rPr sz="2100" b="0">
                <a:solidFill>
                  <a:srgbClr val="ABD4CA"/>
                </a:solidFill>
                <a:latin typeface="Arial"/>
              </a:rPr>
              <a:t>AUROC </a:t>
            </a:r>
            <a:r>
              <a:rPr sz="2100" b="1">
                <a:solidFill>
                  <a:srgbClr val="ABD4CA"/>
                </a:solidFill>
                <a:latin typeface="Arial"/>
              </a:rPr>
              <a:t>0.932</a:t>
            </a:r>
            <a:r>
              <a:rPr sz="2100" b="0">
                <a:solidFill>
                  <a:srgbClr val="ABD4CA"/>
                </a:solidFill>
                <a:latin typeface="Arial"/>
              </a:rPr>
              <a:t> (acceptance target ≤ 0.65)</a:t>
            </a:r>
          </a:p>
        </p:txBody>
      </p:sp>
      <p:sp>
        <p:nvSpPr>
          <p:cNvPr id="6" name="">
            <a:extLst xmlns:a="http://schemas.openxmlformats.org/drawingml/2006/main">
              <a:ext uri="{FF2B5EF4-FFF2-40B4-BE49-F238E27FC236}">
                <a16:creationId xmlns:a16="http://schemas.microsoft.com/office/drawing/2014/main" id="{7195248A-D09B-4083-A2D3-85CFBED36C13}"/>
              </a:ext>
            </a:extLst>
          </p:cNvPr>
          <p:cNvSpPr>
            <a:spLocks xmlns:a="http://schemas.openxmlformats.org/drawingml/2006/main" noGrp="1"/>
          </p:cNvSpPr>
          <p:nvPr/>
        </p:nvSpPr>
        <p:spPr>
          <a:xfrm xmlns:a="http://schemas.openxmlformats.org/drawingml/2006/main">
            <a:off x="6428232" y="2194560"/>
            <a:ext cx="5120640" cy="2743200"/>
          </a:xfrm>
          <a:prstGeom xmlns:a="http://schemas.openxmlformats.org/drawingml/2006/main" prst="rect">
            <a:avLst/>
          </a:prstGeom>
          <a:solidFill xmlns:a="http://schemas.openxmlformats.org/drawingml/2006/main">
            <a:srgbClr val="0E2E33"/>
          </a:solidFill>
          <a:ln xmlns:a="http://schemas.openxmlformats.org/drawingml/2006/main" w="19050">
            <a:solidFill>
              <a:srgbClr val="FFD0A8"/>
            </a:solidFill>
          </a:ln>
        </p:spPr>
        <p:txBody>
          <a:bodyPr xmlns:a="http://schemas.openxmlformats.org/drawingml/2006/main" lIns="274320" tIns="182880" rIns="274320" bIns="182880" anchor="ctr" wrap="square"/>
          <a:lstStyle xmlns:a="http://schemas.openxmlformats.org/drawingml/2006/main">
            <a:defPPr>
              <a:defRPr sz="2700" b="0">
                <a:solidFill>
                  <a:srgbClr val="F5F3EC"/>
                </a:solidFill>
                <a:latin typeface="Arial"/>
                <a:ea typeface="Arial"/>
                <a:cs typeface="Arial"/>
              </a:defRPr>
            </a:defPPr>
            <a:lvl1pPr>
              <a:defRPr sz="2700" b="0">
                <a:solidFill>
                  <a:srgbClr val="F5F3EC"/>
                </a:solidFill>
                <a:latin typeface="Arial"/>
                <a:ea typeface="Arial"/>
                <a:cs typeface="Arial"/>
              </a:defRPr>
            </a:lvl1pPr>
            <a:lvl2pPr>
              <a:defRPr sz="2700" b="0">
                <a:solidFill>
                  <a:srgbClr val="F5F3EC"/>
                </a:solidFill>
                <a:latin typeface="Arial"/>
                <a:ea typeface="Arial"/>
                <a:cs typeface="Arial"/>
              </a:defRPr>
            </a:lvl2pPr>
            <a:lvl3pPr>
              <a:defRPr sz="2700" b="0">
                <a:solidFill>
                  <a:srgbClr val="F5F3EC"/>
                </a:solidFill>
                <a:latin typeface="Arial"/>
                <a:ea typeface="Arial"/>
                <a:cs typeface="Arial"/>
              </a:defRPr>
            </a:lvl3pPr>
            <a:lvl4pPr>
              <a:defRPr sz="2700" b="0">
                <a:solidFill>
                  <a:srgbClr val="F5F3EC"/>
                </a:solidFill>
                <a:latin typeface="Arial"/>
                <a:ea typeface="Arial"/>
                <a:cs typeface="Arial"/>
              </a:defRPr>
            </a:lvl4pPr>
            <a:lvl5pPr>
              <a:defRPr sz="2700" b="0">
                <a:solidFill>
                  <a:srgbClr val="F5F3EC"/>
                </a:solidFill>
                <a:latin typeface="Arial"/>
                <a:ea typeface="Arial"/>
                <a:cs typeface="Arial"/>
              </a:defRPr>
            </a:lvl5pPr>
            <a:lvl6pPr>
              <a:defRPr sz="2700" b="0">
                <a:solidFill>
                  <a:srgbClr val="F5F3EC"/>
                </a:solidFill>
                <a:latin typeface="Arial"/>
                <a:ea typeface="Arial"/>
                <a:cs typeface="Arial"/>
              </a:defRPr>
            </a:lvl6pPr>
            <a:lvl7pPr>
              <a:defRPr sz="2700" b="0">
                <a:solidFill>
                  <a:srgbClr val="F5F3EC"/>
                </a:solidFill>
                <a:latin typeface="Arial"/>
                <a:ea typeface="Arial"/>
                <a:cs typeface="Arial"/>
              </a:defRPr>
            </a:lvl7pPr>
            <a:lvl8pPr>
              <a:defRPr sz="2700" b="0">
                <a:solidFill>
                  <a:srgbClr val="F5F3EC"/>
                </a:solidFill>
                <a:latin typeface="Arial"/>
                <a:ea typeface="Arial"/>
                <a:cs typeface="Arial"/>
              </a:defRPr>
            </a:lvl8pPr>
            <a:lvl9pPr>
              <a:defRPr sz="2700" b="0">
                <a:solidFill>
                  <a:srgbClr val="F5F3EC"/>
                </a:solidFill>
                <a:latin typeface="Arial"/>
                <a:ea typeface="Arial"/>
                <a:cs typeface="Arial"/>
              </a:defRPr>
            </a:lvl9pPr>
          </a:lstStyle>
          <a:p xmlns:a="http://schemas.openxmlformats.org/drawingml/2006/main">
            <a:pPr>
              <a:defRPr sz="2700" b="0">
                <a:solidFill>
                  <a:srgbClr val="F5F3EC"/>
                </a:solidFill>
                <a:latin typeface="Arial"/>
                <a:ea typeface="Arial"/>
                <a:cs typeface="Arial"/>
              </a:defRPr>
            </a:pPr>
            <a:r>
              <a:rPr sz="2200" b="1">
                <a:solidFill>
                  <a:srgbClr val="F5F3EC"/>
                </a:solidFill>
                <a:latin typeface="Arial"/>
              </a:rPr>
              <a:t>EW-01 study protocol remains unexecuted</a:t>
            </a:r>
          </a:p>
          <a:p xmlns:a="http://schemas.openxmlformats.org/drawingml/2006/main">
            <a:pPr>
              <a:spcBef>
                <a:spcPts val="800"/>
              </a:spcBef>
            </a:pPr>
            <a:r>
              <a:rPr sz="1800" b="0">
                <a:solidFill>
                  <a:srgbClr val="ABD4CA"/>
                </a:solidFill>
                <a:latin typeface="Arial"/>
              </a:rPr>
              <a:t>Clinical efficacy is unestablished. Protocol amendments remain pending co-author sign-offs; no human efficacy or cross-center transfer is claimed.</a:t>
            </a:r>
          </a:p>
        </p:txBody>
      </p:sp>
      <p:sp>
        <p:nvSpPr>
          <p:cNvPr id="7" name="">
            <a:extLst xmlns:a="http://schemas.openxmlformats.org/drawingml/2006/main">
              <a:ext uri="{FF2B5EF4-FFF2-40B4-BE49-F238E27FC236}">
                <a16:creationId xmlns:a16="http://schemas.microsoft.com/office/drawing/2014/main" id="{3F85079E-C2D9-44AE-B477-0AB603253492}"/>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BD4CA"/>
                </a:solidFill>
                <a:latin typeface="Arial"/>
                <a:ea typeface="Arial"/>
                <a:cs typeface="Arial"/>
              </a:defRPr>
            </a:defPPr>
            <a:lvl1pPr>
              <a:defRPr sz="1125" b="0">
                <a:solidFill>
                  <a:srgbClr val="ABD4CA"/>
                </a:solidFill>
                <a:latin typeface="Arial"/>
                <a:ea typeface="Arial"/>
                <a:cs typeface="Arial"/>
              </a:defRPr>
            </a:lvl1pPr>
            <a:lvl2pPr>
              <a:defRPr sz="1125" b="0">
                <a:solidFill>
                  <a:srgbClr val="ABD4CA"/>
                </a:solidFill>
                <a:latin typeface="Arial"/>
                <a:ea typeface="Arial"/>
                <a:cs typeface="Arial"/>
              </a:defRPr>
            </a:lvl2pPr>
            <a:lvl3pPr>
              <a:defRPr sz="1125" b="0">
                <a:solidFill>
                  <a:srgbClr val="ABD4CA"/>
                </a:solidFill>
                <a:latin typeface="Arial"/>
                <a:ea typeface="Arial"/>
                <a:cs typeface="Arial"/>
              </a:defRPr>
            </a:lvl3pPr>
            <a:lvl4pPr>
              <a:defRPr sz="1125" b="0">
                <a:solidFill>
                  <a:srgbClr val="ABD4CA"/>
                </a:solidFill>
                <a:latin typeface="Arial"/>
                <a:ea typeface="Arial"/>
                <a:cs typeface="Arial"/>
              </a:defRPr>
            </a:lvl4pPr>
            <a:lvl5pPr>
              <a:defRPr sz="1125" b="0">
                <a:solidFill>
                  <a:srgbClr val="ABD4CA"/>
                </a:solidFill>
                <a:latin typeface="Arial"/>
                <a:ea typeface="Arial"/>
                <a:cs typeface="Arial"/>
              </a:defRPr>
            </a:lvl5pPr>
            <a:lvl6pPr>
              <a:defRPr sz="1125" b="0">
                <a:solidFill>
                  <a:srgbClr val="ABD4CA"/>
                </a:solidFill>
                <a:latin typeface="Arial"/>
                <a:ea typeface="Arial"/>
                <a:cs typeface="Arial"/>
              </a:defRPr>
            </a:lvl6pPr>
            <a:lvl7pPr>
              <a:defRPr sz="1125" b="0">
                <a:solidFill>
                  <a:srgbClr val="ABD4CA"/>
                </a:solidFill>
                <a:latin typeface="Arial"/>
                <a:ea typeface="Arial"/>
                <a:cs typeface="Arial"/>
              </a:defRPr>
            </a:lvl7pPr>
            <a:lvl8pPr>
              <a:defRPr sz="1125" b="0">
                <a:solidFill>
                  <a:srgbClr val="ABD4CA"/>
                </a:solidFill>
                <a:latin typeface="Arial"/>
                <a:ea typeface="Arial"/>
                <a:cs typeface="Arial"/>
              </a:defRPr>
            </a:lvl8pPr>
            <a:lvl9pPr>
              <a:defRPr sz="1125" b="0">
                <a:solidFill>
                  <a:srgbClr val="ABD4CA"/>
                </a:solidFill>
                <a:latin typeface="Arial"/>
                <a:ea typeface="Arial"/>
                <a:cs typeface="Arial"/>
              </a:defRPr>
            </a:lvl9pPr>
          </a:lstStyle>
          <a:p xmlns:a="http://schemas.openxmlformats.org/drawingml/2006/main">
            <a:pPr>
              <a:defRPr sz="1125" b="0">
                <a:solidFill>
                  <a:srgbClr val="ABD4CA"/>
                </a:solidFill>
                <a:latin typeface="Arial"/>
                <a:ea typeface="Arial"/>
                <a:cs typeface="Arial"/>
              </a:defRPr>
            </a:pPr>
            <a:r>
              <a:rPr sz="1125" b="0">
                <a:solidFill>
                  <a:srgbClr val="ABD4CA"/>
                </a:solidFill>
                <a:latin typeface="Arial"/>
                <a:ea typeface="Arial"/>
                <a:cs typeface="Arial"/>
              </a:rPr>
              <a:t>Synthetic research only. No clinical validation claimed.</a:t>
            </a:r>
          </a:p>
        </p:txBody>
      </p:sp>
      <p:sp>
        <p:nvSpPr>
          <p:cNvPr id="8" name="">
            <a:extLst xmlns:a="http://schemas.openxmlformats.org/drawingml/2006/main">
              <a:ext uri="{FF2B5EF4-FFF2-40B4-BE49-F238E27FC236}">
                <a16:creationId xmlns:a16="http://schemas.microsoft.com/office/drawing/2014/main" id="{4DE44610-AA5C-4ACA-AD52-6185ADA53E43}"/>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BD4CA"/>
                </a:solidFill>
                <a:latin typeface="Arial"/>
                <a:ea typeface="Arial"/>
                <a:cs typeface="Arial"/>
              </a:defRPr>
            </a:defPPr>
            <a:lvl1pPr>
              <a:defRPr sz="1500" b="0">
                <a:solidFill>
                  <a:srgbClr val="ABD4CA"/>
                </a:solidFill>
                <a:latin typeface="Arial"/>
                <a:ea typeface="Arial"/>
                <a:cs typeface="Arial"/>
              </a:defRPr>
            </a:lvl1pPr>
            <a:lvl2pPr>
              <a:defRPr sz="1500" b="0">
                <a:solidFill>
                  <a:srgbClr val="ABD4CA"/>
                </a:solidFill>
                <a:latin typeface="Arial"/>
                <a:ea typeface="Arial"/>
                <a:cs typeface="Arial"/>
              </a:defRPr>
            </a:lvl2pPr>
            <a:lvl3pPr>
              <a:defRPr sz="1500" b="0">
                <a:solidFill>
                  <a:srgbClr val="ABD4CA"/>
                </a:solidFill>
                <a:latin typeface="Arial"/>
                <a:ea typeface="Arial"/>
                <a:cs typeface="Arial"/>
              </a:defRPr>
            </a:lvl3pPr>
            <a:lvl4pPr>
              <a:defRPr sz="1500" b="0">
                <a:solidFill>
                  <a:srgbClr val="ABD4CA"/>
                </a:solidFill>
                <a:latin typeface="Arial"/>
                <a:ea typeface="Arial"/>
                <a:cs typeface="Arial"/>
              </a:defRPr>
            </a:lvl4pPr>
            <a:lvl5pPr>
              <a:defRPr sz="1500" b="0">
                <a:solidFill>
                  <a:srgbClr val="ABD4CA"/>
                </a:solidFill>
                <a:latin typeface="Arial"/>
                <a:ea typeface="Arial"/>
                <a:cs typeface="Arial"/>
              </a:defRPr>
            </a:lvl5pPr>
            <a:lvl6pPr>
              <a:defRPr sz="1500" b="0">
                <a:solidFill>
                  <a:srgbClr val="ABD4CA"/>
                </a:solidFill>
                <a:latin typeface="Arial"/>
                <a:ea typeface="Arial"/>
                <a:cs typeface="Arial"/>
              </a:defRPr>
            </a:lvl6pPr>
            <a:lvl7pPr>
              <a:defRPr sz="1500" b="0">
                <a:solidFill>
                  <a:srgbClr val="ABD4CA"/>
                </a:solidFill>
                <a:latin typeface="Arial"/>
                <a:ea typeface="Arial"/>
                <a:cs typeface="Arial"/>
              </a:defRPr>
            </a:lvl7pPr>
            <a:lvl8pPr>
              <a:defRPr sz="1500" b="0">
                <a:solidFill>
                  <a:srgbClr val="ABD4CA"/>
                </a:solidFill>
                <a:latin typeface="Arial"/>
                <a:ea typeface="Arial"/>
                <a:cs typeface="Arial"/>
              </a:defRPr>
            </a:lvl8pPr>
            <a:lvl9pPr>
              <a:defRPr sz="1500" b="0">
                <a:solidFill>
                  <a:srgbClr val="ABD4CA"/>
                </a:solidFill>
                <a:latin typeface="Arial"/>
                <a:ea typeface="Arial"/>
                <a:cs typeface="Arial"/>
              </a:defRPr>
            </a:lvl9pPr>
          </a:lstStyle>
          <a:p xmlns:a="http://schemas.openxmlformats.org/drawingml/2006/main">
            <a:pPr>
              <a:defRPr sz="1500" b="0">
                <a:solidFill>
                  <a:srgbClr val="ABD4CA"/>
                </a:solidFill>
                <a:latin typeface="Arial"/>
                <a:ea typeface="Arial"/>
                <a:cs typeface="Arial"/>
              </a:defRPr>
            </a:pPr>
            <a:r>
              <a:rPr sz="1500" b="0">
                <a:solidFill>
                  <a:srgbClr val="ABD4CA"/>
                </a:solidFill>
                <a:latin typeface="Arial"/>
                <a:ea typeface="Arial"/>
                <a:cs typeface="Arial"/>
              </a:rPr>
              <a:t>12</a:t>
            </a:r>
          </a:p>
        </p:txBody>
      </p:sp>
    </p:spTree>
    <p:extLst>
      <p:ext uri="{BB962C8B-B14F-4D97-AF65-F5344CB8AC3E}">
        <p14:creationId xmlns:p14="http://schemas.microsoft.com/office/powerpoint/2010/main" val="941830994"/>
      </p:ext>
    </p:extLst>
  </p:cSld>
</p:sld>
</file>

<file path=ppt/slides/slide13.xml><?xml version="1.0" encoding="utf-8"?>
<p:sld xmlns:p="http://schemas.openxmlformats.org/presentationml/2006/main">
  <p:cSld>
    <p:bg>
      <p:bgPr>
        <a:solidFill xmlns:a="http://schemas.openxmlformats.org/drawingml/2006/main">
          <a:srgbClr val="F5F3EC"/>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85806872-D54E-42EC-B80A-F3B5ABB7F103}"/>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50676A"/>
                </a:solidFill>
                <a:latin typeface="Arial"/>
                <a:ea typeface="Arial"/>
                <a:cs typeface="Arial"/>
              </a:defRPr>
            </a:defPPr>
            <a:lvl1pPr>
              <a:defRPr sz="1350" b="0">
                <a:solidFill>
                  <a:srgbClr val="50676A"/>
                </a:solidFill>
                <a:latin typeface="Arial"/>
                <a:ea typeface="Arial"/>
                <a:cs typeface="Arial"/>
              </a:defRPr>
            </a:lvl1pPr>
            <a:lvl2pPr>
              <a:defRPr sz="1350" b="0">
                <a:solidFill>
                  <a:srgbClr val="50676A"/>
                </a:solidFill>
                <a:latin typeface="Arial"/>
                <a:ea typeface="Arial"/>
                <a:cs typeface="Arial"/>
              </a:defRPr>
            </a:lvl2pPr>
            <a:lvl3pPr>
              <a:defRPr sz="1350" b="0">
                <a:solidFill>
                  <a:srgbClr val="50676A"/>
                </a:solidFill>
                <a:latin typeface="Arial"/>
                <a:ea typeface="Arial"/>
                <a:cs typeface="Arial"/>
              </a:defRPr>
            </a:lvl3pPr>
            <a:lvl4pPr>
              <a:defRPr sz="1350" b="0">
                <a:solidFill>
                  <a:srgbClr val="50676A"/>
                </a:solidFill>
                <a:latin typeface="Arial"/>
                <a:ea typeface="Arial"/>
                <a:cs typeface="Arial"/>
              </a:defRPr>
            </a:lvl4pPr>
            <a:lvl5pPr>
              <a:defRPr sz="1350" b="0">
                <a:solidFill>
                  <a:srgbClr val="50676A"/>
                </a:solidFill>
                <a:latin typeface="Arial"/>
                <a:ea typeface="Arial"/>
                <a:cs typeface="Arial"/>
              </a:defRPr>
            </a:lvl5pPr>
            <a:lvl6pPr>
              <a:defRPr sz="1350" b="0">
                <a:solidFill>
                  <a:srgbClr val="50676A"/>
                </a:solidFill>
                <a:latin typeface="Arial"/>
                <a:ea typeface="Arial"/>
                <a:cs typeface="Arial"/>
              </a:defRPr>
            </a:lvl6pPr>
            <a:lvl7pPr>
              <a:defRPr sz="1350" b="0">
                <a:solidFill>
                  <a:srgbClr val="50676A"/>
                </a:solidFill>
                <a:latin typeface="Arial"/>
                <a:ea typeface="Arial"/>
                <a:cs typeface="Arial"/>
              </a:defRPr>
            </a:lvl7pPr>
            <a:lvl8pPr>
              <a:defRPr sz="1350" b="0">
                <a:solidFill>
                  <a:srgbClr val="50676A"/>
                </a:solidFill>
                <a:latin typeface="Arial"/>
                <a:ea typeface="Arial"/>
                <a:cs typeface="Arial"/>
              </a:defRPr>
            </a:lvl8pPr>
            <a:lvl9pPr>
              <a:defRPr sz="1350" b="0">
                <a:solidFill>
                  <a:srgbClr val="50676A"/>
                </a:solidFill>
                <a:latin typeface="Arial"/>
                <a:ea typeface="Arial"/>
                <a:cs typeface="Arial"/>
              </a:defRPr>
            </a:lvl9pPr>
          </a:lstStyle>
          <a:p xmlns:a="http://schemas.openxmlformats.org/drawingml/2006/main">
            <a:pPr>
              <a:defRPr sz="1350" b="0">
                <a:solidFill>
                  <a:srgbClr val="50676A"/>
                </a:solidFill>
                <a:latin typeface="Arial"/>
                <a:ea typeface="Arial"/>
                <a:cs typeface="Arial"/>
              </a:defRPr>
            </a:pPr>
            <a:r>
              <a:rPr sz="1350" b="0">
                <a:solidFill>
                  <a:srgbClr val="50676A"/>
                </a:solidFill>
                <a:latin typeface="Arial"/>
                <a:ea typeface="Arial"/>
                <a:cs typeface="Arial"/>
              </a:rPr>
              <a:t>Nikhil</a:t>
            </a:r>
          </a:p>
        </p:txBody>
      </p:sp>
      <p:sp>
        <p:nvSpPr>
          <p:cNvPr id="2" name="">
            <a:extLst xmlns:a="http://schemas.openxmlformats.org/drawingml/2006/main">
              <a:ext uri="{FF2B5EF4-FFF2-40B4-BE49-F238E27FC236}">
                <a16:creationId xmlns:a16="http://schemas.microsoft.com/office/drawing/2014/main" id="{D74B5691-AF95-4FD2-8121-C828C2FF9E2E}"/>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183C42"/>
                </a:solidFill>
                <a:latin typeface="Arial"/>
                <a:ea typeface="Arial"/>
                <a:cs typeface="Arial"/>
              </a:defRPr>
            </a:defPPr>
            <a:lvl1pPr>
              <a:defRPr sz="3600" b="1">
                <a:solidFill>
                  <a:srgbClr val="183C42"/>
                </a:solidFill>
                <a:latin typeface="Arial"/>
                <a:ea typeface="Arial"/>
                <a:cs typeface="Arial"/>
              </a:defRPr>
            </a:lvl1pPr>
            <a:lvl2pPr>
              <a:defRPr sz="3600" b="1">
                <a:solidFill>
                  <a:srgbClr val="183C42"/>
                </a:solidFill>
                <a:latin typeface="Arial"/>
                <a:ea typeface="Arial"/>
                <a:cs typeface="Arial"/>
              </a:defRPr>
            </a:lvl2pPr>
            <a:lvl3pPr>
              <a:defRPr sz="3600" b="1">
                <a:solidFill>
                  <a:srgbClr val="183C42"/>
                </a:solidFill>
                <a:latin typeface="Arial"/>
                <a:ea typeface="Arial"/>
                <a:cs typeface="Arial"/>
              </a:defRPr>
            </a:lvl3pPr>
            <a:lvl4pPr>
              <a:defRPr sz="3600" b="1">
                <a:solidFill>
                  <a:srgbClr val="183C42"/>
                </a:solidFill>
                <a:latin typeface="Arial"/>
                <a:ea typeface="Arial"/>
                <a:cs typeface="Arial"/>
              </a:defRPr>
            </a:lvl4pPr>
            <a:lvl5pPr>
              <a:defRPr sz="3600" b="1">
                <a:solidFill>
                  <a:srgbClr val="183C42"/>
                </a:solidFill>
                <a:latin typeface="Arial"/>
                <a:ea typeface="Arial"/>
                <a:cs typeface="Arial"/>
              </a:defRPr>
            </a:lvl5pPr>
            <a:lvl6pPr>
              <a:defRPr sz="3600" b="1">
                <a:solidFill>
                  <a:srgbClr val="183C42"/>
                </a:solidFill>
                <a:latin typeface="Arial"/>
                <a:ea typeface="Arial"/>
                <a:cs typeface="Arial"/>
              </a:defRPr>
            </a:lvl6pPr>
            <a:lvl7pPr>
              <a:defRPr sz="3600" b="1">
                <a:solidFill>
                  <a:srgbClr val="183C42"/>
                </a:solidFill>
                <a:latin typeface="Arial"/>
                <a:ea typeface="Arial"/>
                <a:cs typeface="Arial"/>
              </a:defRPr>
            </a:lvl7pPr>
            <a:lvl8pPr>
              <a:defRPr sz="3600" b="1">
                <a:solidFill>
                  <a:srgbClr val="183C42"/>
                </a:solidFill>
                <a:latin typeface="Arial"/>
                <a:ea typeface="Arial"/>
                <a:cs typeface="Arial"/>
              </a:defRPr>
            </a:lvl8pPr>
            <a:lvl9pPr>
              <a:defRPr sz="3600" b="1">
                <a:solidFill>
                  <a:srgbClr val="183C42"/>
                </a:solidFill>
                <a:latin typeface="Arial"/>
                <a:ea typeface="Arial"/>
                <a:cs typeface="Arial"/>
              </a:defRPr>
            </a:lvl9pPr>
          </a:lstStyle>
          <a:p xmlns:a="http://schemas.openxmlformats.org/drawingml/2006/main">
            <a:pPr>
              <a:defRPr sz="3600" b="1">
                <a:solidFill>
                  <a:srgbClr val="183C42"/>
                </a:solidFill>
                <a:latin typeface="Arial"/>
                <a:ea typeface="Arial"/>
                <a:cs typeface="Arial"/>
              </a:defRPr>
            </a:pPr>
            <a:r>
              <a:rPr sz="3600" b="1">
                <a:solidFill>
                  <a:srgbClr val="183C42"/>
                </a:solidFill>
                <a:latin typeface="Arial"/>
                <a:ea typeface="Arial"/>
                <a:cs typeface="Arial"/>
              </a:rPr>
              <a:t>What a reviewer can inspect</a:t>
            </a:r>
          </a:p>
        </p:txBody>
      </p:sp>
      <p:pic>
        <p:nvPicPr>
          <p:cNvPr id="3" name="">
            <a:extLst xmlns:a="http://schemas.openxmlformats.org/drawingml/2006/main">
              <a:ext uri="{FF2B5EF4-FFF2-40B4-BE49-F238E27FC236}">
                <a16:creationId xmlns:a16="http://schemas.microsoft.com/office/drawing/2014/main" id="{EFE76271-FFF5-41E4-BE2F-7E82D8DD0444}"/>
              </a:ext>
            </a:extLst>
          </p:cNvPr>
          <p:cNvPicPr>
            <a:picLocks xmlns:a="http://schemas.openxmlformats.org/drawingml/2006/main" noChangeAspect="1"/>
          </p:cNvPicPr>
          <p:nvPr/>
        </p:nvPicPr>
        <p:blipFill>
          <a:blip xmlns:r="http://schemas.openxmlformats.org/officeDocument/2006/relationships" xmlns:a="http://schemas.openxmlformats.org/drawingml/2006/main" r:embed="R0a8abba85c964070"/>
          <a:stretch xmlns:a="http://schemas.openxmlformats.org/drawingml/2006/main"/>
        </p:blipFill>
        <p:spPr>
          <a:xfrm xmlns:a="http://schemas.openxmlformats.org/drawingml/2006/main">
            <a:off x="609600" y="1819275"/>
            <a:ext cx="7277100" cy="4548188"/>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46E05427-E789-4D34-86B4-31182F941CFA}"/>
              </a:ext>
            </a:extLst>
          </p:cNvPr>
          <p:cNvSpPr>
            <a:spLocks xmlns:a="http://schemas.openxmlformats.org/drawingml/2006/main" noGrp="1"/>
          </p:cNvSpPr>
          <p:nvPr/>
        </p:nvSpPr>
        <p:spPr>
          <a:xfrm xmlns:a="http://schemas.openxmlformats.org/drawingml/2006/main">
            <a:off x="8286750" y="20002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1">
                <a:solidFill>
                  <a:srgbClr val="183C42"/>
                </a:solidFill>
                <a:latin typeface="Arial"/>
                <a:ea typeface="Arial"/>
                <a:cs typeface="Arial"/>
              </a:defRPr>
            </a:defPPr>
            <a:lvl1pPr>
              <a:defRPr sz="2025" b="1">
                <a:solidFill>
                  <a:srgbClr val="183C42"/>
                </a:solidFill>
                <a:latin typeface="Arial"/>
                <a:ea typeface="Arial"/>
                <a:cs typeface="Arial"/>
              </a:defRPr>
            </a:lvl1pPr>
            <a:lvl2pPr>
              <a:defRPr sz="2025" b="1">
                <a:solidFill>
                  <a:srgbClr val="183C42"/>
                </a:solidFill>
                <a:latin typeface="Arial"/>
                <a:ea typeface="Arial"/>
                <a:cs typeface="Arial"/>
              </a:defRPr>
            </a:lvl2pPr>
            <a:lvl3pPr>
              <a:defRPr sz="2025" b="1">
                <a:solidFill>
                  <a:srgbClr val="183C42"/>
                </a:solidFill>
                <a:latin typeface="Arial"/>
                <a:ea typeface="Arial"/>
                <a:cs typeface="Arial"/>
              </a:defRPr>
            </a:lvl3pPr>
            <a:lvl4pPr>
              <a:defRPr sz="2025" b="1">
                <a:solidFill>
                  <a:srgbClr val="183C42"/>
                </a:solidFill>
                <a:latin typeface="Arial"/>
                <a:ea typeface="Arial"/>
                <a:cs typeface="Arial"/>
              </a:defRPr>
            </a:lvl4pPr>
            <a:lvl5pPr>
              <a:defRPr sz="2025" b="1">
                <a:solidFill>
                  <a:srgbClr val="183C42"/>
                </a:solidFill>
                <a:latin typeface="Arial"/>
                <a:ea typeface="Arial"/>
                <a:cs typeface="Arial"/>
              </a:defRPr>
            </a:lvl5pPr>
            <a:lvl6pPr>
              <a:defRPr sz="2025" b="1">
                <a:solidFill>
                  <a:srgbClr val="183C42"/>
                </a:solidFill>
                <a:latin typeface="Arial"/>
                <a:ea typeface="Arial"/>
                <a:cs typeface="Arial"/>
              </a:defRPr>
            </a:lvl6pPr>
            <a:lvl7pPr>
              <a:defRPr sz="2025" b="1">
                <a:solidFill>
                  <a:srgbClr val="183C42"/>
                </a:solidFill>
                <a:latin typeface="Arial"/>
                <a:ea typeface="Arial"/>
                <a:cs typeface="Arial"/>
              </a:defRPr>
            </a:lvl7pPr>
            <a:lvl8pPr>
              <a:defRPr sz="2025" b="1">
                <a:solidFill>
                  <a:srgbClr val="183C42"/>
                </a:solidFill>
                <a:latin typeface="Arial"/>
                <a:ea typeface="Arial"/>
                <a:cs typeface="Arial"/>
              </a:defRPr>
            </a:lvl8pPr>
            <a:lvl9pPr>
              <a:defRPr sz="2025" b="1">
                <a:solidFill>
                  <a:srgbClr val="183C42"/>
                </a:solidFill>
                <a:latin typeface="Arial"/>
                <a:ea typeface="Arial"/>
                <a:cs typeface="Arial"/>
              </a:defRPr>
            </a:lvl9pPr>
          </a:lstStyle>
          <a:p xmlns:a="http://schemas.openxmlformats.org/drawingml/2006/main">
            <a:pPr>
              <a:defRPr sz="2025" b="1">
                <a:solidFill>
                  <a:srgbClr val="183C42"/>
                </a:solidFill>
                <a:latin typeface="Arial"/>
                <a:ea typeface="Arial"/>
                <a:cs typeface="Arial"/>
              </a:defRPr>
            </a:pPr>
            <a:r>
              <a:rPr sz="2025" b="1">
                <a:solidFill>
                  <a:srgbClr val="183C42"/>
                </a:solidFill>
                <a:latin typeface="Arial"/>
                <a:ea typeface="Arial"/>
                <a:cs typeface="Arial"/>
              </a:rPr>
              <a:t>Source, contracts and manifest are inspectable</a:t>
            </a:r>
          </a:p>
        </p:txBody>
      </p:sp>
      <p:sp>
        <p:nvSpPr>
          <p:cNvPr id="5" name="">
            <a:extLst xmlns:a="http://schemas.openxmlformats.org/drawingml/2006/main">
              <a:ext uri="{FF2B5EF4-FFF2-40B4-BE49-F238E27FC236}">
                <a16:creationId xmlns:a16="http://schemas.microsoft.com/office/drawing/2014/main" id="{8FB0CFB3-A78C-46EA-83DF-64D6767F2AEA}"/>
              </a:ext>
            </a:extLst>
          </p:cNvPr>
          <p:cNvSpPr>
            <a:spLocks xmlns:a="http://schemas.openxmlformats.org/drawingml/2006/main" noGrp="1"/>
          </p:cNvSpPr>
          <p:nvPr/>
        </p:nvSpPr>
        <p:spPr>
          <a:xfrm xmlns:a="http://schemas.openxmlformats.org/drawingml/2006/main">
            <a:off x="8286750" y="30670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Validation metrics and held-out evaluation differ</a:t>
            </a:r>
          </a:p>
        </p:txBody>
      </p:sp>
      <p:sp>
        <p:nvSpPr>
          <p:cNvPr id="6" name="">
            <a:extLst xmlns:a="http://schemas.openxmlformats.org/drawingml/2006/main">
              <a:ext uri="{FF2B5EF4-FFF2-40B4-BE49-F238E27FC236}">
                <a16:creationId xmlns:a16="http://schemas.microsoft.com/office/drawing/2014/main" id="{99797E4D-DECC-42D6-852C-C43EF02EF019}"/>
              </a:ext>
            </a:extLst>
          </p:cNvPr>
          <p:cNvSpPr>
            <a:spLocks xmlns:a="http://schemas.openxmlformats.org/drawingml/2006/main" noGrp="1"/>
          </p:cNvSpPr>
          <p:nvPr/>
        </p:nvSpPr>
        <p:spPr>
          <a:xfrm xmlns:a="http://schemas.openxmlformats.org/drawingml/2006/main">
            <a:off x="8286750" y="4133850"/>
            <a:ext cx="3286125"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2025" b="0">
                <a:solidFill>
                  <a:srgbClr val="183C42"/>
                </a:solidFill>
                <a:latin typeface="Arial"/>
                <a:ea typeface="Arial"/>
                <a:cs typeface="Arial"/>
              </a:defRPr>
            </a:defPPr>
            <a:lvl1pPr>
              <a:defRPr sz="2025" b="0">
                <a:solidFill>
                  <a:srgbClr val="183C42"/>
                </a:solidFill>
                <a:latin typeface="Arial"/>
                <a:ea typeface="Arial"/>
                <a:cs typeface="Arial"/>
              </a:defRPr>
            </a:lvl1pPr>
            <a:lvl2pPr>
              <a:defRPr sz="2025" b="0">
                <a:solidFill>
                  <a:srgbClr val="183C42"/>
                </a:solidFill>
                <a:latin typeface="Arial"/>
                <a:ea typeface="Arial"/>
                <a:cs typeface="Arial"/>
              </a:defRPr>
            </a:lvl2pPr>
            <a:lvl3pPr>
              <a:defRPr sz="2025" b="0">
                <a:solidFill>
                  <a:srgbClr val="183C42"/>
                </a:solidFill>
                <a:latin typeface="Arial"/>
                <a:ea typeface="Arial"/>
                <a:cs typeface="Arial"/>
              </a:defRPr>
            </a:lvl3pPr>
            <a:lvl4pPr>
              <a:defRPr sz="2025" b="0">
                <a:solidFill>
                  <a:srgbClr val="183C42"/>
                </a:solidFill>
                <a:latin typeface="Arial"/>
                <a:ea typeface="Arial"/>
                <a:cs typeface="Arial"/>
              </a:defRPr>
            </a:lvl4pPr>
            <a:lvl5pPr>
              <a:defRPr sz="2025" b="0">
                <a:solidFill>
                  <a:srgbClr val="183C42"/>
                </a:solidFill>
                <a:latin typeface="Arial"/>
                <a:ea typeface="Arial"/>
                <a:cs typeface="Arial"/>
              </a:defRPr>
            </a:lvl5pPr>
            <a:lvl6pPr>
              <a:defRPr sz="2025" b="0">
                <a:solidFill>
                  <a:srgbClr val="183C42"/>
                </a:solidFill>
                <a:latin typeface="Arial"/>
                <a:ea typeface="Arial"/>
                <a:cs typeface="Arial"/>
              </a:defRPr>
            </a:lvl6pPr>
            <a:lvl7pPr>
              <a:defRPr sz="2025" b="0">
                <a:solidFill>
                  <a:srgbClr val="183C42"/>
                </a:solidFill>
                <a:latin typeface="Arial"/>
                <a:ea typeface="Arial"/>
                <a:cs typeface="Arial"/>
              </a:defRPr>
            </a:lvl7pPr>
            <a:lvl8pPr>
              <a:defRPr sz="2025" b="0">
                <a:solidFill>
                  <a:srgbClr val="183C42"/>
                </a:solidFill>
                <a:latin typeface="Arial"/>
                <a:ea typeface="Arial"/>
                <a:cs typeface="Arial"/>
              </a:defRPr>
            </a:lvl8pPr>
            <a:lvl9pPr>
              <a:defRPr sz="2025" b="0">
                <a:solidFill>
                  <a:srgbClr val="183C42"/>
                </a:solidFill>
                <a:latin typeface="Arial"/>
                <a:ea typeface="Arial"/>
                <a:cs typeface="Arial"/>
              </a:defRPr>
            </a:lvl9pPr>
          </a:lstStyle>
          <a:p xmlns:a="http://schemas.openxmlformats.org/drawingml/2006/main">
            <a:pPr>
              <a:defRPr sz="2025" b="0">
                <a:solidFill>
                  <a:srgbClr val="183C42"/>
                </a:solidFill>
                <a:latin typeface="Arial"/>
                <a:ea typeface="Arial"/>
                <a:cs typeface="Arial"/>
              </a:defRPr>
            </a:pPr>
            <a:r>
              <a:rPr sz="2025" b="0">
                <a:solidFill>
                  <a:srgbClr val="183C42"/>
                </a:solidFill>
                <a:latin typeface="Arial"/>
                <a:ea typeface="Arial"/>
                <a:cs typeface="Arial"/>
              </a:rPr>
              <a:t>Provenance supports review, not clinical efficacy</a:t>
            </a:r>
          </a:p>
        </p:txBody>
      </p:sp>
      <p:sp>
        <p:nvSpPr>
          <p:cNvPr id="7" name="">
            <a:extLst xmlns:a="http://schemas.openxmlformats.org/drawingml/2006/main">
              <a:ext uri="{FF2B5EF4-FFF2-40B4-BE49-F238E27FC236}">
                <a16:creationId xmlns:a16="http://schemas.microsoft.com/office/drawing/2014/main" id="{1D8DDCF1-5762-49DA-97C4-7F022EEC4D8F}"/>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50676A"/>
                </a:solidFill>
                <a:latin typeface="Arial"/>
                <a:ea typeface="Arial"/>
                <a:cs typeface="Arial"/>
              </a:defRPr>
            </a:defPPr>
            <a:lvl1pPr>
              <a:defRPr sz="1125" b="0">
                <a:solidFill>
                  <a:srgbClr val="50676A"/>
                </a:solidFill>
                <a:latin typeface="Arial"/>
                <a:ea typeface="Arial"/>
                <a:cs typeface="Arial"/>
              </a:defRPr>
            </a:lvl1pPr>
            <a:lvl2pPr>
              <a:defRPr sz="1125" b="0">
                <a:solidFill>
                  <a:srgbClr val="50676A"/>
                </a:solidFill>
                <a:latin typeface="Arial"/>
                <a:ea typeface="Arial"/>
                <a:cs typeface="Arial"/>
              </a:defRPr>
            </a:lvl2pPr>
            <a:lvl3pPr>
              <a:defRPr sz="1125" b="0">
                <a:solidFill>
                  <a:srgbClr val="50676A"/>
                </a:solidFill>
                <a:latin typeface="Arial"/>
                <a:ea typeface="Arial"/>
                <a:cs typeface="Arial"/>
              </a:defRPr>
            </a:lvl3pPr>
            <a:lvl4pPr>
              <a:defRPr sz="1125" b="0">
                <a:solidFill>
                  <a:srgbClr val="50676A"/>
                </a:solidFill>
                <a:latin typeface="Arial"/>
                <a:ea typeface="Arial"/>
                <a:cs typeface="Arial"/>
              </a:defRPr>
            </a:lvl4pPr>
            <a:lvl5pPr>
              <a:defRPr sz="1125" b="0">
                <a:solidFill>
                  <a:srgbClr val="50676A"/>
                </a:solidFill>
                <a:latin typeface="Arial"/>
                <a:ea typeface="Arial"/>
                <a:cs typeface="Arial"/>
              </a:defRPr>
            </a:lvl5pPr>
            <a:lvl6pPr>
              <a:defRPr sz="1125" b="0">
                <a:solidFill>
                  <a:srgbClr val="50676A"/>
                </a:solidFill>
                <a:latin typeface="Arial"/>
                <a:ea typeface="Arial"/>
                <a:cs typeface="Arial"/>
              </a:defRPr>
            </a:lvl6pPr>
            <a:lvl7pPr>
              <a:defRPr sz="1125" b="0">
                <a:solidFill>
                  <a:srgbClr val="50676A"/>
                </a:solidFill>
                <a:latin typeface="Arial"/>
                <a:ea typeface="Arial"/>
                <a:cs typeface="Arial"/>
              </a:defRPr>
            </a:lvl7pPr>
            <a:lvl8pPr>
              <a:defRPr sz="1125" b="0">
                <a:solidFill>
                  <a:srgbClr val="50676A"/>
                </a:solidFill>
                <a:latin typeface="Arial"/>
                <a:ea typeface="Arial"/>
                <a:cs typeface="Arial"/>
              </a:defRPr>
            </a:lvl8pPr>
            <a:lvl9pPr>
              <a:defRPr sz="1125" b="0">
                <a:solidFill>
                  <a:srgbClr val="50676A"/>
                </a:solidFill>
                <a:latin typeface="Arial"/>
                <a:ea typeface="Arial"/>
                <a:cs typeface="Arial"/>
              </a:defRPr>
            </a:lvl9pPr>
          </a:lstStyle>
          <a:p xmlns:a="http://schemas.openxmlformats.org/drawingml/2006/main">
            <a:pPr>
              <a:defRPr sz="1125" b="0">
                <a:solidFill>
                  <a:srgbClr val="50676A"/>
                </a:solidFill>
                <a:latin typeface="Arial"/>
                <a:ea typeface="Arial"/>
                <a:cs typeface="Arial"/>
              </a:defRPr>
            </a:pPr>
            <a:r>
              <a:rPr sz="1125" b="0">
                <a:solidFill>
                  <a:srgbClr val="50676A"/>
                </a:solidFill>
                <a:latin typeface="Arial"/>
                <a:ea typeface="Arial"/>
                <a:cs typeface="Arial"/>
              </a:rPr>
              <a:t>Recorded Evidence-page screenshot from an earlier build; provenance in notes.  Synthetic research only. No clinical validation claimed.</a:t>
            </a:r>
          </a:p>
        </p:txBody>
      </p:sp>
      <p:sp>
        <p:nvSpPr>
          <p:cNvPr id="8" name="">
            <a:extLst xmlns:a="http://schemas.openxmlformats.org/drawingml/2006/main">
              <a:ext uri="{FF2B5EF4-FFF2-40B4-BE49-F238E27FC236}">
                <a16:creationId xmlns:a16="http://schemas.microsoft.com/office/drawing/2014/main" id="{2B4E73F2-256C-4448-8A4D-E8534D49AC24}"/>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50676A"/>
                </a:solidFill>
                <a:latin typeface="Arial"/>
                <a:ea typeface="Arial"/>
                <a:cs typeface="Arial"/>
              </a:defRPr>
            </a:defPPr>
            <a:lvl1pPr>
              <a:defRPr sz="1500" b="0">
                <a:solidFill>
                  <a:srgbClr val="50676A"/>
                </a:solidFill>
                <a:latin typeface="Arial"/>
                <a:ea typeface="Arial"/>
                <a:cs typeface="Arial"/>
              </a:defRPr>
            </a:lvl1pPr>
            <a:lvl2pPr>
              <a:defRPr sz="1500" b="0">
                <a:solidFill>
                  <a:srgbClr val="50676A"/>
                </a:solidFill>
                <a:latin typeface="Arial"/>
                <a:ea typeface="Arial"/>
                <a:cs typeface="Arial"/>
              </a:defRPr>
            </a:lvl2pPr>
            <a:lvl3pPr>
              <a:defRPr sz="1500" b="0">
                <a:solidFill>
                  <a:srgbClr val="50676A"/>
                </a:solidFill>
                <a:latin typeface="Arial"/>
                <a:ea typeface="Arial"/>
                <a:cs typeface="Arial"/>
              </a:defRPr>
            </a:lvl3pPr>
            <a:lvl4pPr>
              <a:defRPr sz="1500" b="0">
                <a:solidFill>
                  <a:srgbClr val="50676A"/>
                </a:solidFill>
                <a:latin typeface="Arial"/>
                <a:ea typeface="Arial"/>
                <a:cs typeface="Arial"/>
              </a:defRPr>
            </a:lvl4pPr>
            <a:lvl5pPr>
              <a:defRPr sz="1500" b="0">
                <a:solidFill>
                  <a:srgbClr val="50676A"/>
                </a:solidFill>
                <a:latin typeface="Arial"/>
                <a:ea typeface="Arial"/>
                <a:cs typeface="Arial"/>
              </a:defRPr>
            </a:lvl5pPr>
            <a:lvl6pPr>
              <a:defRPr sz="1500" b="0">
                <a:solidFill>
                  <a:srgbClr val="50676A"/>
                </a:solidFill>
                <a:latin typeface="Arial"/>
                <a:ea typeface="Arial"/>
                <a:cs typeface="Arial"/>
              </a:defRPr>
            </a:lvl6pPr>
            <a:lvl7pPr>
              <a:defRPr sz="1500" b="0">
                <a:solidFill>
                  <a:srgbClr val="50676A"/>
                </a:solidFill>
                <a:latin typeface="Arial"/>
                <a:ea typeface="Arial"/>
                <a:cs typeface="Arial"/>
              </a:defRPr>
            </a:lvl7pPr>
            <a:lvl8pPr>
              <a:defRPr sz="1500" b="0">
                <a:solidFill>
                  <a:srgbClr val="50676A"/>
                </a:solidFill>
                <a:latin typeface="Arial"/>
                <a:ea typeface="Arial"/>
                <a:cs typeface="Arial"/>
              </a:defRPr>
            </a:lvl8pPr>
            <a:lvl9pPr>
              <a:defRPr sz="1500" b="0">
                <a:solidFill>
                  <a:srgbClr val="50676A"/>
                </a:solidFill>
                <a:latin typeface="Arial"/>
                <a:ea typeface="Arial"/>
                <a:cs typeface="Arial"/>
              </a:defRPr>
            </a:lvl9pPr>
          </a:lstStyle>
          <a:p xmlns:a="http://schemas.openxmlformats.org/drawingml/2006/main">
            <a:pPr>
              <a:defRPr sz="1500" b="0">
                <a:solidFill>
                  <a:srgbClr val="50676A"/>
                </a:solidFill>
                <a:latin typeface="Arial"/>
                <a:ea typeface="Arial"/>
                <a:cs typeface="Arial"/>
              </a:defRPr>
            </a:pPr>
            <a:r>
              <a:rPr sz="1500" b="0">
                <a:solidFill>
                  <a:srgbClr val="50676A"/>
                </a:solidFill>
                <a:latin typeface="Arial"/>
                <a:ea typeface="Arial"/>
                <a:cs typeface="Arial"/>
              </a:rPr>
              <a:t>13</a:t>
            </a:r>
          </a:p>
        </p:txBody>
      </p:sp>
    </p:spTree>
    <p:extLst>
      <p:ext uri="{BB962C8B-B14F-4D97-AF65-F5344CB8AC3E}">
        <p14:creationId xmlns:p14="http://schemas.microsoft.com/office/powerpoint/2010/main" val="845100125"/>
      </p:ext>
    </p:extLst>
  </p:cSld>
</p:sld>
</file>

<file path=ppt/slides/slide14.xml><?xml version="1.0" encoding="utf-8"?>
<p:sld xmlns:p="http://schemas.openxmlformats.org/presentationml/2006/main">
  <p:cSld>
    <p:bg>
      <p:bgPr>
        <a:solidFill xmlns:a="http://schemas.openxmlformats.org/drawingml/2006/main">
          <a:srgbClr val="123A40"/>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607F2242-7756-48A8-8381-73A6762DC5FB}"/>
              </a:ext>
            </a:extLst>
          </p:cNvPr>
          <p:cNvSpPr>
            <a:spLocks xmlns:a="http://schemas.openxmlformats.org/drawingml/2006/main" noGrp="1"/>
          </p:cNvSpPr>
          <p:nvPr/>
        </p:nvSpPr>
        <p:spPr>
          <a:xfrm xmlns:a="http://schemas.openxmlformats.org/drawingml/2006/main">
            <a:off x="609600" y="285750"/>
            <a:ext cx="105727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350" b="0">
                <a:solidFill>
                  <a:srgbClr val="ABD4CA"/>
                </a:solidFill>
                <a:latin typeface="Arial"/>
                <a:ea typeface="Arial"/>
                <a:cs typeface="Arial"/>
              </a:defRPr>
            </a:defPPr>
            <a:lvl1pPr>
              <a:defRPr sz="1350" b="0">
                <a:solidFill>
                  <a:srgbClr val="ABD4CA"/>
                </a:solidFill>
                <a:latin typeface="Arial"/>
                <a:ea typeface="Arial"/>
                <a:cs typeface="Arial"/>
              </a:defRPr>
            </a:lvl1pPr>
            <a:lvl2pPr>
              <a:defRPr sz="1350" b="0">
                <a:solidFill>
                  <a:srgbClr val="ABD4CA"/>
                </a:solidFill>
                <a:latin typeface="Arial"/>
                <a:ea typeface="Arial"/>
                <a:cs typeface="Arial"/>
              </a:defRPr>
            </a:lvl2pPr>
            <a:lvl3pPr>
              <a:defRPr sz="1350" b="0">
                <a:solidFill>
                  <a:srgbClr val="ABD4CA"/>
                </a:solidFill>
                <a:latin typeface="Arial"/>
                <a:ea typeface="Arial"/>
                <a:cs typeface="Arial"/>
              </a:defRPr>
            </a:lvl3pPr>
            <a:lvl4pPr>
              <a:defRPr sz="1350" b="0">
                <a:solidFill>
                  <a:srgbClr val="ABD4CA"/>
                </a:solidFill>
                <a:latin typeface="Arial"/>
                <a:ea typeface="Arial"/>
                <a:cs typeface="Arial"/>
              </a:defRPr>
            </a:lvl4pPr>
            <a:lvl5pPr>
              <a:defRPr sz="1350" b="0">
                <a:solidFill>
                  <a:srgbClr val="ABD4CA"/>
                </a:solidFill>
                <a:latin typeface="Arial"/>
                <a:ea typeface="Arial"/>
                <a:cs typeface="Arial"/>
              </a:defRPr>
            </a:lvl5pPr>
            <a:lvl6pPr>
              <a:defRPr sz="1350" b="0">
                <a:solidFill>
                  <a:srgbClr val="ABD4CA"/>
                </a:solidFill>
                <a:latin typeface="Arial"/>
                <a:ea typeface="Arial"/>
                <a:cs typeface="Arial"/>
              </a:defRPr>
            </a:lvl6pPr>
            <a:lvl7pPr>
              <a:defRPr sz="1350" b="0">
                <a:solidFill>
                  <a:srgbClr val="ABD4CA"/>
                </a:solidFill>
                <a:latin typeface="Arial"/>
                <a:ea typeface="Arial"/>
                <a:cs typeface="Arial"/>
              </a:defRPr>
            </a:lvl7pPr>
            <a:lvl8pPr>
              <a:defRPr sz="1350" b="0">
                <a:solidFill>
                  <a:srgbClr val="ABD4CA"/>
                </a:solidFill>
                <a:latin typeface="Arial"/>
                <a:ea typeface="Arial"/>
                <a:cs typeface="Arial"/>
              </a:defRPr>
            </a:lvl8pPr>
            <a:lvl9pPr>
              <a:defRPr sz="1350" b="0">
                <a:solidFill>
                  <a:srgbClr val="ABD4CA"/>
                </a:solidFill>
                <a:latin typeface="Arial"/>
                <a:ea typeface="Arial"/>
                <a:cs typeface="Arial"/>
              </a:defRPr>
            </a:lvl9pPr>
          </a:lstStyle>
          <a:p xmlns:a="http://schemas.openxmlformats.org/drawingml/2006/main">
            <a:pPr>
              <a:defRPr sz="1350" b="0">
                <a:solidFill>
                  <a:srgbClr val="ABD4CA"/>
                </a:solidFill>
                <a:latin typeface="Arial"/>
                <a:ea typeface="Arial"/>
                <a:cs typeface="Arial"/>
              </a:defRPr>
            </a:pPr>
            <a:r>
              <a:rPr sz="1350" b="0">
                <a:solidFill>
                  <a:srgbClr val="ABD4CA"/>
                </a:solidFill>
                <a:latin typeface="Arial"/>
                <a:ea typeface="Arial"/>
                <a:cs typeface="Arial"/>
              </a:rPr>
              <a:t>Akshaya + Nikhil</a:t>
            </a:r>
          </a:p>
        </p:txBody>
      </p:sp>
      <p:sp>
        <p:nvSpPr>
          <p:cNvPr id="2" name="">
            <a:extLst xmlns:a="http://schemas.openxmlformats.org/drawingml/2006/main">
              <a:ext uri="{FF2B5EF4-FFF2-40B4-BE49-F238E27FC236}">
                <a16:creationId xmlns:a16="http://schemas.microsoft.com/office/drawing/2014/main" id="{06298CEA-88F7-4C12-B2C3-956898FC3E21}"/>
              </a:ext>
            </a:extLst>
          </p:cNvPr>
          <p:cNvSpPr>
            <a:spLocks xmlns:a="http://schemas.openxmlformats.org/drawingml/2006/main" noGrp="1"/>
          </p:cNvSpPr>
          <p:nvPr/>
        </p:nvSpPr>
        <p:spPr>
          <a:xfrm xmlns:a="http://schemas.openxmlformats.org/drawingml/2006/main">
            <a:off x="609600" y="790575"/>
            <a:ext cx="10953750" cy="952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3600" b="1">
                <a:solidFill>
                  <a:srgbClr val="F5F3EC"/>
                </a:solidFill>
                <a:latin typeface="Arial"/>
                <a:ea typeface="Arial"/>
                <a:cs typeface="Arial"/>
              </a:defRPr>
            </a:defPPr>
            <a:lvl1pPr>
              <a:defRPr sz="3600" b="1">
                <a:solidFill>
                  <a:srgbClr val="F5F3EC"/>
                </a:solidFill>
                <a:latin typeface="Arial"/>
                <a:ea typeface="Arial"/>
                <a:cs typeface="Arial"/>
              </a:defRPr>
            </a:lvl1pPr>
            <a:lvl2pPr>
              <a:defRPr sz="3600" b="1">
                <a:solidFill>
                  <a:srgbClr val="F5F3EC"/>
                </a:solidFill>
                <a:latin typeface="Arial"/>
                <a:ea typeface="Arial"/>
                <a:cs typeface="Arial"/>
              </a:defRPr>
            </a:lvl2pPr>
            <a:lvl3pPr>
              <a:defRPr sz="3600" b="1">
                <a:solidFill>
                  <a:srgbClr val="F5F3EC"/>
                </a:solidFill>
                <a:latin typeface="Arial"/>
                <a:ea typeface="Arial"/>
                <a:cs typeface="Arial"/>
              </a:defRPr>
            </a:lvl3pPr>
            <a:lvl4pPr>
              <a:defRPr sz="3600" b="1">
                <a:solidFill>
                  <a:srgbClr val="F5F3EC"/>
                </a:solidFill>
                <a:latin typeface="Arial"/>
                <a:ea typeface="Arial"/>
                <a:cs typeface="Arial"/>
              </a:defRPr>
            </a:lvl4pPr>
            <a:lvl5pPr>
              <a:defRPr sz="3600" b="1">
                <a:solidFill>
                  <a:srgbClr val="F5F3EC"/>
                </a:solidFill>
                <a:latin typeface="Arial"/>
                <a:ea typeface="Arial"/>
                <a:cs typeface="Arial"/>
              </a:defRPr>
            </a:lvl5pPr>
            <a:lvl6pPr>
              <a:defRPr sz="3600" b="1">
                <a:solidFill>
                  <a:srgbClr val="F5F3EC"/>
                </a:solidFill>
                <a:latin typeface="Arial"/>
                <a:ea typeface="Arial"/>
                <a:cs typeface="Arial"/>
              </a:defRPr>
            </a:lvl6pPr>
            <a:lvl7pPr>
              <a:defRPr sz="3600" b="1">
                <a:solidFill>
                  <a:srgbClr val="F5F3EC"/>
                </a:solidFill>
                <a:latin typeface="Arial"/>
                <a:ea typeface="Arial"/>
                <a:cs typeface="Arial"/>
              </a:defRPr>
            </a:lvl7pPr>
            <a:lvl8pPr>
              <a:defRPr sz="3600" b="1">
                <a:solidFill>
                  <a:srgbClr val="F5F3EC"/>
                </a:solidFill>
                <a:latin typeface="Arial"/>
                <a:ea typeface="Arial"/>
                <a:cs typeface="Arial"/>
              </a:defRPr>
            </a:lvl8pPr>
            <a:lvl9pPr>
              <a:defRPr sz="3600" b="1">
                <a:solidFill>
                  <a:srgbClr val="F5F3EC"/>
                </a:solidFill>
                <a:latin typeface="Arial"/>
                <a:ea typeface="Arial"/>
                <a:cs typeface="Arial"/>
              </a:defRPr>
            </a:lvl9pPr>
          </a:lstStyle>
          <a:p xmlns:a="http://schemas.openxmlformats.org/drawingml/2006/main">
            <a:pPr>
              <a:defRPr sz="3600" b="1">
                <a:solidFill>
                  <a:srgbClr val="F5F3EC"/>
                </a:solidFill>
                <a:latin typeface="Arial"/>
                <a:ea typeface="Arial"/>
                <a:cs typeface="Arial"/>
              </a:defRPr>
            </a:pPr>
            <a:r>
              <a:rPr sz="3600" b="1">
                <a:solidFill>
                  <a:srgbClr val="F5F3EC"/>
                </a:solidFill>
                <a:latin typeface="Arial"/>
                <a:ea typeface="Arial"/>
                <a:cs typeface="Arial"/>
              </a:rPr>
              <a:t>The next two hours, with evidence</a:t>
            </a:r>
          </a:p>
        </p:txBody>
      </p:sp>
      <p:sp>
        <p:nvSpPr>
          <p:cNvPr id="3" name="">
            <a:extLst xmlns:a="http://schemas.openxmlformats.org/drawingml/2006/main">
              <a:ext uri="{FF2B5EF4-FFF2-40B4-BE49-F238E27FC236}">
                <a16:creationId xmlns:a16="http://schemas.microsoft.com/office/drawing/2014/main" id="{9938D4CB-A032-4F23-8ACF-F35D856A4282}"/>
              </a:ext>
            </a:extLst>
          </p:cNvPr>
          <p:cNvSpPr>
            <a:spLocks xmlns:a="http://schemas.openxmlformats.org/drawingml/2006/main" noGrp="1"/>
          </p:cNvSpPr>
          <p:nvPr/>
        </p:nvSpPr>
        <p:spPr>
          <a:xfrm xmlns:a="http://schemas.openxmlformats.org/drawingml/2006/main">
            <a:off x="649224" y="1874519"/>
            <a:ext cx="10762488" cy="54864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625" b="1">
                <a:solidFill>
                  <a:srgbClr val="F5F3EC"/>
                </a:solidFill>
                <a:latin typeface="Arial"/>
                <a:ea typeface="Arial"/>
                <a:cs typeface="Arial"/>
              </a:defRPr>
            </a:defPPr>
            <a:lvl1pPr>
              <a:defRPr sz="2625" b="1">
                <a:solidFill>
                  <a:srgbClr val="F5F3EC"/>
                </a:solidFill>
                <a:latin typeface="Arial"/>
                <a:ea typeface="Arial"/>
                <a:cs typeface="Arial"/>
              </a:defRPr>
            </a:lvl1pPr>
            <a:lvl2pPr>
              <a:defRPr sz="2625" b="1">
                <a:solidFill>
                  <a:srgbClr val="F5F3EC"/>
                </a:solidFill>
                <a:latin typeface="Arial"/>
                <a:ea typeface="Arial"/>
                <a:cs typeface="Arial"/>
              </a:defRPr>
            </a:lvl2pPr>
            <a:lvl3pPr>
              <a:defRPr sz="2625" b="1">
                <a:solidFill>
                  <a:srgbClr val="F5F3EC"/>
                </a:solidFill>
                <a:latin typeface="Arial"/>
                <a:ea typeface="Arial"/>
                <a:cs typeface="Arial"/>
              </a:defRPr>
            </a:lvl3pPr>
            <a:lvl4pPr>
              <a:defRPr sz="2625" b="1">
                <a:solidFill>
                  <a:srgbClr val="F5F3EC"/>
                </a:solidFill>
                <a:latin typeface="Arial"/>
                <a:ea typeface="Arial"/>
                <a:cs typeface="Arial"/>
              </a:defRPr>
            </a:lvl4pPr>
            <a:lvl5pPr>
              <a:defRPr sz="2625" b="1">
                <a:solidFill>
                  <a:srgbClr val="F5F3EC"/>
                </a:solidFill>
                <a:latin typeface="Arial"/>
                <a:ea typeface="Arial"/>
                <a:cs typeface="Arial"/>
              </a:defRPr>
            </a:lvl5pPr>
            <a:lvl6pPr>
              <a:defRPr sz="2625" b="1">
                <a:solidFill>
                  <a:srgbClr val="F5F3EC"/>
                </a:solidFill>
                <a:latin typeface="Arial"/>
                <a:ea typeface="Arial"/>
                <a:cs typeface="Arial"/>
              </a:defRPr>
            </a:lvl6pPr>
            <a:lvl7pPr>
              <a:defRPr sz="2625" b="1">
                <a:solidFill>
                  <a:srgbClr val="F5F3EC"/>
                </a:solidFill>
                <a:latin typeface="Arial"/>
                <a:ea typeface="Arial"/>
                <a:cs typeface="Arial"/>
              </a:defRPr>
            </a:lvl7pPr>
            <a:lvl8pPr>
              <a:defRPr sz="2625" b="1">
                <a:solidFill>
                  <a:srgbClr val="F5F3EC"/>
                </a:solidFill>
                <a:latin typeface="Arial"/>
                <a:ea typeface="Arial"/>
                <a:cs typeface="Arial"/>
              </a:defRPr>
            </a:lvl8pPr>
            <a:lvl9pPr>
              <a:defRPr sz="2625" b="1">
                <a:solidFill>
                  <a:srgbClr val="F5F3EC"/>
                </a:solidFill>
                <a:latin typeface="Arial"/>
                <a:ea typeface="Arial"/>
                <a:cs typeface="Arial"/>
              </a:defRPr>
            </a:lvl9pPr>
          </a:lstStyle>
          <a:p xmlns:a="http://schemas.openxmlformats.org/drawingml/2006/main">
            <a:pPr>
              <a:defRPr sz="2625" b="1">
                <a:solidFill>
                  <a:srgbClr val="F5F3EC"/>
                </a:solidFill>
                <a:latin typeface="Arial"/>
                <a:ea typeface="Arial"/>
                <a:cs typeface="Arial"/>
              </a:defRPr>
            </a:pPr>
            <a:r>
              <a:rPr sz="2400" b="1">
                <a:solidFill>
                  <a:srgbClr val="F5F3EC"/>
                </a:solidFill>
                <a:latin typeface="Arial"/>
              </a:rPr>
              <a:t>An inspectable forecasting workflow, with its evidence limits stated</a:t>
            </a:r>
          </a:p>
        </p:txBody>
      </p:sp>
      <p:sp>
        <p:nvSpPr>
          <p:cNvPr id="4" name="">
            <a:extLst xmlns:a="http://schemas.openxmlformats.org/drawingml/2006/main">
              <a:ext uri="{FF2B5EF4-FFF2-40B4-BE49-F238E27FC236}">
                <a16:creationId xmlns:a16="http://schemas.microsoft.com/office/drawing/2014/main" id="{CB36532E-8823-40F1-8D25-6CFA118513F4}"/>
              </a:ext>
            </a:extLst>
          </p:cNvPr>
          <p:cNvSpPr>
            <a:spLocks xmlns:a="http://schemas.openxmlformats.org/drawingml/2006/main" noGrp="1"/>
          </p:cNvSpPr>
          <p:nvPr/>
        </p:nvSpPr>
        <p:spPr>
          <a:xfrm xmlns:a="http://schemas.openxmlformats.org/drawingml/2006/main">
            <a:off x="649224" y="2560320"/>
            <a:ext cx="10058400" cy="2514600"/>
          </a:xfrm>
          <a:prstGeom xmlns:a="http://schemas.openxmlformats.org/drawingml/2006/main" prst="rect">
            <a:avLst/>
          </a:prstGeom>
          <a:solidFill xmlns:a="http://schemas.openxmlformats.org/drawingml/2006/main">
            <a:srgbClr val="0E2E33"/>
          </a:solidFill>
          <a:ln xmlns:a="http://schemas.openxmlformats.org/drawingml/2006/main" w="19050">
            <a:solidFill>
              <a:srgbClr val="FFD0A8"/>
            </a:solidFill>
          </a:ln>
        </p:spPr>
        <p:txBody>
          <a:bodyPr xmlns:a="http://schemas.openxmlformats.org/drawingml/2006/main" lIns="274320" tIns="137160" rIns="274320" bIns="137160" anchor="ctr" wrap="square"/>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1800" b="1">
                <a:solidFill>
                  <a:srgbClr val="FFD0A8"/>
                </a:solidFill>
                <a:latin typeface="Arial"/>
              </a:rPr>
              <a:t>Locked real-patient test (11 patients): </a:t>
            </a:r>
            <a:r>
              <a:rPr sz="1800" b="0">
                <a:solidFill>
                  <a:srgbClr val="F5F3EC"/>
                </a:solidFill>
                <a:latin typeface="Arial"/>
              </a:rPr>
              <a:t>only 6.9% of spikes warned ≥30 min ahead (95% CI 0.0–13.9; full-test point estimate, bootstrap mean 6.0%)</a:t>
            </a:r>
          </a:p>
          <a:p xmlns:a="http://schemas.openxmlformats.org/drawingml/2006/main">
            <a:pPr>
              <a:spcBef>
                <a:spcPts val="700"/>
              </a:spcBef>
            </a:pPr>
            <a:r>
              <a:rPr sz="1800" b="1">
                <a:solidFill>
                  <a:srgbClr val="FFD0A8"/>
                </a:solidFill>
                <a:latin typeface="Arial"/>
              </a:rPr>
              <a:t>Two preregistered external checks </a:t>
            </a:r>
            <a:r>
              <a:rPr sz="1800" b="0">
                <a:solidFill>
                  <a:srgbClr val="F5F3EC"/>
                </a:solidFill>
                <a:latin typeface="Arial"/>
              </a:rPr>
              <a:t>(Hall 2018; AZT1D): prespecified early-warning improvement not confirmed</a:t>
            </a:r>
          </a:p>
          <a:p xmlns:a="http://schemas.openxmlformats.org/drawingml/2006/main">
            <a:pPr>
              <a:spcBef>
                <a:spcPts val="700"/>
              </a:spcBef>
            </a:pPr>
            <a:r>
              <a:rPr sz="1800" b="1">
                <a:solidFill>
                  <a:srgbClr val="FFD0A8"/>
                </a:solidFill>
                <a:latin typeface="Arial"/>
              </a:rPr>
              <a:t>Candidate C2: </a:t>
            </a:r>
            <a:r>
              <a:rPr sz="1800" b="0">
                <a:solidFill>
                  <a:srgbClr val="F5F3EC"/>
                </a:solidFill>
                <a:latin typeface="Arial"/>
              </a:rPr>
              <a:t>exploratory, not established (+4.5 points, 95% CI −2.5 to +12.8)</a:t>
            </a:r>
          </a:p>
          <a:p xmlns:a="http://schemas.openxmlformats.org/drawingml/2006/main">
            <a:pPr>
              <a:spcBef>
                <a:spcPts val="700"/>
              </a:spcBef>
            </a:pPr>
            <a:r>
              <a:rPr sz="1800" b="1">
                <a:solidFill>
                  <a:srgbClr val="FFD0A8"/>
                </a:solidFill>
                <a:latin typeface="Arial"/>
              </a:rPr>
              <a:t>Next: </a:t>
            </a:r>
            <a:r>
              <a:rPr sz="1800" b="0">
                <a:solidFill>
                  <a:srgbClr val="F5F3EC"/>
                </a:solidFill>
                <a:latin typeface="Arial"/>
              </a:rPr>
              <a:t>AI-READI confirmation. Protocol frozen; not yet run, data access pending</a:t>
            </a:r>
          </a:p>
        </p:txBody>
      </p:sp>
      <p:sp>
        <p:nvSpPr>
          <p:cNvPr id="5" name="">
            <a:extLst xmlns:a="http://schemas.openxmlformats.org/drawingml/2006/main">
              <a:ext uri="{FF2B5EF4-FFF2-40B4-BE49-F238E27FC236}">
                <a16:creationId xmlns:a16="http://schemas.microsoft.com/office/drawing/2014/main" id="{905DD3A2-E8FD-4B57-985E-7E7E0B486EF3}"/>
              </a:ext>
            </a:extLst>
          </p:cNvPr>
          <p:cNvSpPr>
            <a:spLocks xmlns:a="http://schemas.openxmlformats.org/drawingml/2006/main" noGrp="1"/>
          </p:cNvSpPr>
          <p:nvPr/>
        </p:nvSpPr>
        <p:spPr>
          <a:xfrm xmlns:a="http://schemas.openxmlformats.org/drawingml/2006/main">
            <a:off x="649224" y="5257800"/>
            <a:ext cx="10762488" cy="50292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wrap="square"/>
          <a:lstStyle xmlns:a="http://schemas.openxmlformats.org/drawingml/2006/main">
            <a:defPPr>
              <a:defRPr sz="2625" b="0">
                <a:solidFill>
                  <a:srgbClr val="F5F3EC"/>
                </a:solidFill>
                <a:latin typeface="Arial"/>
                <a:ea typeface="Arial"/>
                <a:cs typeface="Arial"/>
              </a:defRPr>
            </a:defPPr>
            <a:lvl1pPr>
              <a:defRPr sz="2625" b="0">
                <a:solidFill>
                  <a:srgbClr val="F5F3EC"/>
                </a:solidFill>
                <a:latin typeface="Arial"/>
                <a:ea typeface="Arial"/>
                <a:cs typeface="Arial"/>
              </a:defRPr>
            </a:lvl1pPr>
            <a:lvl2pPr>
              <a:defRPr sz="2625" b="0">
                <a:solidFill>
                  <a:srgbClr val="F5F3EC"/>
                </a:solidFill>
                <a:latin typeface="Arial"/>
                <a:ea typeface="Arial"/>
                <a:cs typeface="Arial"/>
              </a:defRPr>
            </a:lvl2pPr>
            <a:lvl3pPr>
              <a:defRPr sz="2625" b="0">
                <a:solidFill>
                  <a:srgbClr val="F5F3EC"/>
                </a:solidFill>
                <a:latin typeface="Arial"/>
                <a:ea typeface="Arial"/>
                <a:cs typeface="Arial"/>
              </a:defRPr>
            </a:lvl3pPr>
            <a:lvl4pPr>
              <a:defRPr sz="2625" b="0">
                <a:solidFill>
                  <a:srgbClr val="F5F3EC"/>
                </a:solidFill>
                <a:latin typeface="Arial"/>
                <a:ea typeface="Arial"/>
                <a:cs typeface="Arial"/>
              </a:defRPr>
            </a:lvl4pPr>
            <a:lvl5pPr>
              <a:defRPr sz="2625" b="0">
                <a:solidFill>
                  <a:srgbClr val="F5F3EC"/>
                </a:solidFill>
                <a:latin typeface="Arial"/>
                <a:ea typeface="Arial"/>
                <a:cs typeface="Arial"/>
              </a:defRPr>
            </a:lvl5pPr>
            <a:lvl6pPr>
              <a:defRPr sz="2625" b="0">
                <a:solidFill>
                  <a:srgbClr val="F5F3EC"/>
                </a:solidFill>
                <a:latin typeface="Arial"/>
                <a:ea typeface="Arial"/>
                <a:cs typeface="Arial"/>
              </a:defRPr>
            </a:lvl6pPr>
            <a:lvl7pPr>
              <a:defRPr sz="2625" b="0">
                <a:solidFill>
                  <a:srgbClr val="F5F3EC"/>
                </a:solidFill>
                <a:latin typeface="Arial"/>
                <a:ea typeface="Arial"/>
                <a:cs typeface="Arial"/>
              </a:defRPr>
            </a:lvl7pPr>
            <a:lvl8pPr>
              <a:defRPr sz="2625" b="0">
                <a:solidFill>
                  <a:srgbClr val="F5F3EC"/>
                </a:solidFill>
                <a:latin typeface="Arial"/>
                <a:ea typeface="Arial"/>
                <a:cs typeface="Arial"/>
              </a:defRPr>
            </a:lvl8pPr>
            <a:lvl9pPr>
              <a:defRPr sz="2625" b="0">
                <a:solidFill>
                  <a:srgbClr val="F5F3EC"/>
                </a:solidFill>
                <a:latin typeface="Arial"/>
                <a:ea typeface="Arial"/>
                <a:cs typeface="Arial"/>
              </a:defRPr>
            </a:lvl9pPr>
          </a:lstStyle>
          <a:p xmlns:a="http://schemas.openxmlformats.org/drawingml/2006/main">
            <a:pPr>
              <a:defRPr sz="2625" b="0">
                <a:solidFill>
                  <a:srgbClr val="F5F3EC"/>
                </a:solidFill>
                <a:latin typeface="Arial"/>
                <a:ea typeface="Arial"/>
                <a:cs typeface="Arial"/>
              </a:defRPr>
            </a:pPr>
            <a:r>
              <a:rPr sz="2400" b="0">
                <a:solidFill>
                  <a:srgbClr val="ABD4CA"/>
                </a:solidFill>
                <a:latin typeface="Arial"/>
              </a:rPr>
              <a:t>Akshaya R and Nikhil VS  ·  </a:t>
            </a:r>
            <a:r>
              <a:rPr sz="2400" b="1">
                <a:solidFill>
                  <a:srgbClr val="F5F3EC"/>
                </a:solidFill>
                <a:latin typeface="Arial"/>
              </a:rPr>
              <a:t>Thank you</a:t>
            </a:r>
          </a:p>
        </p:txBody>
      </p:sp>
      <p:sp>
        <p:nvSpPr>
          <p:cNvPr id="7" name="">
            <a:extLst xmlns:a="http://schemas.openxmlformats.org/drawingml/2006/main">
              <a:ext uri="{FF2B5EF4-FFF2-40B4-BE49-F238E27FC236}">
                <a16:creationId xmlns:a16="http://schemas.microsoft.com/office/drawing/2014/main" id="{50F86A76-AD89-4CB1-BBB4-67D9D036DCED}"/>
              </a:ext>
            </a:extLst>
          </p:cNvPr>
          <p:cNvSpPr>
            <a:spLocks xmlns:a="http://schemas.openxmlformats.org/drawingml/2006/main" noGrp="1"/>
          </p:cNvSpPr>
          <p:nvPr/>
        </p:nvSpPr>
        <p:spPr>
          <a:xfrm xmlns:a="http://schemas.openxmlformats.org/drawingml/2006/main">
            <a:off x="609600" y="6477000"/>
            <a:ext cx="1047750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125" b="0">
                <a:solidFill>
                  <a:srgbClr val="ABD4CA"/>
                </a:solidFill>
                <a:latin typeface="Arial"/>
                <a:ea typeface="Arial"/>
                <a:cs typeface="Arial"/>
              </a:defRPr>
            </a:defPPr>
            <a:lvl1pPr>
              <a:defRPr sz="1125" b="0">
                <a:solidFill>
                  <a:srgbClr val="ABD4CA"/>
                </a:solidFill>
                <a:latin typeface="Arial"/>
                <a:ea typeface="Arial"/>
                <a:cs typeface="Arial"/>
              </a:defRPr>
            </a:lvl1pPr>
            <a:lvl2pPr>
              <a:defRPr sz="1125" b="0">
                <a:solidFill>
                  <a:srgbClr val="ABD4CA"/>
                </a:solidFill>
                <a:latin typeface="Arial"/>
                <a:ea typeface="Arial"/>
                <a:cs typeface="Arial"/>
              </a:defRPr>
            </a:lvl2pPr>
            <a:lvl3pPr>
              <a:defRPr sz="1125" b="0">
                <a:solidFill>
                  <a:srgbClr val="ABD4CA"/>
                </a:solidFill>
                <a:latin typeface="Arial"/>
                <a:ea typeface="Arial"/>
                <a:cs typeface="Arial"/>
              </a:defRPr>
            </a:lvl3pPr>
            <a:lvl4pPr>
              <a:defRPr sz="1125" b="0">
                <a:solidFill>
                  <a:srgbClr val="ABD4CA"/>
                </a:solidFill>
                <a:latin typeface="Arial"/>
                <a:ea typeface="Arial"/>
                <a:cs typeface="Arial"/>
              </a:defRPr>
            </a:lvl4pPr>
            <a:lvl5pPr>
              <a:defRPr sz="1125" b="0">
                <a:solidFill>
                  <a:srgbClr val="ABD4CA"/>
                </a:solidFill>
                <a:latin typeface="Arial"/>
                <a:ea typeface="Arial"/>
                <a:cs typeface="Arial"/>
              </a:defRPr>
            </a:lvl5pPr>
            <a:lvl6pPr>
              <a:defRPr sz="1125" b="0">
                <a:solidFill>
                  <a:srgbClr val="ABD4CA"/>
                </a:solidFill>
                <a:latin typeface="Arial"/>
                <a:ea typeface="Arial"/>
                <a:cs typeface="Arial"/>
              </a:defRPr>
            </a:lvl6pPr>
            <a:lvl7pPr>
              <a:defRPr sz="1125" b="0">
                <a:solidFill>
                  <a:srgbClr val="ABD4CA"/>
                </a:solidFill>
                <a:latin typeface="Arial"/>
                <a:ea typeface="Arial"/>
                <a:cs typeface="Arial"/>
              </a:defRPr>
            </a:lvl7pPr>
            <a:lvl8pPr>
              <a:defRPr sz="1125" b="0">
                <a:solidFill>
                  <a:srgbClr val="ABD4CA"/>
                </a:solidFill>
                <a:latin typeface="Arial"/>
                <a:ea typeface="Arial"/>
                <a:cs typeface="Arial"/>
              </a:defRPr>
            </a:lvl8pPr>
            <a:lvl9pPr>
              <a:defRPr sz="1125" b="0">
                <a:solidFill>
                  <a:srgbClr val="ABD4CA"/>
                </a:solidFill>
                <a:latin typeface="Arial"/>
                <a:ea typeface="Arial"/>
                <a:cs typeface="Arial"/>
              </a:defRPr>
            </a:lvl9pPr>
          </a:lstStyle>
          <a:p xmlns:a="http://schemas.openxmlformats.org/drawingml/2006/main">
            <a:pPr>
              <a:defRPr sz="1125" b="0">
                <a:solidFill>
                  <a:srgbClr val="ABD4CA"/>
                </a:solidFill>
                <a:latin typeface="Arial"/>
                <a:ea typeface="Arial"/>
                <a:cs typeface="Arial"/>
              </a:defRPr>
            </a:pPr>
            <a:r>
              <a:rPr sz="1125" b="0">
                <a:solidFill>
                  <a:srgbClr val="ABD4CA"/>
                </a:solidFill>
                <a:latin typeface="Arial"/>
                <a:ea typeface="Arial"/>
                <a:cs typeface="Arial"/>
              </a:rPr>
              <a:t>Research prototype, not a medical device. No clinical validation claimed.</a:t>
            </a:r>
          </a:p>
        </p:txBody>
      </p:sp>
      <p:sp>
        <p:nvSpPr>
          <p:cNvPr id="8" name="">
            <a:extLst xmlns:a="http://schemas.openxmlformats.org/drawingml/2006/main">
              <a:ext uri="{FF2B5EF4-FFF2-40B4-BE49-F238E27FC236}">
                <a16:creationId xmlns:a16="http://schemas.microsoft.com/office/drawing/2014/main" id="{8F2E9BD3-F71E-423F-A128-616301B5F310}"/>
              </a:ext>
            </a:extLst>
          </p:cNvPr>
          <p:cNvSpPr>
            <a:spLocks xmlns:a="http://schemas.openxmlformats.org/drawingml/2006/main" noGrp="1"/>
          </p:cNvSpPr>
          <p:nvPr/>
        </p:nvSpPr>
        <p:spPr>
          <a:xfrm xmlns:a="http://schemas.openxmlformats.org/drawingml/2006/main">
            <a:off x="11334750" y="6448425"/>
            <a:ext cx="428625" cy="2571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lstStyle xmlns:a="http://schemas.openxmlformats.org/drawingml/2006/main">
            <a:defPPr>
              <a:defRPr sz="1500" b="0">
                <a:solidFill>
                  <a:srgbClr val="ABD4CA"/>
                </a:solidFill>
                <a:latin typeface="Arial"/>
                <a:ea typeface="Arial"/>
                <a:cs typeface="Arial"/>
              </a:defRPr>
            </a:defPPr>
            <a:lvl1pPr>
              <a:defRPr sz="1500" b="0">
                <a:solidFill>
                  <a:srgbClr val="ABD4CA"/>
                </a:solidFill>
                <a:latin typeface="Arial"/>
                <a:ea typeface="Arial"/>
                <a:cs typeface="Arial"/>
              </a:defRPr>
            </a:lvl1pPr>
            <a:lvl2pPr>
              <a:defRPr sz="1500" b="0">
                <a:solidFill>
                  <a:srgbClr val="ABD4CA"/>
                </a:solidFill>
                <a:latin typeface="Arial"/>
                <a:ea typeface="Arial"/>
                <a:cs typeface="Arial"/>
              </a:defRPr>
            </a:lvl2pPr>
            <a:lvl3pPr>
              <a:defRPr sz="1500" b="0">
                <a:solidFill>
                  <a:srgbClr val="ABD4CA"/>
                </a:solidFill>
                <a:latin typeface="Arial"/>
                <a:ea typeface="Arial"/>
                <a:cs typeface="Arial"/>
              </a:defRPr>
            </a:lvl3pPr>
            <a:lvl4pPr>
              <a:defRPr sz="1500" b="0">
                <a:solidFill>
                  <a:srgbClr val="ABD4CA"/>
                </a:solidFill>
                <a:latin typeface="Arial"/>
                <a:ea typeface="Arial"/>
                <a:cs typeface="Arial"/>
              </a:defRPr>
            </a:lvl4pPr>
            <a:lvl5pPr>
              <a:defRPr sz="1500" b="0">
                <a:solidFill>
                  <a:srgbClr val="ABD4CA"/>
                </a:solidFill>
                <a:latin typeface="Arial"/>
                <a:ea typeface="Arial"/>
                <a:cs typeface="Arial"/>
              </a:defRPr>
            </a:lvl5pPr>
            <a:lvl6pPr>
              <a:defRPr sz="1500" b="0">
                <a:solidFill>
                  <a:srgbClr val="ABD4CA"/>
                </a:solidFill>
                <a:latin typeface="Arial"/>
                <a:ea typeface="Arial"/>
                <a:cs typeface="Arial"/>
              </a:defRPr>
            </a:lvl6pPr>
            <a:lvl7pPr>
              <a:defRPr sz="1500" b="0">
                <a:solidFill>
                  <a:srgbClr val="ABD4CA"/>
                </a:solidFill>
                <a:latin typeface="Arial"/>
                <a:ea typeface="Arial"/>
                <a:cs typeface="Arial"/>
              </a:defRPr>
            </a:lvl7pPr>
            <a:lvl8pPr>
              <a:defRPr sz="1500" b="0">
                <a:solidFill>
                  <a:srgbClr val="ABD4CA"/>
                </a:solidFill>
                <a:latin typeface="Arial"/>
                <a:ea typeface="Arial"/>
                <a:cs typeface="Arial"/>
              </a:defRPr>
            </a:lvl8pPr>
            <a:lvl9pPr>
              <a:defRPr sz="1500" b="0">
                <a:solidFill>
                  <a:srgbClr val="ABD4CA"/>
                </a:solidFill>
                <a:latin typeface="Arial"/>
                <a:ea typeface="Arial"/>
                <a:cs typeface="Arial"/>
              </a:defRPr>
            </a:lvl9pPr>
          </a:lstStyle>
          <a:p xmlns:a="http://schemas.openxmlformats.org/drawingml/2006/main">
            <a:pPr>
              <a:defRPr sz="1500" b="0">
                <a:solidFill>
                  <a:srgbClr val="ABD4CA"/>
                </a:solidFill>
                <a:latin typeface="Arial"/>
                <a:ea typeface="Arial"/>
                <a:cs typeface="Arial"/>
              </a:defRPr>
            </a:pPr>
            <a:r>
              <a:rPr sz="1500" b="0">
                <a:solidFill>
                  <a:srgbClr val="ABD4CA"/>
                </a:solidFill>
                <a:latin typeface="Arial"/>
                <a:ea typeface="Arial"/>
                <a:cs typeface="Arial"/>
              </a:rPr>
              <a:t>14</a:t>
            </a:r>
          </a:p>
        </p:txBody>
      </p:sp>
    </p:spTree>
    <p:extLst>
      <p:ext uri="{BB962C8B-B14F-4D97-AF65-F5344CB8AC3E}">
        <p14:creationId xmlns:p14="http://schemas.microsoft.com/office/powerpoint/2010/main" val="37180688"/>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
      <a:majorFont>
        <a:latin typeface="Aptos"/>
        <a:ea typeface=""/>
        <a:cs typeface=""/>
      </a:majorFont>
      <a:minorFont>
        <a:latin typeface="Aptos"/>
        <a:ea typeface=""/>
        <a:cs typeface=""/>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2026-10-19T12:01:36.0300000Z</dcterms:created>
  <dcterms:modified xsi:type="dcterms:W3CDTF">2026-10-19T12:01:36.0300000Z</dcterms:modified>
</coreProperties>
</file>